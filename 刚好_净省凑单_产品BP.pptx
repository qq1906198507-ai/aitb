
<file path=[Content_Types].xml><?xml version="1.0" encoding="utf-8"?>
<Types xmlns="http://schemas.openxmlformats.org/package/2006/content-types"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40519AD1-32C7-4724-ABA1-61C5BE0860C2}"/>
              </a:ext>
            </a:extLst>
          </p:cNvPr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2161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6F9846E-D2E0-450D-A7C2-F5FF871C0E1E}"/>
              </a:ext>
            </a:extLst>
          </p:cNvPr>
          <p:cNvSpPr txBox="1"/>
          <p:nvPr/>
        </p:nvSpPr>
        <p:spPr>
          <a:xfrm>
            <a:off x="685800" y="609600"/>
            <a:ext cx="571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普陀创新挑战赛 · 赛道2 / 产品 BP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7C71C89-0B14-49FB-A182-7B74DC2D4BBB}"/>
              </a:ext>
            </a:extLst>
          </p:cNvPr>
          <p:cNvSpPr txBox="1"/>
          <p:nvPr/>
        </p:nvSpPr>
        <p:spPr>
          <a:xfrm>
            <a:off x="609600" y="1428750"/>
            <a:ext cx="62865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4F1EA"/>
                </a:solidFill>
                <a:latin typeface="Microsoft YaHei"/>
                <a:ea typeface="Microsoft YaHei"/>
              </a:rPr>
              <a:t>刚好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90509B-6123-4E47-B4E3-BCC9AC034A6B}"/>
              </a:ext>
            </a:extLst>
          </p:cNvPr>
          <p:cNvSpPr txBox="1"/>
          <p:nvPr/>
        </p:nvSpPr>
        <p:spPr>
          <a:xfrm>
            <a:off x="609600" y="2857500"/>
            <a:ext cx="62865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7A1A"/>
                </a:solidFill>
                <a:latin typeface="Microsoft YaHei"/>
                <a:ea typeface="Microsoft YaHei"/>
              </a:rPr>
              <a:t>净省凑单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7EFB2BF-6898-4F87-86AA-4CC3A1824267}"/>
              </a:ext>
            </a:extLst>
          </p:cNvPr>
          <p:cNvSpPr txBox="1"/>
          <p:nvPr/>
        </p:nvSpPr>
        <p:spPr>
          <a:xfrm>
            <a:off x="647700" y="4000500"/>
            <a:ext cx="6286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200">
                <a:solidFill>
                  <a:srgbClr val="F4F1EA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53D57DC-6FAE-4D45-9D5C-53EB6E83888F}"/>
              </a:ext>
            </a:extLst>
          </p:cNvPr>
          <p:cNvSpPr/>
          <p:nvPr/>
        </p:nvSpPr>
        <p:spPr>
          <a:xfrm>
            <a:off x="647700" y="4629150"/>
            <a:ext cx="1143000" cy="28575"/>
          </a:xfrm>
          <a:prstGeom prst="rect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92CEBDC-A3FB-4897-A520-38514B896A48}"/>
              </a:ext>
            </a:extLst>
          </p:cNvPr>
          <p:cNvSpPr txBox="1"/>
          <p:nvPr/>
        </p:nvSpPr>
        <p:spPr>
          <a:xfrm>
            <a:off x="647700" y="48387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8B0BC"/>
                </a:solidFill>
                <a:latin typeface="Microsoft YaHei"/>
                <a:ea typeface="Microsoft YaHei"/>
              </a:rPr>
              <a:t>12 周 · 一个城市 · 一个购物车入口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37CFDC-43B7-4327-B174-1BDDF7BCDB47}"/>
              </a:ext>
            </a:extLst>
          </p:cNvPr>
          <p:cNvSpPr txBox="1"/>
          <p:nvPr/>
        </p:nvSpPr>
        <p:spPr>
          <a:xfrm>
            <a:off x="685800" y="62103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产品商业计划书 / 2026.10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88A1E63-178E-4D01-860F-D8974CA42DF0}"/>
              </a:ext>
            </a:extLst>
          </p:cNvPr>
          <p:cNvSpPr/>
          <p:nvPr/>
        </p:nvSpPr>
        <p:spPr>
          <a:xfrm>
            <a:off x="7810500" y="1143000"/>
            <a:ext cx="3429000" cy="3429000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FF7A1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9A2F65A-2D33-461F-A8B1-9FD03992B160}"/>
              </a:ext>
            </a:extLst>
          </p:cNvPr>
          <p:cNvSpPr txBox="1"/>
          <p:nvPr/>
        </p:nvSpPr>
        <p:spPr>
          <a:xfrm>
            <a:off x="8191500" y="1714500"/>
            <a:ext cx="2667000" cy="2095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2000" b="1">
                <a:solidFill>
                  <a:srgbClr val="FF7A1A"/>
                </a:solidFill>
                <a:latin typeface="Arial"/>
                <a:ea typeface="Arial"/>
              </a:rPr>
              <a:t>¥2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C9D820B-FB6F-4B13-963A-F20D0D157A29}"/>
              </a:ext>
            </a:extLst>
          </p:cNvPr>
          <p:cNvSpPr txBox="1"/>
          <p:nvPr/>
        </p:nvSpPr>
        <p:spPr>
          <a:xfrm>
            <a:off x="8191500" y="3962400"/>
            <a:ext cx="2667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4F1EA"/>
                </a:solidFill>
                <a:latin typeface="Microsoft YaHei"/>
                <a:ea typeface="Microsoft YaHei"/>
              </a:rPr>
              <a:t>每单净省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FBEC8A4-6586-47EE-AFAB-F6CED1D8AAB6}"/>
              </a:ext>
            </a:extLst>
          </p:cNvPr>
          <p:cNvSpPr txBox="1"/>
          <p:nvPr/>
        </p:nvSpPr>
        <p:spPr>
          <a:xfrm>
            <a:off x="7810500" y="4762500"/>
            <a:ext cx="3810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增量优惠 − 加购价格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7F930F1-0249-4A07-A242-BAC937D77CD7}"/>
              </a:ext>
            </a:extLst>
          </p:cNvPr>
          <p:cNvSpPr txBox="1"/>
          <p:nvPr/>
        </p:nvSpPr>
        <p:spPr>
          <a:xfrm>
            <a:off x="7810500" y="5143500"/>
            <a:ext cx="3810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6D7685"/>
                </a:solidFill>
                <a:latin typeface="Microsoft YaHei"/>
                <a:ea typeface="Microsoft YaHei"/>
              </a:rPr>
              <a:t>不预选 · 不倒计时 · 随时不凑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65427AB-63FB-4DD9-92DD-5BB48C6CD26F}"/>
              </a:ext>
            </a:extLst>
          </p:cNvPr>
          <p:cNvSpPr txBox="1"/>
          <p:nvPr/>
        </p:nvSpPr>
        <p:spPr>
          <a:xfrm>
            <a:off x="10668000" y="6210300"/>
            <a:ext cx="952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79A7854-8E3B-48D5-8140-93B4C57B6CAB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01 / 痛点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8B9F64-8240-4DB8-80A2-BB887D7505FD}"/>
              </a:ext>
            </a:extLst>
          </p:cNvPr>
          <p:cNvSpPr txBox="1"/>
          <p:nvPr/>
        </p:nvSpPr>
        <p:spPr>
          <a:xfrm>
            <a:off x="609600" y="762000"/>
            <a:ext cx="9525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凑单不是省钱，是三输。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A5997CA-890E-4829-B5B0-9EBCA0F94FD4}"/>
              </a:ext>
            </a:extLst>
          </p:cNvPr>
          <p:cNvSpPr txBox="1"/>
          <p:nvPr/>
        </p:nvSpPr>
        <p:spPr>
          <a:xfrm>
            <a:off x="609600" y="1504950"/>
            <a:ext cx="9525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A8B0BC"/>
                </a:solidFill>
                <a:latin typeface="Microsoft YaHei"/>
                <a:ea typeface="Microsoft YaHei"/>
              </a:rPr>
              <a:t>用户以为在省钱，实际在亏钱；平台以为在促活，实际在流失。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7F01056-F005-400A-802E-41944F40BB95}"/>
              </a:ext>
            </a:extLst>
          </p:cNvPr>
          <p:cNvSpPr txBox="1"/>
          <p:nvPr/>
        </p:nvSpPr>
        <p:spPr>
          <a:xfrm>
            <a:off x="609600" y="2000250"/>
            <a:ext cx="3238500" cy="2095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FF7A1A"/>
                </a:solidFill>
                <a:latin typeface="Arial"/>
                <a:ea typeface="Arial"/>
              </a:rPr>
              <a:t>−10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B9CC3E1-B833-40D5-9DC8-81B569050E21}"/>
              </a:ext>
            </a:extLst>
          </p:cNvPr>
          <p:cNvSpPr txBox="1"/>
          <p:nvPr/>
        </p:nvSpPr>
        <p:spPr>
          <a:xfrm>
            <a:off x="609600" y="4095750"/>
            <a:ext cx="3238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8B0BC"/>
                </a:solidFill>
                <a:latin typeface="Microsoft YaHei"/>
                <a:ea typeface="Microsoft YaHei"/>
              </a:rPr>
              <a:t>元 / 一次典型凑单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6DB702F-218A-4396-BE50-FFAAC7B4617D}"/>
              </a:ext>
            </a:extLst>
          </p:cNvPr>
          <p:cNvSpPr txBox="1"/>
          <p:nvPr/>
        </p:nvSpPr>
        <p:spPr>
          <a:xfrm>
            <a:off x="609600" y="4400550"/>
            <a:ext cx="3238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4F1EA"/>
                </a:solidFill>
                <a:latin typeface="Microsoft YaHei"/>
                <a:ea typeface="Microsoft YaHei"/>
              </a:rPr>
              <a:t>为省 5 元，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F4F1EA"/>
                </a:solidFill>
                <a:latin typeface="Microsoft YaHei"/>
                <a:ea typeface="Microsoft YaHei"/>
              </a:rPr>
              <a:t>多花 15 元。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304EA8B-3EEC-4E19-A0E0-355E1254311F}"/>
              </a:ext>
            </a:extLst>
          </p:cNvPr>
          <p:cNvSpPr txBox="1"/>
          <p:nvPr/>
        </p:nvSpPr>
        <p:spPr>
          <a:xfrm>
            <a:off x="609600" y="5219700"/>
            <a:ext cx="3238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D7685"/>
                </a:solidFill>
                <a:latin typeface="Microsoft YaHei"/>
                <a:ea typeface="Microsoft YaHei"/>
              </a:rPr>
              <a:t>还买回一份不需要的小菜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7D009CC-AD4C-4583-9121-22523115EC0D}"/>
              </a:ext>
            </a:extLst>
          </p:cNvPr>
          <p:cNvSpPr txBox="1"/>
          <p:nvPr/>
        </p:nvSpPr>
        <p:spPr>
          <a:xfrm>
            <a:off x="4191000" y="2095500"/>
            <a:ext cx="114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7A1A"/>
                </a:solidFill>
                <a:latin typeface="Microsoft YaHei"/>
                <a:ea typeface="Microsoft YaHei"/>
              </a:rPr>
              <a:t>用户输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AD66F4-023A-4797-9307-01AF55850290}"/>
              </a:ext>
            </a:extLst>
          </p:cNvPr>
          <p:cNvSpPr txBox="1"/>
          <p:nvPr/>
        </p:nvSpPr>
        <p:spPr>
          <a:xfrm>
            <a:off x="5524500" y="2095500"/>
            <a:ext cx="5905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F4F1EA"/>
                </a:solidFill>
                <a:latin typeface="Microsoft YaHei"/>
                <a:ea typeface="Microsoft YaHei"/>
              </a:rPr>
              <a:t>为省 5 元多花 15 元；买回不需要的东西；比价 5 分钟，最后后悔。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922CD01-8297-45B8-8AC9-66426937E721}"/>
              </a:ext>
            </a:extLst>
          </p:cNvPr>
          <p:cNvSpPr/>
          <p:nvPr/>
        </p:nvSpPr>
        <p:spPr>
          <a:xfrm>
            <a:off x="4191000" y="3257550"/>
            <a:ext cx="73914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8B877CC-C413-4D01-B028-1292C358D5D0}"/>
              </a:ext>
            </a:extLst>
          </p:cNvPr>
          <p:cNvSpPr txBox="1"/>
          <p:nvPr/>
        </p:nvSpPr>
        <p:spPr>
          <a:xfrm>
            <a:off x="4191000" y="3381375"/>
            <a:ext cx="114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7A1A"/>
                </a:solidFill>
                <a:latin typeface="Microsoft YaHei"/>
                <a:ea typeface="Microsoft YaHei"/>
              </a:rPr>
              <a:t>平台输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8DFB119-86D0-4041-8F19-BB86A8912344}"/>
              </a:ext>
            </a:extLst>
          </p:cNvPr>
          <p:cNvSpPr txBox="1"/>
          <p:nvPr/>
        </p:nvSpPr>
        <p:spPr>
          <a:xfrm>
            <a:off x="5524500" y="3381375"/>
            <a:ext cx="5905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F4F1EA"/>
                </a:solidFill>
                <a:latin typeface="Microsoft YaHei"/>
                <a:ea typeface="Microsoft YaHei"/>
              </a:rPr>
              <a:t>差 2 元放弃的订单永久流失；补贴花了没成交；用户觉得被套路。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9BF812B-8731-4297-BDD2-F06AE0F18448}"/>
              </a:ext>
            </a:extLst>
          </p:cNvPr>
          <p:cNvSpPr/>
          <p:nvPr/>
        </p:nvSpPr>
        <p:spPr>
          <a:xfrm>
            <a:off x="4191000" y="4543425"/>
            <a:ext cx="73914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18E5495-441A-454A-9E8B-C00AF7F18575}"/>
              </a:ext>
            </a:extLst>
          </p:cNvPr>
          <p:cNvSpPr txBox="1"/>
          <p:nvPr/>
        </p:nvSpPr>
        <p:spPr>
          <a:xfrm>
            <a:off x="4191000" y="4667250"/>
            <a:ext cx="114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7A1A"/>
                </a:solidFill>
                <a:latin typeface="Microsoft YaHei"/>
                <a:ea typeface="Microsoft YaHei"/>
              </a:rPr>
              <a:t>商家输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0352AE-2CFA-4653-9907-8BD0C3A486E2}"/>
              </a:ext>
            </a:extLst>
          </p:cNvPr>
          <p:cNvSpPr txBox="1"/>
          <p:nvPr/>
        </p:nvSpPr>
        <p:spPr>
          <a:xfrm>
            <a:off x="5524500" y="4667250"/>
            <a:ext cx="5905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F4F1EA"/>
                </a:solidFill>
                <a:latin typeface="Microsoft YaHei"/>
                <a:ea typeface="Microsoft YaHei"/>
              </a:rPr>
              <a:t>无效加购带来退款和差评；备货与出餐节奏被打乱。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78C6BDF-FD69-4A8C-A44A-76F1EB0557EC}"/>
              </a:ext>
            </a:extLst>
          </p:cNvPr>
          <p:cNvSpPr/>
          <p:nvPr/>
        </p:nvSpPr>
        <p:spPr>
          <a:xfrm>
            <a:off x="609600" y="5905500"/>
            <a:ext cx="10972800" cy="4000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0E0B9C5-84F8-4DFA-A4B6-C4A846C5A3A5}"/>
              </a:ext>
            </a:extLst>
          </p:cNvPr>
          <p:cNvSpPr txBox="1"/>
          <p:nvPr/>
        </p:nvSpPr>
        <p:spPr>
          <a:xfrm>
            <a:off x="800100" y="6000750"/>
            <a:ext cx="10591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</a:rPr>
              <a:t>根因：现有凑单工具是商品推荐，不是决策服务。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F8471D9-2E03-486E-872E-DBFADF827201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5D17C72-D6A3-4AC0-86A3-E272A967A8E4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02 / 机会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D07A62E-2838-4E3C-8747-8C8D2E5049C2}"/>
              </a:ext>
            </a:extLst>
          </p:cNvPr>
          <p:cNvSpPr txBox="1"/>
          <p:nvPr/>
        </p:nvSpPr>
        <p:spPr>
          <a:xfrm>
            <a:off x="609600" y="762000"/>
            <a:ext cx="9525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优惠越复杂，决策越值钱。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0BFA80-52EA-4862-B664-F650B268B0E8}"/>
              </a:ext>
            </a:extLst>
          </p:cNvPr>
          <p:cNvSpPr txBox="1"/>
          <p:nvPr/>
        </p:nvSpPr>
        <p:spPr>
          <a:xfrm>
            <a:off x="609600" y="1504950"/>
            <a:ext cx="9525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A8B0BC"/>
                </a:solidFill>
                <a:latin typeface="Microsoft YaHei"/>
                <a:ea typeface="Microsoft YaHei"/>
              </a:rPr>
              <a:t>平台从流量竞争转向效率竞争，用户从「多点几家」转向「帮我决定」。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75A4A22-99B6-472E-B4F9-9A2976D9C06B}"/>
              </a:ext>
            </a:extLst>
          </p:cNvPr>
          <p:cNvSpPr/>
          <p:nvPr/>
        </p:nvSpPr>
        <p:spPr>
          <a:xfrm>
            <a:off x="609600" y="2190750"/>
            <a:ext cx="3352800" cy="3238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B15AD9C-337C-49BE-8DEA-7859E5FC2FC9}"/>
              </a:ext>
            </a:extLst>
          </p:cNvPr>
          <p:cNvSpPr txBox="1"/>
          <p:nvPr/>
        </p:nvSpPr>
        <p:spPr>
          <a:xfrm>
            <a:off x="838200" y="2419350"/>
            <a:ext cx="7620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7A1A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56C9551-C529-47EE-9BF6-3D300C1AB8BA}"/>
              </a:ext>
            </a:extLst>
          </p:cNvPr>
          <p:cNvSpPr txBox="1"/>
          <p:nvPr/>
        </p:nvSpPr>
        <p:spPr>
          <a:xfrm>
            <a:off x="838200" y="306705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优惠叠加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4F16B6-C91B-4BFC-A2B5-579BAB860256}"/>
              </a:ext>
            </a:extLst>
          </p:cNvPr>
          <p:cNvSpPr txBox="1"/>
          <p:nvPr/>
        </p:nvSpPr>
        <p:spPr>
          <a:xfrm>
            <a:off x="838200" y="3524250"/>
            <a:ext cx="28956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A8B0BC"/>
                </a:solidFill>
                <a:latin typeface="Microsoft YaHei"/>
                <a:ea typeface="Microsoft YaHei"/>
              </a:rPr>
              <a:t>满减、券、配送费、会员权益同时出现，用户算不清，干脆放弃。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261E5F5-1236-4D2F-95D3-E1010EFB0756}"/>
              </a:ext>
            </a:extLst>
          </p:cNvPr>
          <p:cNvSpPr/>
          <p:nvPr/>
        </p:nvSpPr>
        <p:spPr>
          <a:xfrm>
            <a:off x="4267200" y="2190750"/>
            <a:ext cx="3352800" cy="3238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E2DB32C-2187-4348-8836-0742FFE37F30}"/>
              </a:ext>
            </a:extLst>
          </p:cNvPr>
          <p:cNvSpPr txBox="1"/>
          <p:nvPr/>
        </p:nvSpPr>
        <p:spPr>
          <a:xfrm>
            <a:off x="4495800" y="2419350"/>
            <a:ext cx="7620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7A1A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AA3F6C3-A4A1-4AD0-8CA0-D311605CF9ED}"/>
              </a:ext>
            </a:extLst>
          </p:cNvPr>
          <p:cNvSpPr txBox="1"/>
          <p:nvPr/>
        </p:nvSpPr>
        <p:spPr>
          <a:xfrm>
            <a:off x="4495800" y="306705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效率竞争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03BE659-90AB-402E-94AB-964E184F0801}"/>
              </a:ext>
            </a:extLst>
          </p:cNvPr>
          <p:cNvSpPr txBox="1"/>
          <p:nvPr/>
        </p:nvSpPr>
        <p:spPr>
          <a:xfrm>
            <a:off x="4495800" y="3524250"/>
            <a:ext cx="28956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A8B0BC"/>
                </a:solidFill>
                <a:latin typeface="Microsoft YaHei"/>
                <a:ea typeface="Microsoft YaHei"/>
              </a:rPr>
              <a:t>平台不再只拼补贴，而是拼转化率、客单价和补贴效率。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6B528A8-7696-43A9-BEA7-262494E81977}"/>
              </a:ext>
            </a:extLst>
          </p:cNvPr>
          <p:cNvSpPr/>
          <p:nvPr/>
        </p:nvSpPr>
        <p:spPr>
          <a:xfrm>
            <a:off x="7924800" y="2190750"/>
            <a:ext cx="3352800" cy="3238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8B94FA-D834-4FE6-B320-D30CFAE6D754}"/>
              </a:ext>
            </a:extLst>
          </p:cNvPr>
          <p:cNvSpPr txBox="1"/>
          <p:nvPr/>
        </p:nvSpPr>
        <p:spPr>
          <a:xfrm>
            <a:off x="8153400" y="2419350"/>
            <a:ext cx="7620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7A1A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78E62CF-1146-457C-A217-33B4DA96A02A}"/>
              </a:ext>
            </a:extLst>
          </p:cNvPr>
          <p:cNvSpPr txBox="1"/>
          <p:nvPr/>
        </p:nvSpPr>
        <p:spPr>
          <a:xfrm>
            <a:off x="8153400" y="306705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信任稀缺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802A313-CE59-4E61-879C-CF16383CD5BB}"/>
              </a:ext>
            </a:extLst>
          </p:cNvPr>
          <p:cNvSpPr txBox="1"/>
          <p:nvPr/>
        </p:nvSpPr>
        <p:spPr>
          <a:xfrm>
            <a:off x="8153400" y="3524250"/>
            <a:ext cx="28956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A8B0BC"/>
                </a:solidFill>
                <a:latin typeface="Microsoft YaHei"/>
                <a:ea typeface="Microsoft YaHei"/>
              </a:rPr>
              <a:t>用户对「诱导凑单」越来越敏感；透明、理性成为差异化。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E8EFF35-910A-4986-A27F-282DCCCB6745}"/>
              </a:ext>
            </a:extLst>
          </p:cNvPr>
          <p:cNvSpPr/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2C1CB71-3779-4C68-9547-FFABABBCADB2}"/>
              </a:ext>
            </a:extLst>
          </p:cNvPr>
          <p:cNvSpPr txBox="1"/>
          <p:nvPr/>
        </p:nvSpPr>
        <p:spPr>
          <a:xfrm>
            <a:off x="800100" y="5886450"/>
            <a:ext cx="933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0D11"/>
                </a:solidFill>
                <a:latin typeface="Microsoft YaHei"/>
                <a:ea typeface="Microsoft YaHei"/>
              </a:rPr>
              <a:t>切入点：购物车结算前 3 秒，帮用户做决定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DB58A17-05D4-46C4-89A4-BB0F57CAE2A3}"/>
              </a:ext>
            </a:extLst>
          </p:cNvPr>
          <p:cNvSpPr/>
          <p:nvPr/>
        </p:nvSpPr>
        <p:spPr>
          <a:xfrm>
            <a:off x="10668000" y="5886450"/>
            <a:ext cx="666750" cy="228600"/>
          </a:xfrm>
          <a:prstGeom prst="rightArrow">
            <a:avLst/>
          </a:prstGeom>
          <a:solidFill>
            <a:srgbClr val="0B0D1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AF61A70-B104-43E0-AA61-014CA9DA5747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9599193-86CF-4363-BBBE-4A05EA52F7AD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03 / 产品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42B898B-8E38-43E7-B8E4-48394A74672E}"/>
              </a:ext>
            </a:extLst>
          </p:cNvPr>
          <p:cNvSpPr txBox="1"/>
          <p:nvPr/>
        </p:nvSpPr>
        <p:spPr>
          <a:xfrm>
            <a:off x="609600" y="762000"/>
            <a:ext cx="7239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三个方案，一句净省。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3B446E3-BA08-4947-81BD-3FF7AE3FF320}"/>
              </a:ext>
            </a:extLst>
          </p:cNvPr>
          <p:cNvSpPr txBox="1"/>
          <p:nvPr/>
        </p:nvSpPr>
        <p:spPr>
          <a:xfrm>
            <a:off x="609600" y="1504950"/>
            <a:ext cx="685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50">
                <a:solidFill>
                  <a:srgbClr val="A8B0BC"/>
                </a:solidFill>
                <a:latin typeface="Microsoft YaHei"/>
                <a:ea typeface="Microsoft YaHei"/>
              </a:rPr>
              <a:t>不改变商家定价和优惠，只帮用户算清楚：加什么、省多少、值不值。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E42E103-EDE5-46D3-8A0D-0AAA72A2DBF9}"/>
              </a:ext>
            </a:extLst>
          </p:cNvPr>
          <p:cNvSpPr txBox="1"/>
          <p:nvPr/>
        </p:nvSpPr>
        <p:spPr>
          <a:xfrm>
            <a:off x="609600" y="2133600"/>
            <a:ext cx="495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01  </a:t>
            </a:r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最省钱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B798AA6-CD66-4C12-A256-1D2DF63B6298}"/>
              </a:ext>
            </a:extLst>
          </p:cNvPr>
          <p:cNvSpPr txBox="1"/>
          <p:nvPr/>
        </p:nvSpPr>
        <p:spPr>
          <a:xfrm>
            <a:off x="952500" y="2419350"/>
            <a:ext cx="4381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8B0BC"/>
                </a:solidFill>
                <a:latin typeface="Microsoft YaHei"/>
                <a:ea typeface="Microsoft YaHei"/>
              </a:rPr>
              <a:t>刚好过门槛，实付最低。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88C99DF-E4E4-4BB3-94FF-1DAD09599D41}"/>
              </a:ext>
            </a:extLst>
          </p:cNvPr>
          <p:cNvSpPr/>
          <p:nvPr/>
        </p:nvSpPr>
        <p:spPr>
          <a:xfrm>
            <a:off x="609600" y="2781300"/>
            <a:ext cx="49530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B7CA504-799D-4D7F-886F-75F53DC938E1}"/>
              </a:ext>
            </a:extLst>
          </p:cNvPr>
          <p:cNvSpPr txBox="1"/>
          <p:nvPr/>
        </p:nvSpPr>
        <p:spPr>
          <a:xfrm>
            <a:off x="609600" y="2952750"/>
            <a:ext cx="495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02  </a:t>
            </a:r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最想要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699D6A8-87A2-42CA-831E-E220111FC0A9}"/>
              </a:ext>
            </a:extLst>
          </p:cNvPr>
          <p:cNvSpPr txBox="1"/>
          <p:nvPr/>
        </p:nvSpPr>
        <p:spPr>
          <a:xfrm>
            <a:off x="952500" y="3238500"/>
            <a:ext cx="4381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8B0BC"/>
                </a:solidFill>
                <a:latin typeface="Microsoft YaHei"/>
                <a:ea typeface="Microsoft YaHei"/>
              </a:rPr>
              <a:t>优先常点 / 偏好品类，不硬塞。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7F46C76-D924-48B1-A161-82CE25EDFC94}"/>
              </a:ext>
            </a:extLst>
          </p:cNvPr>
          <p:cNvSpPr/>
          <p:nvPr/>
        </p:nvSpPr>
        <p:spPr>
          <a:xfrm>
            <a:off x="609600" y="3600450"/>
            <a:ext cx="49530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E60F13-8EC6-4DE7-BC60-B629CC4C4E79}"/>
              </a:ext>
            </a:extLst>
          </p:cNvPr>
          <p:cNvSpPr txBox="1"/>
          <p:nvPr/>
        </p:nvSpPr>
        <p:spPr>
          <a:xfrm>
            <a:off x="609600" y="3771900"/>
            <a:ext cx="495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03  </a:t>
            </a:r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93AA317-1199-44FF-81AB-4416C5DD223D}"/>
              </a:ext>
            </a:extLst>
          </p:cNvPr>
          <p:cNvSpPr txBox="1"/>
          <p:nvPr/>
        </p:nvSpPr>
        <p:spPr>
          <a:xfrm>
            <a:off x="952500" y="4057650"/>
            <a:ext cx="4381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8B0BC"/>
                </a:solidFill>
                <a:latin typeface="Microsoft YaHei"/>
                <a:ea typeface="Microsoft YaHei"/>
              </a:rPr>
              <a:t>多花的钱大于优惠，直接劝退。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F2B94DD-78C2-4C8A-B98A-556766AA1DC1}"/>
              </a:ext>
            </a:extLst>
          </p:cNvPr>
          <p:cNvSpPr/>
          <p:nvPr/>
        </p:nvSpPr>
        <p:spPr>
          <a:xfrm>
            <a:off x="609600" y="4476750"/>
            <a:ext cx="4953000" cy="1333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C45FF9E-3FEA-4A96-9176-3C6880470CF1}"/>
              </a:ext>
            </a:extLst>
          </p:cNvPr>
          <p:cNvSpPr txBox="1"/>
          <p:nvPr/>
        </p:nvSpPr>
        <p:spPr>
          <a:xfrm>
            <a:off x="800100" y="4629150"/>
            <a:ext cx="457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4F1EA"/>
                </a:solidFill>
                <a:latin typeface="Microsoft YaHei"/>
                <a:ea typeface="Microsoft YaHei"/>
              </a:rPr>
              <a:t>净省 = 增量优惠 − 加购商品价格（含包装费）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093C3C8-9C25-4200-A33E-23DCD3FEC43B}"/>
              </a:ext>
            </a:extLst>
          </p:cNvPr>
          <p:cNvSpPr txBox="1"/>
          <p:nvPr/>
        </p:nvSpPr>
        <p:spPr>
          <a:xfrm>
            <a:off x="800100" y="4953000"/>
            <a:ext cx="4572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A8B0BC"/>
                </a:solidFill>
                <a:latin typeface="Microsoft YaHei"/>
                <a:ea typeface="Microsoft YaHei"/>
              </a:rPr>
              <a:t>例：32 元购物车，差 6 元到「满 38 减 8」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A8B0BC"/>
                </a:solidFill>
                <a:latin typeface="Microsoft YaHei"/>
                <a:ea typeface="Microsoft YaHei"/>
              </a:rPr>
              <a:t>加 6 元小菜，净省 2 元，实付 30 元。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95864E8-A132-488A-BC49-00EC9830B729}"/>
              </a:ext>
            </a:extLst>
          </p:cNvPr>
          <p:cNvSpPr txBox="1"/>
          <p:nvPr/>
        </p:nvSpPr>
        <p:spPr>
          <a:xfrm>
            <a:off x="609600" y="5943600"/>
            <a:ext cx="495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D7685"/>
                </a:solidFill>
                <a:latin typeface="Microsoft YaHei"/>
                <a:ea typeface="Microsoft YaHei"/>
              </a:rPr>
              <a:t>不预选 · 不倒计时 · 随时不凑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EC2E857-820E-4AC8-A3B3-6C8A231DE1E2}"/>
              </a:ext>
            </a:extLst>
          </p:cNvPr>
          <p:cNvSpPr/>
          <p:nvPr/>
        </p:nvSpPr>
        <p:spPr>
          <a:xfrm>
            <a:off x="7429500" y="1000125"/>
            <a:ext cx="3619500" cy="5238750"/>
          </a:xfrm>
          <a:prstGeom prst="roundRect">
            <a:avLst/>
          </a:prstGeom>
          <a:solidFill>
            <a:srgbClr val="0B0D11"/>
          </a:solidFill>
          <a:ln w="25400">
            <a:solidFill>
              <a:srgbClr val="333B4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8BF4AB3-034E-47B4-8EBA-70DB20A12E51}"/>
              </a:ext>
            </a:extLst>
          </p:cNvPr>
          <p:cNvSpPr/>
          <p:nvPr/>
        </p:nvSpPr>
        <p:spPr>
          <a:xfrm>
            <a:off x="7581900" y="1152525"/>
            <a:ext cx="3314700" cy="4933950"/>
          </a:xfrm>
          <a:prstGeom prst="rect">
            <a:avLst/>
          </a:prstGeom>
          <a:solidFill>
            <a:srgbClr val="12161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DD6D120-C4B1-4AF1-815E-33636E81C548}"/>
              </a:ext>
            </a:extLst>
          </p:cNvPr>
          <p:cNvSpPr txBox="1"/>
          <p:nvPr/>
        </p:nvSpPr>
        <p:spPr>
          <a:xfrm>
            <a:off x="7734300" y="1314450"/>
            <a:ext cx="1333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A8B0BC"/>
                </a:solidFill>
                <a:latin typeface="Microsoft YaHei"/>
                <a:ea typeface="Microsoft YaHei"/>
              </a:rPr>
              <a:t>购物车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8DBC066-F299-482F-9F8F-68F87C1A1FA0}"/>
              </a:ext>
            </a:extLst>
          </p:cNvPr>
          <p:cNvSpPr/>
          <p:nvPr/>
        </p:nvSpPr>
        <p:spPr>
          <a:xfrm>
            <a:off x="9715500" y="1276350"/>
            <a:ext cx="990600" cy="247650"/>
          </a:xfrm>
          <a:prstGeom prst="roundRect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196B969-3D94-4322-8AEC-68BAA136B4E8}"/>
              </a:ext>
            </a:extLst>
          </p:cNvPr>
          <p:cNvSpPr txBox="1"/>
          <p:nvPr/>
        </p:nvSpPr>
        <p:spPr>
          <a:xfrm>
            <a:off x="9810750" y="1333500"/>
            <a:ext cx="800100" cy="16002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0B0D11"/>
                </a:solidFill>
                <a:latin typeface="Microsoft YaHei"/>
                <a:ea typeface="Microsoft YaHei"/>
              </a:rPr>
              <a:t>差 6 元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E7E5975F-4EE7-4904-A1C4-CFE250BAAFA7}"/>
              </a:ext>
            </a:extLst>
          </p:cNvPr>
          <p:cNvSpPr/>
          <p:nvPr/>
        </p:nvSpPr>
        <p:spPr>
          <a:xfrm>
            <a:off x="7734300" y="1676400"/>
            <a:ext cx="419100" cy="419100"/>
          </a:xfrm>
          <a:prstGeom prst="rect">
            <a:avLst/>
          </a:prstGeom>
          <a:solidFill>
            <a:srgbClr val="222A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9AF0076-5C10-4E23-82E9-A96FC6F504F9}"/>
              </a:ext>
            </a:extLst>
          </p:cNvPr>
          <p:cNvSpPr txBox="1"/>
          <p:nvPr/>
        </p:nvSpPr>
        <p:spPr>
          <a:xfrm>
            <a:off x="8267700" y="1695450"/>
            <a:ext cx="1714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F4F1EA"/>
                </a:solidFill>
                <a:latin typeface="Microsoft YaHei"/>
                <a:ea typeface="Microsoft YaHei"/>
              </a:rPr>
              <a:t>招牌牛肉饭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8E9C567-A556-496B-A3C0-5EDBF79BBD8C}"/>
              </a:ext>
            </a:extLst>
          </p:cNvPr>
          <p:cNvSpPr txBox="1"/>
          <p:nvPr/>
        </p:nvSpPr>
        <p:spPr>
          <a:xfrm>
            <a:off x="10096500" y="1695450"/>
            <a:ext cx="6096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50" b="1">
                <a:solidFill>
                  <a:srgbClr val="FF7A1A"/>
                </a:solidFill>
                <a:latin typeface="Arial"/>
                <a:ea typeface="Arial"/>
              </a:rPr>
              <a:t>¥24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88433AB-A520-4D11-A035-141AA3B9E992}"/>
              </a:ext>
            </a:extLst>
          </p:cNvPr>
          <p:cNvSpPr/>
          <p:nvPr/>
        </p:nvSpPr>
        <p:spPr>
          <a:xfrm>
            <a:off x="7734300" y="2209800"/>
            <a:ext cx="419100" cy="419100"/>
          </a:xfrm>
          <a:prstGeom prst="rect">
            <a:avLst/>
          </a:prstGeom>
          <a:solidFill>
            <a:srgbClr val="222A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F8299A2-BFA0-46B8-AC7E-8A0DE657C873}"/>
              </a:ext>
            </a:extLst>
          </p:cNvPr>
          <p:cNvSpPr txBox="1"/>
          <p:nvPr/>
        </p:nvSpPr>
        <p:spPr>
          <a:xfrm>
            <a:off x="8267700" y="2228850"/>
            <a:ext cx="1714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F4F1EA"/>
                </a:solidFill>
                <a:latin typeface="Microsoft YaHei"/>
                <a:ea typeface="Microsoft YaHei"/>
              </a:rPr>
              <a:t>冰美式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AC9A947-271F-4B41-AC3F-F52883454A0B}"/>
              </a:ext>
            </a:extLst>
          </p:cNvPr>
          <p:cNvSpPr txBox="1"/>
          <p:nvPr/>
        </p:nvSpPr>
        <p:spPr>
          <a:xfrm>
            <a:off x="10096500" y="2228850"/>
            <a:ext cx="6096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50" b="1">
                <a:solidFill>
                  <a:srgbClr val="FF7A1A"/>
                </a:solidFill>
                <a:latin typeface="Arial"/>
                <a:ea typeface="Arial"/>
              </a:rPr>
              <a:t>¥8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2DEE8B79-4650-4731-BAD5-6DF81AAF39AB}"/>
              </a:ext>
            </a:extLst>
          </p:cNvPr>
          <p:cNvSpPr/>
          <p:nvPr/>
        </p:nvSpPr>
        <p:spPr>
          <a:xfrm>
            <a:off x="7734300" y="2781300"/>
            <a:ext cx="30099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BB8A5F9-819B-4A58-B179-EE6CFF23DD3C}"/>
              </a:ext>
            </a:extLst>
          </p:cNvPr>
          <p:cNvSpPr txBox="1"/>
          <p:nvPr/>
        </p:nvSpPr>
        <p:spPr>
          <a:xfrm>
            <a:off x="8953500" y="2876550"/>
            <a:ext cx="17145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F4F1EA"/>
                </a:solidFill>
                <a:latin typeface="Microsoft YaHei"/>
                <a:ea typeface="Microsoft YaHei"/>
              </a:rPr>
              <a:t>合计 ¥32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DA1BF4B8-A5A7-4322-9D05-A8231E954E80}"/>
              </a:ext>
            </a:extLst>
          </p:cNvPr>
          <p:cNvSpPr/>
          <p:nvPr/>
        </p:nvSpPr>
        <p:spPr>
          <a:xfrm>
            <a:off x="7696200" y="3333750"/>
            <a:ext cx="3086100" cy="2590800"/>
          </a:xfrm>
          <a:prstGeom prst="roundRect">
            <a:avLst/>
          </a:prstGeom>
          <a:solidFill>
            <a:srgbClr val="1B212B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ED3A979-795C-4B17-B14B-C3BC752E8CBB}"/>
              </a:ext>
            </a:extLst>
          </p:cNvPr>
          <p:cNvSpPr txBox="1"/>
          <p:nvPr/>
        </p:nvSpPr>
        <p:spPr>
          <a:xfrm>
            <a:off x="7848600" y="356235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4F1EA"/>
                </a:solidFill>
                <a:latin typeface="Microsoft YaHei"/>
                <a:ea typeface="Microsoft YaHei"/>
              </a:rPr>
              <a:t>再差 6 元，可减 8 元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2650092-2812-42E4-8E3E-40FB9579987F}"/>
              </a:ext>
            </a:extLst>
          </p:cNvPr>
          <p:cNvSpPr txBox="1"/>
          <p:nvPr/>
        </p:nvSpPr>
        <p:spPr>
          <a:xfrm>
            <a:off x="7848600" y="3810000"/>
            <a:ext cx="27813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已找到 3 种凑法，净省 2 元起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3D59AA7C-76E3-4724-9CDA-F3BFF0284741}"/>
              </a:ext>
            </a:extLst>
          </p:cNvPr>
          <p:cNvSpPr/>
          <p:nvPr/>
        </p:nvSpPr>
        <p:spPr>
          <a:xfrm>
            <a:off x="7848600" y="4076700"/>
            <a:ext cx="2781300" cy="361950"/>
          </a:xfrm>
          <a:prstGeom prst="roundRect">
            <a:avLst/>
          </a:prstGeom>
          <a:solidFill>
            <a:srgbClr val="242C38"/>
          </a:solidFill>
          <a:ln w="12700">
            <a:solidFill>
              <a:srgbClr val="FF7A1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BB39531-232F-4F94-9AB5-4DD3BAB16253}"/>
              </a:ext>
            </a:extLst>
          </p:cNvPr>
          <p:cNvSpPr txBox="1"/>
          <p:nvPr/>
        </p:nvSpPr>
        <p:spPr>
          <a:xfrm>
            <a:off x="7962900" y="4171950"/>
            <a:ext cx="2552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4F1EA"/>
                </a:solidFill>
                <a:latin typeface="Microsoft YaHei"/>
                <a:ea typeface="Microsoft YaHei"/>
              </a:rPr>
              <a:t>最省钱  +6 元小菜 · 净省 2 元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4C7837E5-E154-405C-9B7B-19A6B1733061}"/>
              </a:ext>
            </a:extLst>
          </p:cNvPr>
          <p:cNvSpPr/>
          <p:nvPr/>
        </p:nvSpPr>
        <p:spPr>
          <a:xfrm>
            <a:off x="7848600" y="4495800"/>
            <a:ext cx="2781300" cy="361950"/>
          </a:xfrm>
          <a:prstGeom prst="roundRect">
            <a:avLst/>
          </a:prstGeom>
          <a:solidFill>
            <a:srgbClr val="202731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7514C9D-4E68-49DF-A14F-FF8707ACEB92}"/>
              </a:ext>
            </a:extLst>
          </p:cNvPr>
          <p:cNvSpPr txBox="1"/>
          <p:nvPr/>
        </p:nvSpPr>
        <p:spPr>
          <a:xfrm>
            <a:off x="7962900" y="4591050"/>
            <a:ext cx="2552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4F1EA"/>
                </a:solidFill>
                <a:latin typeface="Microsoft YaHei"/>
                <a:ea typeface="Microsoft YaHei"/>
              </a:rPr>
              <a:t>最想要  +7 元凉菜 · 净省 1 元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EEC28B74-46DF-4F27-9989-E4F3F6045606}"/>
              </a:ext>
            </a:extLst>
          </p:cNvPr>
          <p:cNvSpPr txBox="1"/>
          <p:nvPr/>
        </p:nvSpPr>
        <p:spPr>
          <a:xfrm>
            <a:off x="7962900" y="4972050"/>
            <a:ext cx="2552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FC857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E0B5DF8D-F85B-4992-A2ED-7F7AD8EF82CC}"/>
              </a:ext>
            </a:extLst>
          </p:cNvPr>
          <p:cNvSpPr/>
          <p:nvPr/>
        </p:nvSpPr>
        <p:spPr>
          <a:xfrm>
            <a:off x="7848600" y="5238750"/>
            <a:ext cx="2781300" cy="342900"/>
          </a:xfrm>
          <a:prstGeom prst="roundRect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FEC33D7F-54A5-4960-A563-8975489DD52E}"/>
              </a:ext>
            </a:extLst>
          </p:cNvPr>
          <p:cNvSpPr txBox="1"/>
          <p:nvPr/>
        </p:nvSpPr>
        <p:spPr>
          <a:xfrm>
            <a:off x="7848600" y="5324475"/>
            <a:ext cx="27813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50" b="1">
                <a:solidFill>
                  <a:srgbClr val="0B0D11"/>
                </a:solidFill>
                <a:latin typeface="Microsoft YaHei"/>
                <a:ea typeface="Microsoft YaHei"/>
              </a:rPr>
              <a:t>选最省钱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0CA77BF-168E-4071-8E8E-49E88E1D5D00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5CAC8A2-8E1E-481F-B49F-B235B8827B15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04 / 技术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0385858-B432-4290-9C7B-51B91A11FEA8}"/>
              </a:ext>
            </a:extLst>
          </p:cNvPr>
          <p:cNvSpPr txBox="1"/>
          <p:nvPr/>
        </p:nvSpPr>
        <p:spPr>
          <a:xfrm>
            <a:off x="609600" y="762000"/>
            <a:ext cx="9525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不是推荐列表，是实时优化器。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852F95-0DFF-4CEB-85BC-901EC8BE86A0}"/>
              </a:ext>
            </a:extLst>
          </p:cNvPr>
          <p:cNvSpPr txBox="1"/>
          <p:nvPr/>
        </p:nvSpPr>
        <p:spPr>
          <a:xfrm>
            <a:off x="609600" y="1504950"/>
            <a:ext cx="100012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50">
                <a:solidFill>
                  <a:srgbClr val="A8B0BC"/>
                </a:solidFill>
                <a:latin typeface="Microsoft YaHei"/>
                <a:ea typeface="Microsoft YaHei"/>
              </a:rPr>
              <a:t>把「差多少钱、加什么、减多少」当成一个带约束的选品题，在 100ms 内算完。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4DB4399-917A-4367-A2FE-F25BEE210049}"/>
              </a:ext>
            </a:extLst>
          </p:cNvPr>
          <p:cNvSpPr/>
          <p:nvPr/>
        </p:nvSpPr>
        <p:spPr>
          <a:xfrm>
            <a:off x="609600" y="2095500"/>
            <a:ext cx="5334000" cy="1428750"/>
          </a:xfrm>
          <a:prstGeom prst="roundRect">
            <a:avLst/>
          </a:prstGeom>
          <a:solidFill>
            <a:srgbClr val="141922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2A760E-0FE2-4EA6-8900-5746125AB765}"/>
              </a:ext>
            </a:extLst>
          </p:cNvPr>
          <p:cNvSpPr txBox="1"/>
          <p:nvPr/>
        </p:nvSpPr>
        <p:spPr>
          <a:xfrm>
            <a:off x="800100" y="2266950"/>
            <a:ext cx="49530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A8B0BC"/>
                </a:solidFill>
                <a:latin typeface="Microsoft YaHei"/>
                <a:ea typeface="Microsoft YaHei"/>
              </a:rPr>
              <a:t>传统推荐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80F39A0-85DB-4434-A9F7-30D3DF9416C1}"/>
              </a:ext>
            </a:extLst>
          </p:cNvPr>
          <p:cNvSpPr txBox="1"/>
          <p:nvPr/>
        </p:nvSpPr>
        <p:spPr>
          <a:xfrm>
            <a:off x="800100" y="2609850"/>
            <a:ext cx="4953000" cy="704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6D7685"/>
                </a:solidFill>
                <a:latin typeface="Microsoft YaHei"/>
                <a:ea typeface="Microsoft YaHei"/>
              </a:rPr>
              <a:t>给你更多选择：猜你喜欢、热销、相似商品；不保证净省，列表越长越难选。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179BABD-F86D-4894-BF79-1900112C4C51}"/>
              </a:ext>
            </a:extLst>
          </p:cNvPr>
          <p:cNvSpPr/>
          <p:nvPr/>
        </p:nvSpPr>
        <p:spPr>
          <a:xfrm>
            <a:off x="6248400" y="2095500"/>
            <a:ext cx="5334000" cy="1428750"/>
          </a:xfrm>
          <a:prstGeom prst="roundRect">
            <a:avLst/>
          </a:prstGeom>
          <a:solidFill>
            <a:srgbClr val="1C232E"/>
          </a:solidFill>
          <a:ln w="12700">
            <a:solidFill>
              <a:srgbClr val="FF7A1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1C57965-D659-4701-9395-0E88F906BC9B}"/>
              </a:ext>
            </a:extLst>
          </p:cNvPr>
          <p:cNvSpPr txBox="1"/>
          <p:nvPr/>
        </p:nvSpPr>
        <p:spPr>
          <a:xfrm>
            <a:off x="6438900" y="2266950"/>
            <a:ext cx="49530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F4F1EA"/>
                </a:solidFill>
                <a:latin typeface="Microsoft YaHei"/>
                <a:ea typeface="Microsoft YaHei"/>
              </a:rPr>
              <a:t>净省优化器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963E5A-83C2-4C65-8721-2D9468F3EB65}"/>
              </a:ext>
            </a:extLst>
          </p:cNvPr>
          <p:cNvSpPr txBox="1"/>
          <p:nvPr/>
        </p:nvSpPr>
        <p:spPr>
          <a:xfrm>
            <a:off x="6438900" y="2609850"/>
            <a:ext cx="4953000" cy="704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F4F1EA"/>
                </a:solidFill>
                <a:latin typeface="Microsoft YaHei"/>
                <a:ea typeface="Microsoft YaHei"/>
              </a:rPr>
              <a:t>给你一个决定：规则约束 + 净省最大；三个方案，一句解释；不划算就劝退。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27809FE-E444-4960-B706-C120CE5803C3}"/>
              </a:ext>
            </a:extLst>
          </p:cNvPr>
          <p:cNvSpPr/>
          <p:nvPr/>
        </p:nvSpPr>
        <p:spPr>
          <a:xfrm>
            <a:off x="609600" y="4000500"/>
            <a:ext cx="2286000" cy="1143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21F6D2-4B9F-4488-B4C6-F02667E8B324}"/>
              </a:ext>
            </a:extLst>
          </p:cNvPr>
          <p:cNvSpPr txBox="1"/>
          <p:nvPr/>
        </p:nvSpPr>
        <p:spPr>
          <a:xfrm>
            <a:off x="762000" y="4133850"/>
            <a:ext cx="1981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041D961-E388-42C7-9DB8-0A79C24F956F}"/>
              </a:ext>
            </a:extLst>
          </p:cNvPr>
          <p:cNvSpPr txBox="1"/>
          <p:nvPr/>
        </p:nvSpPr>
        <p:spPr>
          <a:xfrm>
            <a:off x="762000" y="4362450"/>
            <a:ext cx="1981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规则引擎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FCA55B8-4BB1-4E73-AD4D-4CC18740B6EC}"/>
              </a:ext>
            </a:extLst>
          </p:cNvPr>
          <p:cNvSpPr txBox="1"/>
          <p:nvPr/>
        </p:nvSpPr>
        <p:spPr>
          <a:xfrm>
            <a:off x="762000" y="4629150"/>
            <a:ext cx="1981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满减·券·库存·配送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3FB4FF7-7EE0-41FF-ADB0-B02E983F8FA1}"/>
              </a:ext>
            </a:extLst>
          </p:cNvPr>
          <p:cNvSpPr/>
          <p:nvPr/>
        </p:nvSpPr>
        <p:spPr>
          <a:xfrm>
            <a:off x="3314700" y="4000500"/>
            <a:ext cx="2286000" cy="1143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CF30DA1-43D5-4913-BF3B-887307469EED}"/>
              </a:ext>
            </a:extLst>
          </p:cNvPr>
          <p:cNvSpPr txBox="1"/>
          <p:nvPr/>
        </p:nvSpPr>
        <p:spPr>
          <a:xfrm>
            <a:off x="3467100" y="4133850"/>
            <a:ext cx="1981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B57A3FE-0EA3-4562-B3BF-6A3D3A0C21D0}"/>
              </a:ext>
            </a:extLst>
          </p:cNvPr>
          <p:cNvSpPr txBox="1"/>
          <p:nvPr/>
        </p:nvSpPr>
        <p:spPr>
          <a:xfrm>
            <a:off x="3467100" y="4362450"/>
            <a:ext cx="1981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候选生成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B5725B2-3606-4652-9CDB-B2B47A92C590}"/>
              </a:ext>
            </a:extLst>
          </p:cNvPr>
          <p:cNvSpPr txBox="1"/>
          <p:nvPr/>
        </p:nvSpPr>
        <p:spPr>
          <a:xfrm>
            <a:off x="3467100" y="4629150"/>
            <a:ext cx="1981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去重·忌口·价格带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921ADE1-7329-4341-9DE3-C3FCA4271D40}"/>
              </a:ext>
            </a:extLst>
          </p:cNvPr>
          <p:cNvSpPr/>
          <p:nvPr/>
        </p:nvSpPr>
        <p:spPr>
          <a:xfrm>
            <a:off x="6019800" y="4000500"/>
            <a:ext cx="2286000" cy="1143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29AA700-ED5A-40E7-99E5-741062209AF1}"/>
              </a:ext>
            </a:extLst>
          </p:cNvPr>
          <p:cNvSpPr txBox="1"/>
          <p:nvPr/>
        </p:nvSpPr>
        <p:spPr>
          <a:xfrm>
            <a:off x="6172200" y="4133850"/>
            <a:ext cx="1981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29903E7-5A14-49CC-842E-F532722DCBBC}"/>
              </a:ext>
            </a:extLst>
          </p:cNvPr>
          <p:cNvSpPr txBox="1"/>
          <p:nvPr/>
        </p:nvSpPr>
        <p:spPr>
          <a:xfrm>
            <a:off x="6172200" y="4362450"/>
            <a:ext cx="1981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优化器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9A9AD32-BE72-4144-A7DA-27C33D1C7BBE}"/>
              </a:ext>
            </a:extLst>
          </p:cNvPr>
          <p:cNvSpPr txBox="1"/>
          <p:nvPr/>
        </p:nvSpPr>
        <p:spPr>
          <a:xfrm>
            <a:off x="6172200" y="4629150"/>
            <a:ext cx="1981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背包/整数规划·券组合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CA59CA5B-E77F-4E51-8D66-4A0AA6CCF217}"/>
              </a:ext>
            </a:extLst>
          </p:cNvPr>
          <p:cNvSpPr/>
          <p:nvPr/>
        </p:nvSpPr>
        <p:spPr>
          <a:xfrm>
            <a:off x="8724900" y="4000500"/>
            <a:ext cx="2286000" cy="1143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C28F624-E27E-403D-894D-085DB953923A}"/>
              </a:ext>
            </a:extLst>
          </p:cNvPr>
          <p:cNvSpPr txBox="1"/>
          <p:nvPr/>
        </p:nvSpPr>
        <p:spPr>
          <a:xfrm>
            <a:off x="8877300" y="4133850"/>
            <a:ext cx="1981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C40F0FB-3AA1-4796-83F0-9B95D3B6E310}"/>
              </a:ext>
            </a:extLst>
          </p:cNvPr>
          <p:cNvSpPr txBox="1"/>
          <p:nvPr/>
        </p:nvSpPr>
        <p:spPr>
          <a:xfrm>
            <a:off x="8877300" y="4362450"/>
            <a:ext cx="1981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排序与解释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7AA950C-2826-469D-8ACC-FD84DA8BA08F}"/>
              </a:ext>
            </a:extLst>
          </p:cNvPr>
          <p:cNvSpPr txBox="1"/>
          <p:nvPr/>
        </p:nvSpPr>
        <p:spPr>
          <a:xfrm>
            <a:off x="8877300" y="4629150"/>
            <a:ext cx="1981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偏好−花费−浪费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E2EAB39B-FB90-4D92-B544-0D80C0E8BB97}"/>
              </a:ext>
            </a:extLst>
          </p:cNvPr>
          <p:cNvSpPr/>
          <p:nvPr/>
        </p:nvSpPr>
        <p:spPr>
          <a:xfrm>
            <a:off x="2933700" y="4457700"/>
            <a:ext cx="342900" cy="228600"/>
          </a:xfrm>
          <a:prstGeom prst="rightArrow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C61A9562-976E-4DE5-93B7-C71D5CD6B9E7}"/>
              </a:ext>
            </a:extLst>
          </p:cNvPr>
          <p:cNvSpPr/>
          <p:nvPr/>
        </p:nvSpPr>
        <p:spPr>
          <a:xfrm>
            <a:off x="5638800" y="4457700"/>
            <a:ext cx="342900" cy="228600"/>
          </a:xfrm>
          <a:prstGeom prst="rightArrow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75F98006-449A-4BD3-BAE6-542BCF71B9F4}"/>
              </a:ext>
            </a:extLst>
          </p:cNvPr>
          <p:cNvSpPr/>
          <p:nvPr/>
        </p:nvSpPr>
        <p:spPr>
          <a:xfrm>
            <a:off x="8343900" y="4457700"/>
            <a:ext cx="342900" cy="228600"/>
          </a:xfrm>
          <a:prstGeom prst="rightArrow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C02B20DD-EC9D-46E6-ABD2-150B40AAE7A1}"/>
              </a:ext>
            </a:extLst>
          </p:cNvPr>
          <p:cNvSpPr/>
          <p:nvPr/>
        </p:nvSpPr>
        <p:spPr>
          <a:xfrm>
            <a:off x="609600" y="5524500"/>
            <a:ext cx="3352800" cy="381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7976B99-CBE1-44C6-B8AE-C7B117120270}"/>
              </a:ext>
            </a:extLst>
          </p:cNvPr>
          <p:cNvSpPr txBox="1"/>
          <p:nvPr/>
        </p:nvSpPr>
        <p:spPr>
          <a:xfrm>
            <a:off x="762000" y="561975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800" b="1">
                <a:solidFill>
                  <a:srgbClr val="FF7A1A"/>
                </a:solidFill>
                <a:latin typeface="Arial"/>
                <a:ea typeface="Arial"/>
              </a:rPr>
              <a:t>● </a:t>
            </a:r>
            <a:r>
              <a:rPr sz="1150" b="1">
                <a:solidFill>
                  <a:srgbClr val="F4F1EA"/>
                </a:solidFill>
                <a:latin typeface="Microsoft YaHei"/>
                <a:ea typeface="Microsoft YaHei"/>
              </a:rPr>
              <a:t>与结算同源 · 一致率 100%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864ABAA-31D1-43F6-81C9-6E5BCB0F8B75}"/>
              </a:ext>
            </a:extLst>
          </p:cNvPr>
          <p:cNvSpPr/>
          <p:nvPr/>
        </p:nvSpPr>
        <p:spPr>
          <a:xfrm>
            <a:off x="4267200" y="5524500"/>
            <a:ext cx="3352800" cy="381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550F711-E9EB-43CE-812D-0D073CFBCCFF}"/>
              </a:ext>
            </a:extLst>
          </p:cNvPr>
          <p:cNvSpPr txBox="1"/>
          <p:nvPr/>
        </p:nvSpPr>
        <p:spPr>
          <a:xfrm>
            <a:off x="4419600" y="561975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800" b="1">
                <a:solidFill>
                  <a:srgbClr val="FF7A1A"/>
                </a:solidFill>
                <a:latin typeface="Arial"/>
                <a:ea typeface="Arial"/>
              </a:rPr>
              <a:t>● </a:t>
            </a:r>
            <a:r>
              <a:rPr sz="1150" b="1">
                <a:solidFill>
                  <a:srgbClr val="F4F1EA"/>
                </a:solidFill>
                <a:latin typeface="Microsoft YaHei"/>
                <a:ea typeface="Microsoft YaHei"/>
              </a:rPr>
              <a:t>p99 &lt; 100ms · CPU 即可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776BBB40-5654-4652-919B-7F7FB67A94F2}"/>
              </a:ext>
            </a:extLst>
          </p:cNvPr>
          <p:cNvSpPr/>
          <p:nvPr/>
        </p:nvSpPr>
        <p:spPr>
          <a:xfrm>
            <a:off x="7924800" y="5524500"/>
            <a:ext cx="3352800" cy="381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06E53BE-6FBA-4866-BC4E-C137ECF0DAEA}"/>
              </a:ext>
            </a:extLst>
          </p:cNvPr>
          <p:cNvSpPr txBox="1"/>
          <p:nvPr/>
        </p:nvSpPr>
        <p:spPr>
          <a:xfrm>
            <a:off x="8077200" y="561975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800" b="1">
                <a:solidFill>
                  <a:srgbClr val="FF7A1A"/>
                </a:solidFill>
                <a:latin typeface="Arial"/>
                <a:ea typeface="Arial"/>
              </a:rPr>
              <a:t>● </a:t>
            </a:r>
            <a:r>
              <a:rPr sz="1150" b="1">
                <a:solidFill>
                  <a:srgbClr val="F4F1EA"/>
                </a:solidFill>
                <a:latin typeface="Microsoft YaHei"/>
                <a:ea typeface="Microsoft YaHei"/>
              </a:rPr>
              <a:t>超时降级 · 绝不阻塞下单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1AB0543-5FA9-4A0B-8724-9CEE7AB97DB6}"/>
              </a:ext>
            </a:extLst>
          </p:cNvPr>
          <p:cNvSpPr txBox="1"/>
          <p:nvPr/>
        </p:nvSpPr>
        <p:spPr>
          <a:xfrm>
            <a:off x="609600" y="615315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D7685"/>
                </a:solidFill>
                <a:latin typeface="Microsoft YaHei"/>
                <a:ea typeface="Microsoft YaHei"/>
              </a:rPr>
              <a:t>LLM 不放在交易主链路：数字必须来自规则引擎。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E7933219-734C-4CC2-A8FA-FC92AE4851D7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752AD0C-46AE-41CD-9DEE-7929F96AD993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05 / 壁垒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78EDCC-5B7B-429C-8FE5-D13B362A67D2}"/>
              </a:ext>
            </a:extLst>
          </p:cNvPr>
          <p:cNvSpPr txBox="1"/>
          <p:nvPr/>
        </p:nvSpPr>
        <p:spPr>
          <a:xfrm>
            <a:off x="609600" y="762000"/>
            <a:ext cx="8572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算法不是壁垒，闭环才是。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D6BCC8C-FA0A-405B-A160-173E25B2BB6E}"/>
              </a:ext>
            </a:extLst>
          </p:cNvPr>
          <p:cNvSpPr txBox="1"/>
          <p:nvPr/>
        </p:nvSpPr>
        <p:spPr>
          <a:xfrm>
            <a:off x="609600" y="150495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50">
                <a:solidFill>
                  <a:srgbClr val="A8B0BC"/>
                </a:solidFill>
                <a:latin typeface="Microsoft YaHei"/>
                <a:ea typeface="Microsoft YaHei"/>
              </a:rPr>
              <a:t>规则接得准、数据转得动、用户信得过——三件事缺一不可。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643806E-5422-4E5B-8D45-21A938FF2E0A}"/>
              </a:ext>
            </a:extLst>
          </p:cNvPr>
          <p:cNvSpPr/>
          <p:nvPr/>
        </p:nvSpPr>
        <p:spPr>
          <a:xfrm>
            <a:off x="762000" y="2190750"/>
            <a:ext cx="2381250" cy="857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C98086E-DBCF-4403-8F16-470F83A6CAF0}"/>
              </a:ext>
            </a:extLst>
          </p:cNvPr>
          <p:cNvSpPr txBox="1"/>
          <p:nvPr/>
        </p:nvSpPr>
        <p:spPr>
          <a:xfrm>
            <a:off x="914400" y="2324100"/>
            <a:ext cx="20764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规则接入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76778E6-7494-450C-A592-667304EE0799}"/>
              </a:ext>
            </a:extLst>
          </p:cNvPr>
          <p:cNvSpPr txBox="1"/>
          <p:nvPr/>
        </p:nvSpPr>
        <p:spPr>
          <a:xfrm>
            <a:off x="914400" y="2609850"/>
            <a:ext cx="207645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满减 / 券 / 库存 / 配送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7331AD4-C764-49B1-933A-42F7E77C92E3}"/>
              </a:ext>
            </a:extLst>
          </p:cNvPr>
          <p:cNvSpPr/>
          <p:nvPr/>
        </p:nvSpPr>
        <p:spPr>
          <a:xfrm>
            <a:off x="4476750" y="2190750"/>
            <a:ext cx="2381250" cy="857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9EC8716-89FC-4CED-B296-7DC46BA65C7B}"/>
              </a:ext>
            </a:extLst>
          </p:cNvPr>
          <p:cNvSpPr txBox="1"/>
          <p:nvPr/>
        </p:nvSpPr>
        <p:spPr>
          <a:xfrm>
            <a:off x="4629150" y="2324100"/>
            <a:ext cx="20764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方案输出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29300B7-59FF-4491-A020-23D4F2125A53}"/>
              </a:ext>
            </a:extLst>
          </p:cNvPr>
          <p:cNvSpPr txBox="1"/>
          <p:nvPr/>
        </p:nvSpPr>
        <p:spPr>
          <a:xfrm>
            <a:off x="4629150" y="2609850"/>
            <a:ext cx="207645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三方案 + 净省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01BCE8A-CD1E-48C6-BE26-281A9AA5B16A}"/>
              </a:ext>
            </a:extLst>
          </p:cNvPr>
          <p:cNvSpPr/>
          <p:nvPr/>
        </p:nvSpPr>
        <p:spPr>
          <a:xfrm>
            <a:off x="762000" y="4191000"/>
            <a:ext cx="2381250" cy="857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7303020-80A6-447D-A77B-C0E636AF8329}"/>
              </a:ext>
            </a:extLst>
          </p:cNvPr>
          <p:cNvSpPr txBox="1"/>
          <p:nvPr/>
        </p:nvSpPr>
        <p:spPr>
          <a:xfrm>
            <a:off x="914400" y="4324350"/>
            <a:ext cx="20764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用户反馈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F5ADD3D-EC71-4449-8E5E-A28356EA2CC7}"/>
              </a:ext>
            </a:extLst>
          </p:cNvPr>
          <p:cNvSpPr txBox="1"/>
          <p:nvPr/>
        </p:nvSpPr>
        <p:spPr>
          <a:xfrm>
            <a:off x="914400" y="4610100"/>
            <a:ext cx="207645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接受 / 拒绝 / 退款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17E0778-1F68-47C6-9533-82C38EC14D8B}"/>
              </a:ext>
            </a:extLst>
          </p:cNvPr>
          <p:cNvSpPr/>
          <p:nvPr/>
        </p:nvSpPr>
        <p:spPr>
          <a:xfrm>
            <a:off x="4476750" y="4191000"/>
            <a:ext cx="2381250" cy="857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F31780F-15D7-4F06-867B-CEDB92BE62EA}"/>
              </a:ext>
            </a:extLst>
          </p:cNvPr>
          <p:cNvSpPr txBox="1"/>
          <p:nvPr/>
        </p:nvSpPr>
        <p:spPr>
          <a:xfrm>
            <a:off x="4629150" y="4324350"/>
            <a:ext cx="20764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1EA"/>
                </a:solidFill>
                <a:latin typeface="Microsoft YaHei"/>
                <a:ea typeface="Microsoft YaHei"/>
              </a:rPr>
              <a:t>更好排序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6B47EEC-C67A-4E97-A802-F59D4FA53316}"/>
              </a:ext>
            </a:extLst>
          </p:cNvPr>
          <p:cNvSpPr txBox="1"/>
          <p:nvPr/>
        </p:nvSpPr>
        <p:spPr>
          <a:xfrm>
            <a:off x="4629150" y="4610100"/>
            <a:ext cx="207645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偏好 / 浪费 / 转化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DBA1A70-E19D-4B70-8DCB-F39417BBC6A0}"/>
              </a:ext>
            </a:extLst>
          </p:cNvPr>
          <p:cNvSpPr/>
          <p:nvPr/>
        </p:nvSpPr>
        <p:spPr>
          <a:xfrm>
            <a:off x="3143250" y="3143250"/>
            <a:ext cx="1333500" cy="952500"/>
          </a:xfrm>
          <a:prstGeom prst="ellipse">
            <a:avLst/>
          </a:prstGeom>
          <a:solidFill>
            <a:srgbClr val="1C232E"/>
          </a:solidFill>
          <a:ln w="12700">
            <a:solidFill>
              <a:srgbClr val="FF7A1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76CF39D-F4D0-449B-8617-34D0648483C3}"/>
              </a:ext>
            </a:extLst>
          </p:cNvPr>
          <p:cNvSpPr txBox="1"/>
          <p:nvPr/>
        </p:nvSpPr>
        <p:spPr>
          <a:xfrm>
            <a:off x="3143250" y="3448050"/>
            <a:ext cx="13335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7A1A"/>
                </a:solidFill>
                <a:latin typeface="Microsoft YaHei"/>
                <a:ea typeface="Microsoft YaHei"/>
              </a:rPr>
              <a:t>数据飞轮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2C0F182-51DE-4E74-9E9E-3246DEA9095F}"/>
              </a:ext>
            </a:extLst>
          </p:cNvPr>
          <p:cNvSpPr txBox="1"/>
          <p:nvPr/>
        </p:nvSpPr>
        <p:spPr>
          <a:xfrm>
            <a:off x="3143250" y="3695700"/>
            <a:ext cx="13335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900">
                <a:solidFill>
                  <a:srgbClr val="A8B0BC"/>
                </a:solidFill>
                <a:latin typeface="Microsoft YaHei"/>
                <a:ea typeface="Microsoft YaHei"/>
              </a:rPr>
              <a:t>越用越准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C17D60C7-1568-40DE-9A51-015AA9C6565F}"/>
              </a:ext>
            </a:extLst>
          </p:cNvPr>
          <p:cNvSpPr/>
          <p:nvPr/>
        </p:nvSpPr>
        <p:spPr>
          <a:xfrm>
            <a:off x="3181350" y="2533650"/>
            <a:ext cx="1257300" cy="190500"/>
          </a:xfrm>
          <a:prstGeom prst="rightArrow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B605EFCB-B444-437C-A235-110F88EF74E2}"/>
              </a:ext>
            </a:extLst>
          </p:cNvPr>
          <p:cNvSpPr/>
          <p:nvPr/>
        </p:nvSpPr>
        <p:spPr>
          <a:xfrm>
            <a:off x="5505450" y="3238500"/>
            <a:ext cx="190500" cy="819150"/>
          </a:xfrm>
          <a:prstGeom prst="downArrow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1E0732E-4213-4CC3-946C-9F72B48DE509}"/>
              </a:ext>
            </a:extLst>
          </p:cNvPr>
          <p:cNvSpPr/>
          <p:nvPr/>
        </p:nvSpPr>
        <p:spPr>
          <a:xfrm>
            <a:off x="3181350" y="4476750"/>
            <a:ext cx="1257300" cy="190500"/>
          </a:xfrm>
          <a:prstGeom prst="leftArrow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000DB3C-6256-4AC5-85CC-799A802D8D18}"/>
              </a:ext>
            </a:extLst>
          </p:cNvPr>
          <p:cNvSpPr/>
          <p:nvPr/>
        </p:nvSpPr>
        <p:spPr>
          <a:xfrm>
            <a:off x="2114550" y="3238500"/>
            <a:ext cx="190500" cy="819150"/>
          </a:xfrm>
          <a:prstGeom prst="upArrow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78BAEF9-F778-464B-845A-F05C46D8137E}"/>
              </a:ext>
            </a:extLst>
          </p:cNvPr>
          <p:cNvSpPr txBox="1"/>
          <p:nvPr/>
        </p:nvSpPr>
        <p:spPr>
          <a:xfrm>
            <a:off x="7429500" y="2095500"/>
            <a:ext cx="41529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7A1A"/>
                </a:solidFill>
                <a:latin typeface="Microsoft YaHei"/>
                <a:ea typeface="Microsoft YaHei"/>
              </a:rPr>
              <a:t>壁垒一：规则接入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BB5F65D-7F8A-4AAE-B5CA-003D3176A95F}"/>
              </a:ext>
            </a:extLst>
          </p:cNvPr>
          <p:cNvSpPr txBox="1"/>
          <p:nvPr/>
        </p:nvSpPr>
        <p:spPr>
          <a:xfrm>
            <a:off x="7429500" y="2362200"/>
            <a:ext cx="41529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F4F1EA"/>
                </a:solidFill>
                <a:latin typeface="Microsoft YaHei"/>
                <a:ea typeface="Microsoft YaHei"/>
              </a:rPr>
              <a:t>每个平台的满减、券、配送费都不同；接得准、跟得上变更，是脏活也是护城河。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BB680B6-FF8B-4633-98F3-AFD583DC45CF}"/>
              </a:ext>
            </a:extLst>
          </p:cNvPr>
          <p:cNvSpPr txBox="1"/>
          <p:nvPr/>
        </p:nvSpPr>
        <p:spPr>
          <a:xfrm>
            <a:off x="7429500" y="3143250"/>
            <a:ext cx="41529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7A1A"/>
                </a:solidFill>
                <a:latin typeface="Microsoft YaHei"/>
                <a:ea typeface="Microsoft YaHei"/>
              </a:rPr>
              <a:t>壁垒二：数据飞轮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52E5D11-6CF8-40CD-A319-96612242EDE6}"/>
              </a:ext>
            </a:extLst>
          </p:cNvPr>
          <p:cNvSpPr txBox="1"/>
          <p:nvPr/>
        </p:nvSpPr>
        <p:spPr>
          <a:xfrm>
            <a:off x="7429500" y="3409950"/>
            <a:ext cx="41529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F4F1EA"/>
                </a:solidFill>
                <a:latin typeface="Microsoft YaHei"/>
                <a:ea typeface="Microsoft YaHei"/>
              </a:rPr>
              <a:t>曝光→接受→下单→退款→复购，越用越准；别人抄得走模型，抄不走数据。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8079AF1-B8F3-4129-AD95-FE8094EF0845}"/>
              </a:ext>
            </a:extLst>
          </p:cNvPr>
          <p:cNvSpPr txBox="1"/>
          <p:nvPr/>
        </p:nvSpPr>
        <p:spPr>
          <a:xfrm>
            <a:off x="7429500" y="4191000"/>
            <a:ext cx="41529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7A1A"/>
                </a:solidFill>
                <a:latin typeface="Microsoft YaHei"/>
                <a:ea typeface="Microsoft YaHei"/>
              </a:rPr>
              <a:t>壁垒三：用户信任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FF33888-5184-4A8B-8A09-D314E6A0721D}"/>
              </a:ext>
            </a:extLst>
          </p:cNvPr>
          <p:cNvSpPr txBox="1"/>
          <p:nvPr/>
        </p:nvSpPr>
        <p:spPr>
          <a:xfrm>
            <a:off x="7429500" y="4457700"/>
            <a:ext cx="41529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F4F1EA"/>
                </a:solidFill>
                <a:latin typeface="Microsoft YaHei"/>
                <a:ea typeface="Microsoft YaHei"/>
              </a:rPr>
              <a:t>「净省」是可验证的承诺；用户信一次，才会用第二次。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A24D7408-C399-4045-B7CF-C05FEE36B8C0}"/>
              </a:ext>
            </a:extLst>
          </p:cNvPr>
          <p:cNvSpPr/>
          <p:nvPr/>
        </p:nvSpPr>
        <p:spPr>
          <a:xfrm>
            <a:off x="7429500" y="5191125"/>
            <a:ext cx="41529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8FDED82-7B8A-4B9C-BB21-95D901533E11}"/>
              </a:ext>
            </a:extLst>
          </p:cNvPr>
          <p:cNvSpPr txBox="1"/>
          <p:nvPr/>
        </p:nvSpPr>
        <p:spPr>
          <a:xfrm>
            <a:off x="7429500" y="5334000"/>
            <a:ext cx="41529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今天做外卖凑单，明天复用到商超、买药、到店。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2EE63AD2-01C5-440A-982E-5F5A6B651B1F}"/>
              </a:ext>
            </a:extLst>
          </p:cNvPr>
          <p:cNvSpPr/>
          <p:nvPr/>
        </p:nvSpPr>
        <p:spPr>
          <a:xfrm>
            <a:off x="609600" y="5619750"/>
            <a:ext cx="10972800" cy="4191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B96EA30-2253-4574-91F1-6F7978345637}"/>
              </a:ext>
            </a:extLst>
          </p:cNvPr>
          <p:cNvSpPr txBox="1"/>
          <p:nvPr/>
        </p:nvSpPr>
        <p:spPr>
          <a:xfrm>
            <a:off x="800100" y="5724525"/>
            <a:ext cx="10591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4F1EA"/>
                </a:solidFill>
                <a:latin typeface="Microsoft YaHei"/>
                <a:ea typeface="Microsoft YaHei"/>
              </a:rPr>
              <a:t>不是单点模型，是可复用的交易决策内核。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39FEE3E-E468-4ADF-8778-1E85EE0F98B4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4F94142-7C56-46DD-BA9D-1F2AC802BAF0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06 / 竞争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6A60CB0-1F42-4058-B7F3-B86E42FCF6B1}"/>
              </a:ext>
            </a:extLst>
          </p:cNvPr>
          <p:cNvSpPr txBox="1"/>
          <p:nvPr/>
        </p:nvSpPr>
        <p:spPr>
          <a:xfrm>
            <a:off x="609600" y="762000"/>
            <a:ext cx="9525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现有方案，都不解决「净省」。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2BDB492-8797-4BA0-9ECE-398266B35D31}"/>
              </a:ext>
            </a:extLst>
          </p:cNvPr>
          <p:cNvSpPr txBox="1"/>
          <p:nvPr/>
        </p:nvSpPr>
        <p:spPr>
          <a:xfrm>
            <a:off x="609600" y="150495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50">
                <a:solidFill>
                  <a:srgbClr val="A8B0BC"/>
                </a:solidFill>
                <a:latin typeface="Microsoft YaHei"/>
                <a:ea typeface="Microsoft YaHei"/>
              </a:rPr>
              <a:t>要么没嵌进结算，要么不保证净省；右上角是空位。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7F27AE3-EA67-4F6C-AC4B-1E842730FB55}"/>
              </a:ext>
            </a:extLst>
          </p:cNvPr>
          <p:cNvSpPr txBox="1"/>
          <p:nvPr/>
        </p:nvSpPr>
        <p:spPr>
          <a:xfrm>
            <a:off x="857250" y="1847850"/>
            <a:ext cx="1524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D7685"/>
                </a:solidFill>
                <a:latin typeface="Microsoft YaHei"/>
                <a:ea typeface="Microsoft YaHei"/>
              </a:rPr>
              <a:t>保证净省 ↑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C33E516-20C4-4CC2-9E6C-8EC3C177558B}"/>
              </a:ext>
            </a:extLst>
          </p:cNvPr>
          <p:cNvSpPr/>
          <p:nvPr/>
        </p:nvSpPr>
        <p:spPr>
          <a:xfrm>
            <a:off x="857250" y="2095500"/>
            <a:ext cx="5524500" cy="3810000"/>
          </a:xfrm>
          <a:prstGeom prst="rect">
            <a:avLst/>
          </a:prstGeom>
          <a:solidFill>
            <a:srgbClr val="0E1116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EA29CF1-2105-4A62-8FB1-D8BFC25BB248}"/>
              </a:ext>
            </a:extLst>
          </p:cNvPr>
          <p:cNvSpPr/>
          <p:nvPr/>
        </p:nvSpPr>
        <p:spPr>
          <a:xfrm>
            <a:off x="3619500" y="2095500"/>
            <a:ext cx="9525" cy="3810000"/>
          </a:xfrm>
          <a:prstGeom prst="rect">
            <a:avLst/>
          </a:prstGeom>
          <a:solidFill>
            <a:srgbClr val="3A42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03E3DD4-6A8E-43CD-88EA-C06BF454D766}"/>
              </a:ext>
            </a:extLst>
          </p:cNvPr>
          <p:cNvSpPr/>
          <p:nvPr/>
        </p:nvSpPr>
        <p:spPr>
          <a:xfrm>
            <a:off x="857250" y="4000500"/>
            <a:ext cx="5524500" cy="9525"/>
          </a:xfrm>
          <a:prstGeom prst="rect">
            <a:avLst/>
          </a:prstGeom>
          <a:solidFill>
            <a:srgbClr val="3A42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72DDE9B-6664-4326-A671-53E2BA7F42D9}"/>
              </a:ext>
            </a:extLst>
          </p:cNvPr>
          <p:cNvSpPr txBox="1"/>
          <p:nvPr/>
        </p:nvSpPr>
        <p:spPr>
          <a:xfrm>
            <a:off x="4572000" y="6019800"/>
            <a:ext cx="1809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D7685"/>
                </a:solidFill>
                <a:latin typeface="Microsoft YaHei"/>
                <a:ea typeface="Microsoft YaHei"/>
              </a:rPr>
              <a:t>嵌入结算 →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E71A1E0-461B-4324-9D91-0E9285299102}"/>
              </a:ext>
            </a:extLst>
          </p:cNvPr>
          <p:cNvSpPr/>
          <p:nvPr/>
        </p:nvSpPr>
        <p:spPr>
          <a:xfrm>
            <a:off x="1047750" y="2438400"/>
            <a:ext cx="57150" cy="57150"/>
          </a:xfrm>
          <a:prstGeom prst="ellipse">
            <a:avLst/>
          </a:prstGeom>
          <a:solidFill>
            <a:srgbClr val="A8B0B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6ABCEDF-384A-4599-8BBF-692F85B51335}"/>
              </a:ext>
            </a:extLst>
          </p:cNvPr>
          <p:cNvSpPr txBox="1"/>
          <p:nvPr/>
        </p:nvSpPr>
        <p:spPr>
          <a:xfrm>
            <a:off x="1181100" y="2381250"/>
            <a:ext cx="21907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A8B0BC"/>
                </a:solidFill>
                <a:latin typeface="Microsoft YaHei"/>
                <a:ea typeface="Microsoft YaHei"/>
              </a:rPr>
              <a:t>第三方返利 / 比价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A8C51A-0C5B-4CAE-9CE8-DA1B9889AB54}"/>
              </a:ext>
            </a:extLst>
          </p:cNvPr>
          <p:cNvSpPr txBox="1"/>
          <p:nvPr/>
        </p:nvSpPr>
        <p:spPr>
          <a:xfrm>
            <a:off x="1181100" y="2647950"/>
            <a:ext cx="2190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D7685"/>
                </a:solidFill>
                <a:latin typeface="Microsoft YaHei"/>
                <a:ea typeface="Microsoft YaHei"/>
              </a:rPr>
              <a:t>站外领券，链路长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64A0220-CA5D-4C9C-A30D-2A5AEF6923CD}"/>
              </a:ext>
            </a:extLst>
          </p:cNvPr>
          <p:cNvSpPr/>
          <p:nvPr/>
        </p:nvSpPr>
        <p:spPr>
          <a:xfrm>
            <a:off x="3810000" y="2238375"/>
            <a:ext cx="2286000" cy="1428750"/>
          </a:xfrm>
          <a:prstGeom prst="ellipse">
            <a:avLst/>
          </a:prstGeom>
          <a:solidFill>
            <a:srgbClr val="1A222E">
              <a:alpha val="1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F390708-1B17-4C2A-9173-54C97B3CD857}"/>
              </a:ext>
            </a:extLst>
          </p:cNvPr>
          <p:cNvSpPr/>
          <p:nvPr/>
        </p:nvSpPr>
        <p:spPr>
          <a:xfrm>
            <a:off x="4095750" y="2428875"/>
            <a:ext cx="1333500" cy="323850"/>
          </a:xfrm>
          <a:prstGeom prst="roundRect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C7C18CE-6C83-4E31-A448-3D22A9CFC606}"/>
              </a:ext>
            </a:extLst>
          </p:cNvPr>
          <p:cNvSpPr txBox="1"/>
          <p:nvPr/>
        </p:nvSpPr>
        <p:spPr>
          <a:xfrm>
            <a:off x="4095750" y="2505075"/>
            <a:ext cx="1333500" cy="18288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B0D11"/>
                </a:solidFill>
                <a:latin typeface="Microsoft YaHei"/>
                <a:ea typeface="Microsoft YaHei"/>
              </a:rPr>
              <a:t>刚好 · 净省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55C1C0D-B463-44A9-AEC3-4536998AB79B}"/>
              </a:ext>
            </a:extLst>
          </p:cNvPr>
          <p:cNvSpPr txBox="1"/>
          <p:nvPr/>
        </p:nvSpPr>
        <p:spPr>
          <a:xfrm>
            <a:off x="4000500" y="2857500"/>
            <a:ext cx="20955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00" b="1">
                <a:solidFill>
                  <a:srgbClr val="FFC857"/>
                </a:solidFill>
                <a:latin typeface="Microsoft YaHei"/>
                <a:ea typeface="Microsoft YaHei"/>
              </a:rPr>
              <a:t>嵌入 + 净省 + 可解释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BFC5EDC-954A-4A5E-B927-BCABACA581F7}"/>
              </a:ext>
            </a:extLst>
          </p:cNvPr>
          <p:cNvSpPr/>
          <p:nvPr/>
        </p:nvSpPr>
        <p:spPr>
          <a:xfrm>
            <a:off x="1047750" y="4533900"/>
            <a:ext cx="57150" cy="57150"/>
          </a:xfrm>
          <a:prstGeom prst="ellipse">
            <a:avLst/>
          </a:prstGeom>
          <a:solidFill>
            <a:srgbClr val="A8B0B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A647754-872A-4178-B362-79CDFBB4EFB8}"/>
              </a:ext>
            </a:extLst>
          </p:cNvPr>
          <p:cNvSpPr txBox="1"/>
          <p:nvPr/>
        </p:nvSpPr>
        <p:spPr>
          <a:xfrm>
            <a:off x="1181100" y="4476750"/>
            <a:ext cx="21907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A8B0BC"/>
                </a:solidFill>
                <a:latin typeface="Microsoft YaHei"/>
                <a:ea typeface="Microsoft YaHei"/>
              </a:rPr>
              <a:t>AI 点餐助手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FE19F06-9977-4023-8280-446725C913A6}"/>
              </a:ext>
            </a:extLst>
          </p:cNvPr>
          <p:cNvSpPr txBox="1"/>
          <p:nvPr/>
        </p:nvSpPr>
        <p:spPr>
          <a:xfrm>
            <a:off x="1181100" y="4743450"/>
            <a:ext cx="2190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D7685"/>
                </a:solidFill>
                <a:latin typeface="Microsoft YaHei"/>
                <a:ea typeface="Microsoft YaHei"/>
              </a:rPr>
              <a:t>对话强，交易内核弱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95DC634-4388-4964-AC87-59159842C2D9}"/>
              </a:ext>
            </a:extLst>
          </p:cNvPr>
          <p:cNvSpPr/>
          <p:nvPr/>
        </p:nvSpPr>
        <p:spPr>
          <a:xfrm>
            <a:off x="3905250" y="4533900"/>
            <a:ext cx="57150" cy="57150"/>
          </a:xfrm>
          <a:prstGeom prst="ellipse">
            <a:avLst/>
          </a:prstGeom>
          <a:solidFill>
            <a:srgbClr val="A8B0B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2375CF2-BACB-457E-BD2A-C1F6EB569690}"/>
              </a:ext>
            </a:extLst>
          </p:cNvPr>
          <p:cNvSpPr txBox="1"/>
          <p:nvPr/>
        </p:nvSpPr>
        <p:spPr>
          <a:xfrm>
            <a:off x="4038600" y="4476750"/>
            <a:ext cx="21907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A8B0BC"/>
                </a:solidFill>
                <a:latin typeface="Microsoft YaHei"/>
                <a:ea typeface="Microsoft YaHei"/>
              </a:rPr>
              <a:t>平台凑单 / 商家工具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CB9AB78-6074-414B-A0DD-0107258C7AB2}"/>
              </a:ext>
            </a:extLst>
          </p:cNvPr>
          <p:cNvSpPr txBox="1"/>
          <p:nvPr/>
        </p:nvSpPr>
        <p:spPr>
          <a:xfrm>
            <a:off x="4038600" y="4743450"/>
            <a:ext cx="2190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D7685"/>
                </a:solidFill>
                <a:latin typeface="Microsoft YaHei"/>
                <a:ea typeface="Microsoft YaHei"/>
              </a:rPr>
              <a:t>有入口，不保证净省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0138AB7-9CD0-4730-BFD5-863D6CE33378}"/>
              </a:ext>
            </a:extLst>
          </p:cNvPr>
          <p:cNvSpPr/>
          <p:nvPr/>
        </p:nvSpPr>
        <p:spPr>
          <a:xfrm>
            <a:off x="6858000" y="2095500"/>
            <a:ext cx="4724400" cy="3810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66455B6-ED36-4A40-8ECB-840EFEEDD078}"/>
              </a:ext>
            </a:extLst>
          </p:cNvPr>
          <p:cNvSpPr txBox="1"/>
          <p:nvPr/>
        </p:nvSpPr>
        <p:spPr>
          <a:xfrm>
            <a:off x="7086600" y="2324100"/>
            <a:ext cx="4267200" cy="56083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空位 =</a:t>
            </a:r>
            <a:br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嵌入结算 × 保证净省 × 可解释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F0DBAC7-6D2A-46D2-9136-A97B15B0657A}"/>
              </a:ext>
            </a:extLst>
          </p:cNvPr>
          <p:cNvSpPr txBox="1"/>
          <p:nvPr/>
        </p:nvSpPr>
        <p:spPr>
          <a:xfrm>
            <a:off x="7086600" y="2952750"/>
            <a:ext cx="4267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7A1A"/>
                </a:solidFill>
                <a:latin typeface="Microsoft YaHei"/>
                <a:ea typeface="Microsoft YaHei"/>
              </a:rPr>
              <a:t>嵌入结算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9F22E81-D086-48B7-AF56-02B15112DA02}"/>
              </a:ext>
            </a:extLst>
          </p:cNvPr>
          <p:cNvSpPr txBox="1"/>
          <p:nvPr/>
        </p:nvSpPr>
        <p:spPr>
          <a:xfrm>
            <a:off x="7086600" y="3181350"/>
            <a:ext cx="4267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8B0BC"/>
                </a:solidFill>
                <a:latin typeface="Microsoft YaHei"/>
                <a:ea typeface="Microsoft YaHei"/>
              </a:rPr>
              <a:t>在购物车算，不是站外算。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5E048D7-06FF-4504-B5D0-26437D5854D3}"/>
              </a:ext>
            </a:extLst>
          </p:cNvPr>
          <p:cNvSpPr txBox="1"/>
          <p:nvPr/>
        </p:nvSpPr>
        <p:spPr>
          <a:xfrm>
            <a:off x="7086600" y="3619500"/>
            <a:ext cx="4267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7A1A"/>
                </a:solidFill>
                <a:latin typeface="Microsoft YaHei"/>
                <a:ea typeface="Microsoft YaHei"/>
              </a:rPr>
              <a:t>保证净省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172FD03-4421-413F-AEC5-5BEFD4AF4186}"/>
              </a:ext>
            </a:extLst>
          </p:cNvPr>
          <p:cNvSpPr txBox="1"/>
          <p:nvPr/>
        </p:nvSpPr>
        <p:spPr>
          <a:xfrm>
            <a:off x="7086600" y="3848100"/>
            <a:ext cx="4267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8B0BC"/>
                </a:solidFill>
                <a:latin typeface="Microsoft YaHei"/>
                <a:ea typeface="Microsoft YaHei"/>
              </a:rPr>
              <a:t>净省为负就不推荐。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479A4FA-6D1D-4762-945A-16BC4BB4E916}"/>
              </a:ext>
            </a:extLst>
          </p:cNvPr>
          <p:cNvSpPr txBox="1"/>
          <p:nvPr/>
        </p:nvSpPr>
        <p:spPr>
          <a:xfrm>
            <a:off x="7086600" y="4286250"/>
            <a:ext cx="4267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7A1A"/>
                </a:solidFill>
                <a:latin typeface="Microsoft YaHei"/>
                <a:ea typeface="Microsoft YaHei"/>
              </a:rPr>
              <a:t>可解释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7A641A0-DAED-4072-BA47-5E70D743E0FD}"/>
              </a:ext>
            </a:extLst>
          </p:cNvPr>
          <p:cNvSpPr txBox="1"/>
          <p:nvPr/>
        </p:nvSpPr>
        <p:spPr>
          <a:xfrm>
            <a:off x="7086600" y="4514850"/>
            <a:ext cx="4267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8B0BC"/>
                </a:solidFill>
                <a:latin typeface="Microsoft YaHei"/>
                <a:ea typeface="Microsoft YaHei"/>
              </a:rPr>
              <a:t>每一分钱都说得清。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580CD66C-B2D4-4EDE-923D-38C777FB53DE}"/>
              </a:ext>
            </a:extLst>
          </p:cNvPr>
          <p:cNvSpPr/>
          <p:nvPr/>
        </p:nvSpPr>
        <p:spPr>
          <a:xfrm>
            <a:off x="7086600" y="5000625"/>
            <a:ext cx="42672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AA573E8-40C9-4BA2-BC44-EDB9B478D53C}"/>
              </a:ext>
            </a:extLst>
          </p:cNvPr>
          <p:cNvSpPr txBox="1"/>
          <p:nvPr/>
        </p:nvSpPr>
        <p:spPr>
          <a:xfrm>
            <a:off x="7086600" y="5191125"/>
            <a:ext cx="4267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57"/>
                </a:solidFill>
                <a:latin typeface="Microsoft YaHei"/>
                <a:ea typeface="Microsoft YaHei"/>
              </a:rPr>
              <a:t>这不是又一个推荐列表，是交易决策。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90FFEEB-F5FF-48AC-9A6D-ADF55DC9D822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86D0CFA-0805-4553-ACDE-D43EE3DFE98A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07 / 落地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E31189A-37E9-4EC7-BB49-0B9D4A704695}"/>
              </a:ext>
            </a:extLst>
          </p:cNvPr>
          <p:cNvSpPr txBox="1"/>
          <p:nvPr/>
        </p:nvSpPr>
        <p:spPr>
          <a:xfrm>
            <a:off x="609600" y="762000"/>
            <a:ext cx="8572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12 周，跑通一个城市。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24ED46-FA5D-41FA-8E89-8FF1AF11E260}"/>
              </a:ext>
            </a:extLst>
          </p:cNvPr>
          <p:cNvSpPr txBox="1"/>
          <p:nvPr/>
        </p:nvSpPr>
        <p:spPr>
          <a:xfrm>
            <a:off x="609600" y="1504950"/>
            <a:ext cx="100012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50">
                <a:solidFill>
                  <a:srgbClr val="A8B0BC"/>
                </a:solidFill>
                <a:latin typeface="Microsoft YaHei"/>
                <a:ea typeface="Microsoft YaHei"/>
              </a:rPr>
              <a:t>一个城市、一个品类、一个购物车入口；先证明净省、增量和体验。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752A591-9BD9-4DB8-86DF-7D3E3C7D08C0}"/>
              </a:ext>
            </a:extLst>
          </p:cNvPr>
          <p:cNvSpPr txBox="1"/>
          <p:nvPr/>
        </p:nvSpPr>
        <p:spPr>
          <a:xfrm>
            <a:off x="609600" y="200025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8B0BC"/>
                </a:solidFill>
                <a:latin typeface="Microsoft YaHei"/>
                <a:ea typeface="Microsoft YaHei"/>
              </a:rPr>
              <a:t>1 个城市   ·   1 个品类   ·   1 个入口   ·   </a:t>
            </a:r>
            <a:r>
              <a:rPr sz="1800" b="1">
                <a:solidFill>
                  <a:srgbClr val="FF7A1A"/>
                </a:solidFill>
                <a:latin typeface="Microsoft YaHei"/>
                <a:ea typeface="Microsoft YaHei"/>
              </a:rPr>
              <a:t>12 周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FF7B3AB-5ECC-465A-91ED-CC0B2DE8F425}"/>
              </a:ext>
            </a:extLst>
          </p:cNvPr>
          <p:cNvSpPr/>
          <p:nvPr/>
        </p:nvSpPr>
        <p:spPr>
          <a:xfrm>
            <a:off x="762000" y="3143250"/>
            <a:ext cx="10668000" cy="19050"/>
          </a:xfrm>
          <a:prstGeom prst="rect">
            <a:avLst/>
          </a:prstGeom>
          <a:solidFill>
            <a:srgbClr val="3A42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B34ED9-459B-4544-917E-E885D38048B6}"/>
              </a:ext>
            </a:extLst>
          </p:cNvPr>
          <p:cNvSpPr/>
          <p:nvPr/>
        </p:nvSpPr>
        <p:spPr>
          <a:xfrm>
            <a:off x="1638300" y="3067050"/>
            <a:ext cx="152400" cy="152400"/>
          </a:xfrm>
          <a:prstGeom prst="ellipse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C603FC4-D8ED-408E-A4DA-AE3D6353F3F1}"/>
              </a:ext>
            </a:extLst>
          </p:cNvPr>
          <p:cNvSpPr/>
          <p:nvPr/>
        </p:nvSpPr>
        <p:spPr>
          <a:xfrm>
            <a:off x="3733800" y="3067050"/>
            <a:ext cx="152400" cy="152400"/>
          </a:xfrm>
          <a:prstGeom prst="ellipse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F4C733F-EBB5-4958-A740-8381ED333B21}"/>
              </a:ext>
            </a:extLst>
          </p:cNvPr>
          <p:cNvSpPr/>
          <p:nvPr/>
        </p:nvSpPr>
        <p:spPr>
          <a:xfrm>
            <a:off x="5829300" y="3067050"/>
            <a:ext cx="152400" cy="152400"/>
          </a:xfrm>
          <a:prstGeom prst="ellipse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0A4D5A7-EFDF-47B4-A0D2-4E4AE86BC346}"/>
              </a:ext>
            </a:extLst>
          </p:cNvPr>
          <p:cNvSpPr/>
          <p:nvPr/>
        </p:nvSpPr>
        <p:spPr>
          <a:xfrm>
            <a:off x="7924800" y="3067050"/>
            <a:ext cx="152400" cy="152400"/>
          </a:xfrm>
          <a:prstGeom prst="ellipse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52E7C2B-4CBE-4E50-9D5C-9FCA18FD0808}"/>
              </a:ext>
            </a:extLst>
          </p:cNvPr>
          <p:cNvSpPr/>
          <p:nvPr/>
        </p:nvSpPr>
        <p:spPr>
          <a:xfrm>
            <a:off x="10020300" y="3067050"/>
            <a:ext cx="152400" cy="152400"/>
          </a:xfrm>
          <a:prstGeom prst="ellipse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8617ABD-FE4B-4D03-8FCF-C1ADDE92E95F}"/>
              </a:ext>
            </a:extLst>
          </p:cNvPr>
          <p:cNvSpPr/>
          <p:nvPr/>
        </p:nvSpPr>
        <p:spPr>
          <a:xfrm>
            <a:off x="762000" y="3429000"/>
            <a:ext cx="1905000" cy="1714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187D52E-FAA9-402D-A857-D3100D0FA881}"/>
              </a:ext>
            </a:extLst>
          </p:cNvPr>
          <p:cNvSpPr txBox="1"/>
          <p:nvPr/>
        </p:nvSpPr>
        <p:spPr>
          <a:xfrm>
            <a:off x="914400" y="3581400"/>
            <a:ext cx="1600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W1-3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82BBCBF-76C9-4B82-9D02-647ACFCBA7BD}"/>
              </a:ext>
            </a:extLst>
          </p:cNvPr>
          <p:cNvSpPr txBox="1"/>
          <p:nvPr/>
        </p:nvSpPr>
        <p:spPr>
          <a:xfrm>
            <a:off x="914400" y="3810000"/>
            <a:ext cx="16002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数据 / 规则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FBDC888-9473-4EB8-A479-A155BB16F28C}"/>
              </a:ext>
            </a:extLst>
          </p:cNvPr>
          <p:cNvSpPr txBox="1"/>
          <p:nvPr/>
        </p:nvSpPr>
        <p:spPr>
          <a:xfrm>
            <a:off x="914400" y="4114800"/>
            <a:ext cx="1600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接菜单、优惠、库存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计价 + 建模拟器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BAA5ABF-E633-4931-B298-3C49265068FE}"/>
              </a:ext>
            </a:extLst>
          </p:cNvPr>
          <p:cNvSpPr txBox="1"/>
          <p:nvPr/>
        </p:nvSpPr>
        <p:spPr>
          <a:xfrm>
            <a:off x="914400" y="4819650"/>
            <a:ext cx="1600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C857"/>
                </a:solidFill>
                <a:latin typeface="Microsoft YaHei"/>
                <a:ea typeface="Microsoft YaHei"/>
              </a:rPr>
              <a:t>报价一致率 100%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2E0B1A19-E6B2-4BE5-A3E0-F5D7094A46B9}"/>
              </a:ext>
            </a:extLst>
          </p:cNvPr>
          <p:cNvSpPr/>
          <p:nvPr/>
        </p:nvSpPr>
        <p:spPr>
          <a:xfrm>
            <a:off x="2857500" y="3429000"/>
            <a:ext cx="1905000" cy="1714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8EC9446-14D7-4662-9263-C56416D93DF2}"/>
              </a:ext>
            </a:extLst>
          </p:cNvPr>
          <p:cNvSpPr txBox="1"/>
          <p:nvPr/>
        </p:nvSpPr>
        <p:spPr>
          <a:xfrm>
            <a:off x="3009900" y="3581400"/>
            <a:ext cx="1600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W4-6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44840F1-FD3F-44FA-970B-43E70D344163}"/>
              </a:ext>
            </a:extLst>
          </p:cNvPr>
          <p:cNvSpPr txBox="1"/>
          <p:nvPr/>
        </p:nvSpPr>
        <p:spPr>
          <a:xfrm>
            <a:off x="3009900" y="3810000"/>
            <a:ext cx="16002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算法 MVP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3294293-12DD-4978-AA4F-7CEA1AA5034E}"/>
              </a:ext>
            </a:extLst>
          </p:cNvPr>
          <p:cNvSpPr txBox="1"/>
          <p:nvPr/>
        </p:nvSpPr>
        <p:spPr>
          <a:xfrm>
            <a:off x="3009900" y="4114800"/>
            <a:ext cx="1600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候选 + 优化器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+ 排序 + 兜底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A2A7542-5375-47AC-B850-874C99CB9773}"/>
              </a:ext>
            </a:extLst>
          </p:cNvPr>
          <p:cNvSpPr txBox="1"/>
          <p:nvPr/>
        </p:nvSpPr>
        <p:spPr>
          <a:xfrm>
            <a:off x="3009900" y="4819650"/>
            <a:ext cx="1600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C857"/>
                </a:solidFill>
                <a:latin typeface="Microsoft YaHei"/>
                <a:ea typeface="Microsoft YaHei"/>
              </a:rPr>
              <a:t>覆盖 70% / 100ms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C495B1B4-8603-4E01-933A-4A347477CF53}"/>
              </a:ext>
            </a:extLst>
          </p:cNvPr>
          <p:cNvSpPr/>
          <p:nvPr/>
        </p:nvSpPr>
        <p:spPr>
          <a:xfrm>
            <a:off x="4953000" y="3429000"/>
            <a:ext cx="1905000" cy="1714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5A58053-0A95-4FFA-813E-F6AB263A815E}"/>
              </a:ext>
            </a:extLst>
          </p:cNvPr>
          <p:cNvSpPr txBox="1"/>
          <p:nvPr/>
        </p:nvSpPr>
        <p:spPr>
          <a:xfrm>
            <a:off x="5105400" y="3581400"/>
            <a:ext cx="1600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W7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657A2A4-5E31-424A-9048-6AB49DC3D0F2}"/>
              </a:ext>
            </a:extLst>
          </p:cNvPr>
          <p:cNvSpPr txBox="1"/>
          <p:nvPr/>
        </p:nvSpPr>
        <p:spPr>
          <a:xfrm>
            <a:off x="5105400" y="3810000"/>
            <a:ext cx="16002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影子模式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7D4D4F9-D0E8-42DD-8A3F-07296DE3B986}"/>
              </a:ext>
            </a:extLst>
          </p:cNvPr>
          <p:cNvSpPr txBox="1"/>
          <p:nvPr/>
        </p:nvSpPr>
        <p:spPr>
          <a:xfrm>
            <a:off x="5105400" y="4114800"/>
            <a:ext cx="1600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只记录不展示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对比结算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76B0D62-2FDE-42BD-A91B-F6750B2AD136}"/>
              </a:ext>
            </a:extLst>
          </p:cNvPr>
          <p:cNvSpPr txBox="1"/>
          <p:nvPr/>
        </p:nvSpPr>
        <p:spPr>
          <a:xfrm>
            <a:off x="5105400" y="4819650"/>
            <a:ext cx="1600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C857"/>
                </a:solidFill>
                <a:latin typeface="Microsoft YaHei"/>
                <a:ea typeface="Microsoft YaHei"/>
              </a:rPr>
              <a:t>无资损 · 无阻塞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1C58E706-47EF-4BFC-B4E8-E7849F4ABC97}"/>
              </a:ext>
            </a:extLst>
          </p:cNvPr>
          <p:cNvSpPr/>
          <p:nvPr/>
        </p:nvSpPr>
        <p:spPr>
          <a:xfrm>
            <a:off x="7048500" y="3429000"/>
            <a:ext cx="1905000" cy="1714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3A9ADC0-D9ED-4E98-9A90-E91B51E50BFC}"/>
              </a:ext>
            </a:extLst>
          </p:cNvPr>
          <p:cNvSpPr txBox="1"/>
          <p:nvPr/>
        </p:nvSpPr>
        <p:spPr>
          <a:xfrm>
            <a:off x="7200900" y="3581400"/>
            <a:ext cx="1600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W8-11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C1C1E62-1E99-40A2-B67D-32831FD5CE13}"/>
              </a:ext>
            </a:extLst>
          </p:cNvPr>
          <p:cNvSpPr txBox="1"/>
          <p:nvPr/>
        </p:nvSpPr>
        <p:spPr>
          <a:xfrm>
            <a:off x="7200900" y="3810000"/>
            <a:ext cx="16002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A/B 试点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443CC15-DFFE-41A6-B060-3EB91B4543A4}"/>
              </a:ext>
            </a:extLst>
          </p:cNvPr>
          <p:cNvSpPr txBox="1"/>
          <p:nvPr/>
        </p:nvSpPr>
        <p:spPr>
          <a:xfrm>
            <a:off x="7200900" y="4114800"/>
            <a:ext cx="1600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单城市 + 快餐/奶茶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+ 午高峰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E87E133-141E-4967-A4BF-7E68953DEDF4}"/>
              </a:ext>
            </a:extLst>
          </p:cNvPr>
          <p:cNvSpPr txBox="1"/>
          <p:nvPr/>
        </p:nvSpPr>
        <p:spPr>
          <a:xfrm>
            <a:off x="7200900" y="4819650"/>
            <a:ext cx="1600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C857"/>
                </a:solidFill>
                <a:latin typeface="Microsoft YaHei"/>
                <a:ea typeface="Microsoft YaHei"/>
              </a:rPr>
              <a:t>转化 +1-2 个百分点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FECB1657-BB40-4B60-97EB-69A5DBF31BD2}"/>
              </a:ext>
            </a:extLst>
          </p:cNvPr>
          <p:cNvSpPr/>
          <p:nvPr/>
        </p:nvSpPr>
        <p:spPr>
          <a:xfrm>
            <a:off x="9144000" y="3429000"/>
            <a:ext cx="1905000" cy="1714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7B7E997B-50EA-4047-BF1B-48613361D30E}"/>
              </a:ext>
            </a:extLst>
          </p:cNvPr>
          <p:cNvSpPr txBox="1"/>
          <p:nvPr/>
        </p:nvSpPr>
        <p:spPr>
          <a:xfrm>
            <a:off x="9296400" y="3581400"/>
            <a:ext cx="1600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Arial"/>
                <a:ea typeface="Arial"/>
              </a:rPr>
              <a:t>W12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08ADF78-8624-43EE-B50A-1361B4534B3E}"/>
              </a:ext>
            </a:extLst>
          </p:cNvPr>
          <p:cNvSpPr txBox="1"/>
          <p:nvPr/>
        </p:nvSpPr>
        <p:spPr>
          <a:xfrm>
            <a:off x="9296400" y="3810000"/>
            <a:ext cx="16002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复盘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92CBF6B-3A6D-4FB3-9556-10CC22949329}"/>
              </a:ext>
            </a:extLst>
          </p:cNvPr>
          <p:cNvSpPr txBox="1"/>
          <p:nvPr/>
        </p:nvSpPr>
        <p:spPr>
          <a:xfrm>
            <a:off x="9296400" y="4114800"/>
            <a:ext cx="1600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实验报告、商业测算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推广方案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744F7638-B207-4F4A-846F-4D155F561074}"/>
              </a:ext>
            </a:extLst>
          </p:cNvPr>
          <p:cNvSpPr txBox="1"/>
          <p:nvPr/>
        </p:nvSpPr>
        <p:spPr>
          <a:xfrm>
            <a:off x="9296400" y="4819650"/>
            <a:ext cx="16002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C857"/>
                </a:solidFill>
                <a:latin typeface="Microsoft YaHei"/>
                <a:ea typeface="Microsoft YaHei"/>
              </a:rPr>
              <a:t>决定是否规模化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9F08150D-5C21-413D-BEC4-CF0864CA979A}"/>
              </a:ext>
            </a:extLst>
          </p:cNvPr>
          <p:cNvSpPr txBox="1"/>
          <p:nvPr/>
        </p:nvSpPr>
        <p:spPr>
          <a:xfrm>
            <a:off x="762000" y="5295900"/>
            <a:ext cx="1524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7A1A"/>
                </a:solidFill>
                <a:latin typeface="Microsoft YaHei"/>
                <a:ea typeface="Microsoft YaHei"/>
              </a:rPr>
              <a:t>灰度节奏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F73061F5-5ED7-458D-B3AE-33D964EDC816}"/>
              </a:ext>
            </a:extLst>
          </p:cNvPr>
          <p:cNvSpPr/>
          <p:nvPr/>
        </p:nvSpPr>
        <p:spPr>
          <a:xfrm>
            <a:off x="762000" y="5524500"/>
            <a:ext cx="1905000" cy="381000"/>
          </a:xfrm>
          <a:prstGeom prst="roundRect">
            <a:avLst/>
          </a:prstGeom>
          <a:solidFill>
            <a:srgbClr val="FF7A1A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B0D11"/>
                </a:solidFill>
                <a:latin typeface="Arial"/>
                <a:ea typeface="Arial"/>
              </a:rPr>
              <a:t>5%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DF405275-A8BF-459F-87CB-5C9D1186F96F}"/>
              </a:ext>
            </a:extLst>
          </p:cNvPr>
          <p:cNvSpPr/>
          <p:nvPr/>
        </p:nvSpPr>
        <p:spPr>
          <a:xfrm>
            <a:off x="2857500" y="5524500"/>
            <a:ext cx="1905000" cy="381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4F1EA"/>
                </a:solidFill>
                <a:latin typeface="Arial"/>
                <a:ea typeface="Arial"/>
              </a:rPr>
              <a:t>20%</a:t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C5D74D52-BFA3-466B-8AA3-3681A3D693B8}"/>
              </a:ext>
            </a:extLst>
          </p:cNvPr>
          <p:cNvSpPr/>
          <p:nvPr/>
        </p:nvSpPr>
        <p:spPr>
          <a:xfrm>
            <a:off x="4953000" y="5524500"/>
            <a:ext cx="1905000" cy="381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4F1EA"/>
                </a:solidFill>
                <a:latin typeface="Arial"/>
                <a:ea typeface="Arial"/>
              </a:rPr>
              <a:t>50%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BE3CF03F-BBC3-4192-8705-C24300319260}"/>
              </a:ext>
            </a:extLst>
          </p:cNvPr>
          <p:cNvSpPr/>
          <p:nvPr/>
        </p:nvSpPr>
        <p:spPr>
          <a:xfrm>
            <a:off x="7048500" y="5524500"/>
            <a:ext cx="1905000" cy="381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4F1EA"/>
                </a:solidFill>
                <a:latin typeface="Microsoft YaHei"/>
                <a:ea typeface="Microsoft YaHei"/>
              </a:rPr>
              <a:t>全量</a:t>
            </a:r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C37D4B81-D417-4FE4-84EF-3D1C4C9627C6}"/>
              </a:ext>
            </a:extLst>
          </p:cNvPr>
          <p:cNvSpPr/>
          <p:nvPr/>
        </p:nvSpPr>
        <p:spPr>
          <a:xfrm>
            <a:off x="2695575" y="5657850"/>
            <a:ext cx="133350" cy="114300"/>
          </a:xfrm>
          <a:prstGeom prst="rightArrow">
            <a:avLst/>
          </a:prstGeom>
          <a:solidFill>
            <a:srgbClr val="3A42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9B36DC71-0459-49B0-926C-C5D95F7AD471}"/>
              </a:ext>
            </a:extLst>
          </p:cNvPr>
          <p:cNvSpPr/>
          <p:nvPr/>
        </p:nvSpPr>
        <p:spPr>
          <a:xfrm>
            <a:off x="4791075" y="5657850"/>
            <a:ext cx="133350" cy="114300"/>
          </a:xfrm>
          <a:prstGeom prst="rightArrow">
            <a:avLst/>
          </a:prstGeom>
          <a:solidFill>
            <a:srgbClr val="3A42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C84F8F9B-C334-44C2-96D7-1865E282BEF3}"/>
              </a:ext>
            </a:extLst>
          </p:cNvPr>
          <p:cNvSpPr/>
          <p:nvPr/>
        </p:nvSpPr>
        <p:spPr>
          <a:xfrm>
            <a:off x="6886575" y="5657850"/>
            <a:ext cx="133350" cy="114300"/>
          </a:xfrm>
          <a:prstGeom prst="rightArrow">
            <a:avLst/>
          </a:prstGeom>
          <a:solidFill>
            <a:srgbClr val="3A42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FD3AB561-CCAD-41FD-9337-FE7770B5D513}"/>
              </a:ext>
            </a:extLst>
          </p:cNvPr>
          <p:cNvSpPr txBox="1"/>
          <p:nvPr/>
        </p:nvSpPr>
        <p:spPr>
          <a:xfrm>
            <a:off x="9144000" y="5619750"/>
            <a:ext cx="24384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D7685"/>
                </a:solidFill>
                <a:latin typeface="Microsoft YaHei"/>
                <a:ea typeface="Microsoft YaHei"/>
              </a:rPr>
              <a:t>每级设门槛：一致性 / 延迟 / 退款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ADC4D4AC-134A-4D65-A5B1-B9EEF1F50FAD}"/>
              </a:ext>
            </a:extLst>
          </p:cNvPr>
          <p:cNvSpPr txBox="1"/>
          <p:nvPr/>
        </p:nvSpPr>
        <p:spPr>
          <a:xfrm>
            <a:off x="609600" y="619125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D7685"/>
                </a:solidFill>
                <a:latin typeface="Microsoft YaHei"/>
                <a:ea typeface="Microsoft YaHei"/>
              </a:rPr>
              <a:t>关键依赖：数据权限 + 计价接口必须在 W1-W2 到位。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5FC72B0B-A71F-4F7D-A812-91ED6A7D7667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8E85C95-F706-4646-B471-71A7A107A5F7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08 / 价值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7C94952-F7B4-49D1-AD60-7FFD9CBEDB98}"/>
              </a:ext>
            </a:extLst>
          </p:cNvPr>
          <p:cNvSpPr txBox="1"/>
          <p:nvPr/>
        </p:nvSpPr>
        <p:spPr>
          <a:xfrm>
            <a:off x="609600" y="762000"/>
            <a:ext cx="9525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平台投入 1 元，拿回 3.8 元。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5F4D7CC-4CDE-4D49-AB91-32BEA91B4B82}"/>
              </a:ext>
            </a:extLst>
          </p:cNvPr>
          <p:cNvSpPr txBox="1"/>
          <p:nvPr/>
        </p:nvSpPr>
        <p:spPr>
          <a:xfrm>
            <a:off x="609600" y="1504950"/>
            <a:ext cx="100012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A8B0BC"/>
                </a:solidFill>
                <a:latin typeface="Microsoft YaHei"/>
                <a:ea typeface="Microsoft YaHei"/>
              </a:rPr>
              <a:t>示例测算：日均 100 万单的平台，只算增量贡献毛利，不算留存和品牌。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21BC9D1-8ED4-4E70-A83F-45B8A52E929C}"/>
              </a:ext>
            </a:extLst>
          </p:cNvPr>
          <p:cNvSpPr/>
          <p:nvPr/>
        </p:nvSpPr>
        <p:spPr>
          <a:xfrm>
            <a:off x="609600" y="2095500"/>
            <a:ext cx="2476500" cy="14287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1D562D-38A5-409C-8994-2F4788556E65}"/>
              </a:ext>
            </a:extLst>
          </p:cNvPr>
          <p:cNvSpPr txBox="1"/>
          <p:nvPr/>
        </p:nvSpPr>
        <p:spPr>
          <a:xfrm>
            <a:off x="800100" y="2286000"/>
            <a:ext cx="2095500" cy="819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7A1A"/>
                </a:solidFill>
                <a:latin typeface="Arial"/>
                <a:ea typeface="Arial"/>
              </a:rPr>
              <a:t>3.8×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4E6F48-12A2-43EF-9D43-972CE61E0DF4}"/>
              </a:ext>
            </a:extLst>
          </p:cNvPr>
          <p:cNvSpPr txBox="1"/>
          <p:nvPr/>
        </p:nvSpPr>
        <p:spPr>
          <a:xfrm>
            <a:off x="800100" y="314325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4F1EA"/>
                </a:solidFill>
                <a:latin typeface="Microsoft YaHei"/>
                <a:ea typeface="Microsoft YaHei"/>
              </a:rPr>
              <a:t>平台 ROI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C21AFC-D4F3-4294-BE12-B2848400ECB4}"/>
              </a:ext>
            </a:extLst>
          </p:cNvPr>
          <p:cNvSpPr txBox="1"/>
          <p:nvPr/>
        </p:nvSpPr>
        <p:spPr>
          <a:xfrm>
            <a:off x="800100" y="3352800"/>
            <a:ext cx="20955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D7685"/>
                </a:solidFill>
                <a:latin typeface="Microsoft YaHei"/>
                <a:ea typeface="Microsoft YaHei"/>
              </a:rPr>
              <a:t>增量毛利 / 服务费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9588749-987C-45C8-BF89-4E0C293E20E7}"/>
              </a:ext>
            </a:extLst>
          </p:cNvPr>
          <p:cNvSpPr/>
          <p:nvPr/>
        </p:nvSpPr>
        <p:spPr>
          <a:xfrm>
            <a:off x="3314700" y="2095500"/>
            <a:ext cx="2476500" cy="14287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63BC0C0-82F4-487B-BB0D-F9C5A8AD572C}"/>
              </a:ext>
            </a:extLst>
          </p:cNvPr>
          <p:cNvSpPr txBox="1"/>
          <p:nvPr/>
        </p:nvSpPr>
        <p:spPr>
          <a:xfrm>
            <a:off x="3505200" y="2400300"/>
            <a:ext cx="2095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1EA"/>
                </a:solidFill>
                <a:latin typeface="Arial"/>
                <a:ea typeface="Arial"/>
              </a:rPr>
              <a:t>4,200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E6A2E05-DC5F-4533-883C-310535E584B6}"/>
              </a:ext>
            </a:extLst>
          </p:cNvPr>
          <p:cNvSpPr txBox="1"/>
          <p:nvPr/>
        </p:nvSpPr>
        <p:spPr>
          <a:xfrm>
            <a:off x="3505200" y="314325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4F1EA"/>
                </a:solidFill>
                <a:latin typeface="Microsoft YaHei"/>
                <a:ea typeface="Microsoft YaHei"/>
              </a:rPr>
              <a:t>增量订单 / 日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D7ACDF7-CBCC-4B7D-97D7-5981C19719A9}"/>
              </a:ext>
            </a:extLst>
          </p:cNvPr>
          <p:cNvSpPr txBox="1"/>
          <p:nvPr/>
        </p:nvSpPr>
        <p:spPr>
          <a:xfrm>
            <a:off x="3505200" y="3352800"/>
            <a:ext cx="20955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D7685"/>
                </a:solidFill>
                <a:latin typeface="Microsoft YaHei"/>
                <a:ea typeface="Microsoft YaHei"/>
              </a:rPr>
              <a:t>示例：日均 100 万单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A618356-B62C-4CD0-855B-34F401368EA1}"/>
              </a:ext>
            </a:extLst>
          </p:cNvPr>
          <p:cNvSpPr/>
          <p:nvPr/>
        </p:nvSpPr>
        <p:spPr>
          <a:xfrm>
            <a:off x="6019800" y="2095500"/>
            <a:ext cx="2476500" cy="14287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FDA5AF4-516F-4EEE-AA81-220D3BB3E45F}"/>
              </a:ext>
            </a:extLst>
          </p:cNvPr>
          <p:cNvSpPr txBox="1"/>
          <p:nvPr/>
        </p:nvSpPr>
        <p:spPr>
          <a:xfrm>
            <a:off x="6210300" y="2400300"/>
            <a:ext cx="2095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1EA"/>
                </a:solidFill>
                <a:latin typeface="Microsoft YaHei"/>
                <a:ea typeface="Microsoft YaHei"/>
              </a:rPr>
              <a:t>383 万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EB51391-F177-40AE-82E5-8D70A3E3AF9D}"/>
              </a:ext>
            </a:extLst>
          </p:cNvPr>
          <p:cNvSpPr txBox="1"/>
          <p:nvPr/>
        </p:nvSpPr>
        <p:spPr>
          <a:xfrm>
            <a:off x="6210300" y="314325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4F1EA"/>
                </a:solidFill>
                <a:latin typeface="Microsoft YaHei"/>
                <a:ea typeface="Microsoft YaHei"/>
              </a:rPr>
              <a:t>增量贡献毛利 / 年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B070377-BDDE-48D5-B801-EDEE34DD50CC}"/>
              </a:ext>
            </a:extLst>
          </p:cNvPr>
          <p:cNvSpPr txBox="1"/>
          <p:nvPr/>
        </p:nvSpPr>
        <p:spPr>
          <a:xfrm>
            <a:off x="6210300" y="3352800"/>
            <a:ext cx="20955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D7685"/>
                </a:solidFill>
                <a:latin typeface="Microsoft YaHei"/>
                <a:ea typeface="Microsoft YaHei"/>
              </a:rPr>
              <a:t>未计留存 / 品牌增益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7E44743-C6BC-41CE-993F-EE99486599FC}"/>
              </a:ext>
            </a:extLst>
          </p:cNvPr>
          <p:cNvSpPr/>
          <p:nvPr/>
        </p:nvSpPr>
        <p:spPr>
          <a:xfrm>
            <a:off x="8724900" y="2095500"/>
            <a:ext cx="2476500" cy="14287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9E60F42-D53C-4018-8B4A-A20B501D4396}"/>
              </a:ext>
            </a:extLst>
          </p:cNvPr>
          <p:cNvSpPr txBox="1"/>
          <p:nvPr/>
        </p:nvSpPr>
        <p:spPr>
          <a:xfrm>
            <a:off x="8915400" y="2400300"/>
            <a:ext cx="2095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C857"/>
                </a:solidFill>
                <a:latin typeface="Microsoft YaHei"/>
                <a:ea typeface="Microsoft YaHei"/>
              </a:rPr>
              <a:t>1,533 万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EB5B576-BD93-46F3-AD58-74198A19BDF5}"/>
              </a:ext>
            </a:extLst>
          </p:cNvPr>
          <p:cNvSpPr txBox="1"/>
          <p:nvPr/>
        </p:nvSpPr>
        <p:spPr>
          <a:xfrm>
            <a:off x="8915400" y="314325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4F1EA"/>
                </a:solidFill>
                <a:latin typeface="Microsoft YaHei"/>
                <a:ea typeface="Microsoft YaHei"/>
              </a:rPr>
              <a:t>用户净省 / 年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A276178-E34B-4CD5-8352-5E3416B4803B}"/>
              </a:ext>
            </a:extLst>
          </p:cNvPr>
          <p:cNvSpPr txBox="1"/>
          <p:nvPr/>
        </p:nvSpPr>
        <p:spPr>
          <a:xfrm>
            <a:off x="8915400" y="3352800"/>
            <a:ext cx="20955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D7685"/>
                </a:solidFill>
                <a:latin typeface="Microsoft YaHei"/>
                <a:ea typeface="Microsoft YaHei"/>
              </a:rPr>
              <a:t>2 元/单 × 2.1 万单/日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E3D61EBE-3B9F-4ABD-8B64-EDF875DB2EF4}"/>
              </a:ext>
            </a:extLst>
          </p:cNvPr>
          <p:cNvSpPr/>
          <p:nvPr/>
        </p:nvSpPr>
        <p:spPr>
          <a:xfrm>
            <a:off x="609600" y="3905250"/>
            <a:ext cx="5334000" cy="2000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0F90EF2-39DA-4556-B49E-E3A8701B3A94}"/>
              </a:ext>
            </a:extLst>
          </p:cNvPr>
          <p:cNvSpPr txBox="1"/>
          <p:nvPr/>
        </p:nvSpPr>
        <p:spPr>
          <a:xfrm>
            <a:off x="800100" y="4057650"/>
            <a:ext cx="495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测算口径（示例，需用平台真实数据替换）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CE66E47-3EBB-49A7-A085-9C269536BB50}"/>
              </a:ext>
            </a:extLst>
          </p:cNvPr>
          <p:cNvSpPr txBox="1"/>
          <p:nvPr/>
        </p:nvSpPr>
        <p:spPr>
          <a:xfrm>
            <a:off x="800100" y="4324350"/>
            <a:ext cx="4953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日均订单 100 万单；差一点订单 15%；覆盖率 70%；接受率 20%；</a:t>
            </a:r>
          </a:p>
          <a:p>
            <a:pPr algn="l">
              <a:lnSpc>
                <a:spcPct val="135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接受方案中原本会放弃 20%；单均贡献毛利 2.5 元；</a:t>
            </a:r>
          </a:p>
          <a:p>
            <a:pPr algn="l">
              <a:lnSpc>
                <a:spcPct val="135000"/>
              </a:lnSpc>
            </a:pPr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服务费 100 万元/年。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6DC1265-75F6-4C7A-99E4-52D0F799AC94}"/>
              </a:ext>
            </a:extLst>
          </p:cNvPr>
          <p:cNvSpPr txBox="1"/>
          <p:nvPr/>
        </p:nvSpPr>
        <p:spPr>
          <a:xfrm>
            <a:off x="800100" y="5334000"/>
            <a:ext cx="49530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950">
                <a:solidFill>
                  <a:srgbClr val="6D7685"/>
                </a:solidFill>
                <a:latin typeface="Microsoft YaHei"/>
                <a:ea typeface="Microsoft YaHei"/>
              </a:rPr>
              <a:t>年化价值 = 目标订单 × 覆盖率 × 接受率 × 增量转化率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6D7685"/>
                </a:solidFill>
                <a:latin typeface="Microsoft YaHei"/>
                <a:ea typeface="Microsoft YaHei"/>
              </a:rPr>
              <a:t>× 单均毛利 × 365 + 留存 − 服务成本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46DB8DF-8EA5-42C3-80F1-ADFD80AC87BD}"/>
              </a:ext>
            </a:extLst>
          </p:cNvPr>
          <p:cNvSpPr/>
          <p:nvPr/>
        </p:nvSpPr>
        <p:spPr>
          <a:xfrm>
            <a:off x="6477000" y="3905250"/>
            <a:ext cx="5105400" cy="2000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D3EDF5C-DB14-450C-8E65-E28DCA50C3F7}"/>
              </a:ext>
            </a:extLst>
          </p:cNvPr>
          <p:cNvSpPr txBox="1"/>
          <p:nvPr/>
        </p:nvSpPr>
        <p:spPr>
          <a:xfrm>
            <a:off x="6629400" y="405765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价值拆解（万元 / 年）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7396764-AA35-4E02-8D83-781257B73872}"/>
              </a:ext>
            </a:extLst>
          </p:cNvPr>
          <p:cNvSpPr txBox="1"/>
          <p:nvPr/>
        </p:nvSpPr>
        <p:spPr>
          <a:xfrm>
            <a:off x="6629400" y="4381500"/>
            <a:ext cx="8572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增量毛利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1AA9202-A007-4CEE-9064-61EFF9CC5EE4}"/>
              </a:ext>
            </a:extLst>
          </p:cNvPr>
          <p:cNvSpPr/>
          <p:nvPr/>
        </p:nvSpPr>
        <p:spPr>
          <a:xfrm>
            <a:off x="7524750" y="4381500"/>
            <a:ext cx="3619500" cy="228600"/>
          </a:xfrm>
          <a:prstGeom prst="rect">
            <a:avLst/>
          </a:prstGeom>
          <a:solidFill>
            <a:srgbClr val="FF7A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803D816-1000-4922-ABDA-279DFDADDF70}"/>
              </a:ext>
            </a:extLst>
          </p:cNvPr>
          <p:cNvSpPr txBox="1"/>
          <p:nvPr/>
        </p:nvSpPr>
        <p:spPr>
          <a:xfrm>
            <a:off x="11201400" y="4400550"/>
            <a:ext cx="3429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F4F1EA"/>
                </a:solidFill>
                <a:latin typeface="Arial"/>
                <a:ea typeface="Arial"/>
              </a:rPr>
              <a:t>383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B2A7C82-DF61-4E9D-9145-62E14CDDC0C6}"/>
              </a:ext>
            </a:extLst>
          </p:cNvPr>
          <p:cNvSpPr txBox="1"/>
          <p:nvPr/>
        </p:nvSpPr>
        <p:spPr>
          <a:xfrm>
            <a:off x="6629400" y="4762500"/>
            <a:ext cx="8572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服务费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32DB448A-AE08-421B-A24E-100B9FCB3879}"/>
              </a:ext>
            </a:extLst>
          </p:cNvPr>
          <p:cNvSpPr/>
          <p:nvPr/>
        </p:nvSpPr>
        <p:spPr>
          <a:xfrm>
            <a:off x="7524750" y="4762500"/>
            <a:ext cx="942975" cy="228600"/>
          </a:xfrm>
          <a:prstGeom prst="rect">
            <a:avLst/>
          </a:prstGeom>
          <a:solidFill>
            <a:srgbClr val="FFC85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F4B388F2-85D3-4778-ABD2-4DC50829738C}"/>
              </a:ext>
            </a:extLst>
          </p:cNvPr>
          <p:cNvSpPr txBox="1"/>
          <p:nvPr/>
        </p:nvSpPr>
        <p:spPr>
          <a:xfrm>
            <a:off x="11201400" y="4781550"/>
            <a:ext cx="3429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F4F1EA"/>
                </a:solidFill>
                <a:latin typeface="Arial"/>
                <a:ea typeface="Arial"/>
              </a:rPr>
              <a:t>100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8269D80-0956-44D8-8F5C-8FEE91C19BF2}"/>
              </a:ext>
            </a:extLst>
          </p:cNvPr>
          <p:cNvSpPr txBox="1"/>
          <p:nvPr/>
        </p:nvSpPr>
        <p:spPr>
          <a:xfrm>
            <a:off x="6629400" y="5143500"/>
            <a:ext cx="8572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A8B0BC"/>
                </a:solidFill>
                <a:latin typeface="Microsoft YaHei"/>
                <a:ea typeface="Microsoft YaHei"/>
              </a:rPr>
              <a:t>净收益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61C26FD7-EE5E-463D-B629-10C6A0F7CFE1}"/>
              </a:ext>
            </a:extLst>
          </p:cNvPr>
          <p:cNvSpPr/>
          <p:nvPr/>
        </p:nvSpPr>
        <p:spPr>
          <a:xfrm>
            <a:off x="7524750" y="5143500"/>
            <a:ext cx="2676525" cy="228600"/>
          </a:xfrm>
          <a:prstGeom prst="rect">
            <a:avLst/>
          </a:prstGeom>
          <a:solidFill>
            <a:srgbClr val="F4F1E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8D5753D-A9A9-411B-96BE-E2B90D284353}"/>
              </a:ext>
            </a:extLst>
          </p:cNvPr>
          <p:cNvSpPr txBox="1"/>
          <p:nvPr/>
        </p:nvSpPr>
        <p:spPr>
          <a:xfrm>
            <a:off x="11201400" y="5162550"/>
            <a:ext cx="3429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F4F1EA"/>
                </a:solidFill>
                <a:latin typeface="Arial"/>
                <a:ea typeface="Arial"/>
              </a:rPr>
              <a:t>283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4443C653-AA6C-4D20-B212-008390BBF66E}"/>
              </a:ext>
            </a:extLst>
          </p:cNvPr>
          <p:cNvSpPr txBox="1"/>
          <p:nvPr/>
        </p:nvSpPr>
        <p:spPr>
          <a:xfrm>
            <a:off x="6629400" y="5524500"/>
            <a:ext cx="4762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D7685"/>
                </a:solidFill>
                <a:latin typeface="Microsoft YaHei"/>
                <a:ea typeface="Microsoft YaHei"/>
              </a:rPr>
              <a:t>未计留存 / 品牌增益；服务费为示例定价。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A52D244-83A0-4719-82BC-128DABB8B226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BD3B6D8-D6F4-4F6D-A17D-94F5C2F04245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09 / 商业模式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19DD517-D22F-480B-96B3-B86FA2C3A08C}"/>
              </a:ext>
            </a:extLst>
          </p:cNvPr>
          <p:cNvSpPr txBox="1"/>
          <p:nvPr/>
        </p:nvSpPr>
        <p:spPr>
          <a:xfrm>
            <a:off x="609600" y="762000"/>
            <a:ext cx="9525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向平台收费，不向用户收费。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FC0330F-CBF1-4151-BB70-D8E2830AA5A9}"/>
              </a:ext>
            </a:extLst>
          </p:cNvPr>
          <p:cNvSpPr txBox="1"/>
          <p:nvPr/>
        </p:nvSpPr>
        <p:spPr>
          <a:xfrm>
            <a:off x="609600" y="1504950"/>
            <a:ext cx="100012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50">
                <a:solidFill>
                  <a:srgbClr val="A8B0BC"/>
                </a:solidFill>
                <a:latin typeface="Microsoft YaHei"/>
                <a:ea typeface="Microsoft YaHei"/>
              </a:rPr>
              <a:t>平台是买单方，用户是使用者；先试点，再 SaaS，最后按效果分成。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9A23C1A-3839-4C69-9D52-332FAC3A4D7C}"/>
              </a:ext>
            </a:extLst>
          </p:cNvPr>
          <p:cNvSpPr txBox="1"/>
          <p:nvPr/>
        </p:nvSpPr>
        <p:spPr>
          <a:xfrm>
            <a:off x="609600" y="20002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57"/>
                </a:solidFill>
                <a:latin typeface="Microsoft YaHei"/>
                <a:ea typeface="Microsoft YaHei"/>
              </a:rPr>
              <a:t>B2B2C · 平台买单 · 用户免费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57C6B54-ACAA-49F3-B97B-8012F9D7FAD2}"/>
              </a:ext>
            </a:extLst>
          </p:cNvPr>
          <p:cNvSpPr/>
          <p:nvPr/>
        </p:nvSpPr>
        <p:spPr>
          <a:xfrm>
            <a:off x="609600" y="3619500"/>
            <a:ext cx="3352800" cy="17145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6825A7B-27A9-4258-95D0-7C1DD1EEC550}"/>
              </a:ext>
            </a:extLst>
          </p:cNvPr>
          <p:cNvSpPr txBox="1"/>
          <p:nvPr/>
        </p:nvSpPr>
        <p:spPr>
          <a:xfrm>
            <a:off x="838200" y="38481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169FD5D-0B8B-4A26-8A8A-F387A80EAFB5}"/>
              </a:ext>
            </a:extLst>
          </p:cNvPr>
          <p:cNvSpPr txBox="1"/>
          <p:nvPr/>
        </p:nvSpPr>
        <p:spPr>
          <a:xfrm>
            <a:off x="838200" y="415290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试点项目费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FF28884-3275-4FD0-8D98-9881553E8CBB}"/>
              </a:ext>
            </a:extLst>
          </p:cNvPr>
          <p:cNvSpPr txBox="1"/>
          <p:nvPr/>
        </p:nvSpPr>
        <p:spPr>
          <a:xfrm>
            <a:off x="838200" y="4533900"/>
            <a:ext cx="28956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A8B0BC"/>
                </a:solidFill>
                <a:latin typeface="Microsoft YaHei"/>
                <a:ea typeface="Microsoft YaHei"/>
              </a:rPr>
              <a:t>12 周联合试点，按成本或固定费用。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0A8EE5E-1F2E-4D15-A084-B9B560D97502}"/>
              </a:ext>
            </a:extLst>
          </p:cNvPr>
          <p:cNvSpPr txBox="1"/>
          <p:nvPr/>
        </p:nvSpPr>
        <p:spPr>
          <a:xfrm>
            <a:off x="838200" y="5010150"/>
            <a:ext cx="2895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C857"/>
                </a:solidFill>
                <a:latin typeface="Microsoft YaHei"/>
                <a:ea typeface="Microsoft YaHei"/>
              </a:rPr>
              <a:t>验证价值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DCE417F-A9F2-4817-A479-F9EDBB91BC30}"/>
              </a:ext>
            </a:extLst>
          </p:cNvPr>
          <p:cNvSpPr/>
          <p:nvPr/>
        </p:nvSpPr>
        <p:spPr>
          <a:xfrm>
            <a:off x="4267200" y="3048000"/>
            <a:ext cx="3352800" cy="2286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64473D4-71F7-456E-A7A3-50B0CFAC4C48}"/>
              </a:ext>
            </a:extLst>
          </p:cNvPr>
          <p:cNvSpPr txBox="1"/>
          <p:nvPr/>
        </p:nvSpPr>
        <p:spPr>
          <a:xfrm>
            <a:off x="4495800" y="32766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10DF182-9061-456C-AB74-E7A002D447FB}"/>
              </a:ext>
            </a:extLst>
          </p:cNvPr>
          <p:cNvSpPr txBox="1"/>
          <p:nvPr/>
        </p:nvSpPr>
        <p:spPr>
          <a:xfrm>
            <a:off x="4495800" y="358140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SaaS / API 年费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D4D885D-66E0-4B39-A414-6CC7FFA6E0E8}"/>
              </a:ext>
            </a:extLst>
          </p:cNvPr>
          <p:cNvSpPr txBox="1"/>
          <p:nvPr/>
        </p:nvSpPr>
        <p:spPr>
          <a:xfrm>
            <a:off x="4495800" y="3962400"/>
            <a:ext cx="28956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A8B0BC"/>
                </a:solidFill>
                <a:latin typeface="Microsoft YaHei"/>
                <a:ea typeface="Microsoft YaHei"/>
              </a:rPr>
              <a:t>按平台 / 城市 / 调用量收费。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F78159D-DC8A-453B-BF0E-204E134729B0}"/>
              </a:ext>
            </a:extLst>
          </p:cNvPr>
          <p:cNvSpPr txBox="1"/>
          <p:nvPr/>
        </p:nvSpPr>
        <p:spPr>
          <a:xfrm>
            <a:off x="4495800" y="4914900"/>
            <a:ext cx="2895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C857"/>
                </a:solidFill>
                <a:latin typeface="Microsoft YaHei"/>
                <a:ea typeface="Microsoft YaHei"/>
              </a:rPr>
              <a:t>规模化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92B746B-DF8C-4A97-95C6-FCD76C4736DC}"/>
              </a:ext>
            </a:extLst>
          </p:cNvPr>
          <p:cNvSpPr/>
          <p:nvPr/>
        </p:nvSpPr>
        <p:spPr>
          <a:xfrm>
            <a:off x="7924800" y="2476500"/>
            <a:ext cx="3352800" cy="2857500"/>
          </a:xfrm>
          <a:prstGeom prst="roundRect">
            <a:avLst/>
          </a:prstGeom>
          <a:solidFill>
            <a:srgbClr val="1C232E"/>
          </a:solidFill>
          <a:ln w="12700">
            <a:solidFill>
              <a:srgbClr val="FF7A1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9F7DB47-0CFC-4587-8C86-23C700972177}"/>
              </a:ext>
            </a:extLst>
          </p:cNvPr>
          <p:cNvSpPr txBox="1"/>
          <p:nvPr/>
        </p:nvSpPr>
        <p:spPr>
          <a:xfrm>
            <a:off x="8153400" y="27051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239904A-4FBB-4654-8016-ED40B0CD8E7D}"/>
              </a:ext>
            </a:extLst>
          </p:cNvPr>
          <p:cNvSpPr txBox="1"/>
          <p:nvPr/>
        </p:nvSpPr>
        <p:spPr>
          <a:xfrm>
            <a:off x="8153400" y="300990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效果分成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ADADF7E-55DB-4D12-9941-38E0BCE9DC0E}"/>
              </a:ext>
            </a:extLst>
          </p:cNvPr>
          <p:cNvSpPr txBox="1"/>
          <p:nvPr/>
        </p:nvSpPr>
        <p:spPr>
          <a:xfrm>
            <a:off x="8153400" y="3390900"/>
            <a:ext cx="28956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F4F1EA"/>
                </a:solidFill>
                <a:latin typeface="Microsoft YaHei"/>
                <a:ea typeface="Microsoft YaHei"/>
              </a:rPr>
              <a:t>按增量完成订单或补贴效率分成；和平台利益绑定。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CD1991D-23F2-47AB-A320-B5AE4DFEF81E}"/>
              </a:ext>
            </a:extLst>
          </p:cNvPr>
          <p:cNvSpPr txBox="1"/>
          <p:nvPr/>
        </p:nvSpPr>
        <p:spPr>
          <a:xfrm>
            <a:off x="8153400" y="4914900"/>
            <a:ext cx="2895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长期收入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5A5D307-6385-47BF-8A9A-D8B3B8EBFEAC}"/>
              </a:ext>
            </a:extLst>
          </p:cNvPr>
          <p:cNvSpPr/>
          <p:nvPr/>
        </p:nvSpPr>
        <p:spPr>
          <a:xfrm>
            <a:off x="609600" y="5334000"/>
            <a:ext cx="10972800" cy="9525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605D600A-C23C-48BF-AA78-A526AFC6D4A0}"/>
              </a:ext>
            </a:extLst>
          </p:cNvPr>
          <p:cNvSpPr/>
          <p:nvPr/>
        </p:nvSpPr>
        <p:spPr>
          <a:xfrm>
            <a:off x="609600" y="5715000"/>
            <a:ext cx="10972800" cy="4000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B35739B-B82A-4BFA-82AD-94D234979C54}"/>
              </a:ext>
            </a:extLst>
          </p:cNvPr>
          <p:cNvSpPr txBox="1"/>
          <p:nvPr/>
        </p:nvSpPr>
        <p:spPr>
          <a:xfrm>
            <a:off x="800100" y="5810250"/>
            <a:ext cx="10591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4F1EA"/>
                </a:solidFill>
                <a:latin typeface="Microsoft YaHei"/>
                <a:ea typeface="Microsoft YaHei"/>
              </a:rPr>
              <a:t>扩展：外卖 → 商超 / 买药 / 到店 → 银行权益平台 → 商家 SaaS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2231F07-EB57-4F82-9398-8B2491F61C48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09BC8ED-EB44-4587-8D2E-F12A179F792B}"/>
              </a:ext>
            </a:extLst>
          </p:cNvPr>
          <p:cNvSpPr txBox="1"/>
          <p:nvPr/>
        </p:nvSpPr>
        <p:spPr>
          <a:xfrm>
            <a:off x="609600" y="4572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10 / 团队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0E32415-B113-4BC6-8AEC-3A3E10BD9744}"/>
              </a:ext>
            </a:extLst>
          </p:cNvPr>
          <p:cNvSpPr txBox="1"/>
          <p:nvPr/>
        </p:nvSpPr>
        <p:spPr>
          <a:xfrm>
            <a:off x="609600" y="762000"/>
            <a:ext cx="8572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1EA"/>
                </a:solidFill>
                <a:latin typeface="Microsoft YaHei"/>
                <a:ea typeface="Microsoft YaHei"/>
              </a:rPr>
              <a:t>三类人，缺一不可。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FD4DA0-332F-4979-AA74-91AC33074640}"/>
              </a:ext>
            </a:extLst>
          </p:cNvPr>
          <p:cNvSpPr txBox="1"/>
          <p:nvPr/>
        </p:nvSpPr>
        <p:spPr>
          <a:xfrm>
            <a:off x="609600" y="150495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50">
                <a:solidFill>
                  <a:srgbClr val="A8B0BC"/>
                </a:solidFill>
                <a:latin typeface="Microsoft YaHei"/>
                <a:ea typeface="Microsoft YaHei"/>
              </a:rPr>
              <a:t>不是堆履历，是证明这三件事有人能搞定。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6352535-25DA-42CE-B20D-D25EAFD36E87}"/>
              </a:ext>
            </a:extLst>
          </p:cNvPr>
          <p:cNvSpPr/>
          <p:nvPr/>
        </p:nvSpPr>
        <p:spPr>
          <a:xfrm>
            <a:off x="609600" y="2667000"/>
            <a:ext cx="3352800" cy="2667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AD65838-DACB-4BEB-BF71-DF0F5B5AF23C}"/>
              </a:ext>
            </a:extLst>
          </p:cNvPr>
          <p:cNvSpPr txBox="1"/>
          <p:nvPr/>
        </p:nvSpPr>
        <p:spPr>
          <a:xfrm>
            <a:off x="838200" y="28956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F696425-829F-4D79-A2DE-ADC545600407}"/>
              </a:ext>
            </a:extLst>
          </p:cNvPr>
          <p:cNvSpPr txBox="1"/>
          <p:nvPr/>
        </p:nvSpPr>
        <p:spPr>
          <a:xfrm>
            <a:off x="838200" y="320040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算法 / 运筹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7DCBD88-0BB5-4751-8FDF-03C4B45FF376}"/>
              </a:ext>
            </a:extLst>
          </p:cNvPr>
          <p:cNvSpPr txBox="1"/>
          <p:nvPr/>
        </p:nvSpPr>
        <p:spPr>
          <a:xfrm>
            <a:off x="838200" y="3543300"/>
            <a:ext cx="2895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57"/>
                </a:solidFill>
                <a:latin typeface="Microsoft YaHei"/>
                <a:ea typeface="Microsoft YaHei"/>
              </a:rPr>
              <a:t>把凑单算准、算快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85E38E-A632-4708-9081-2D1CCAB33CD8}"/>
              </a:ext>
            </a:extLst>
          </p:cNvPr>
          <p:cNvSpPr txBox="1"/>
          <p:nvPr/>
        </p:nvSpPr>
        <p:spPr>
          <a:xfrm>
            <a:off x="838200" y="3886200"/>
            <a:ext cx="28956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背包 / 整数规划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券组合优化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排序与评估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离线模拟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B446F08-E9BB-4FED-B3D0-886380107E1E}"/>
              </a:ext>
            </a:extLst>
          </p:cNvPr>
          <p:cNvSpPr/>
          <p:nvPr/>
        </p:nvSpPr>
        <p:spPr>
          <a:xfrm>
            <a:off x="4267200" y="2286000"/>
            <a:ext cx="3352800" cy="3048000"/>
          </a:xfrm>
          <a:prstGeom prst="roundRect">
            <a:avLst/>
          </a:prstGeom>
          <a:solidFill>
            <a:srgbClr val="1C232E"/>
          </a:solidFill>
          <a:ln w="12700">
            <a:solidFill>
              <a:srgbClr val="FF7A1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FAAB184-5F60-49A6-B67C-F709EB6BA7D4}"/>
              </a:ext>
            </a:extLst>
          </p:cNvPr>
          <p:cNvSpPr txBox="1"/>
          <p:nvPr/>
        </p:nvSpPr>
        <p:spPr>
          <a:xfrm>
            <a:off x="4495800" y="25146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0212FFA-7195-4718-BC4C-2994470F2F51}"/>
              </a:ext>
            </a:extLst>
          </p:cNvPr>
          <p:cNvSpPr txBox="1"/>
          <p:nvPr/>
        </p:nvSpPr>
        <p:spPr>
          <a:xfrm>
            <a:off x="4495800" y="281940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工程 / 平台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5C5DA11-AE1E-4EDB-8237-68A56E32D4A4}"/>
              </a:ext>
            </a:extLst>
          </p:cNvPr>
          <p:cNvSpPr txBox="1"/>
          <p:nvPr/>
        </p:nvSpPr>
        <p:spPr>
          <a:xfrm>
            <a:off x="4495800" y="3162300"/>
            <a:ext cx="2895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57"/>
                </a:solidFill>
                <a:latin typeface="Microsoft YaHei"/>
                <a:ea typeface="Microsoft YaHei"/>
              </a:rPr>
              <a:t>接进结算，扛住峰值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2F2F6C4-00CF-4C38-B5D6-DF69DC675D0E}"/>
              </a:ext>
            </a:extLst>
          </p:cNvPr>
          <p:cNvSpPr txBox="1"/>
          <p:nvPr/>
        </p:nvSpPr>
        <p:spPr>
          <a:xfrm>
            <a:off x="4495800" y="3505200"/>
            <a:ext cx="28956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计价同源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Arial"/>
                <a:ea typeface="Arial"/>
              </a:rPr>
              <a:t>p99 &lt; 100ms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灰度 / 回滚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峰值稳定性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F7824B3-9A22-4AD1-A7E7-70805B40E27E}"/>
              </a:ext>
            </a:extLst>
          </p:cNvPr>
          <p:cNvSpPr/>
          <p:nvPr/>
        </p:nvSpPr>
        <p:spPr>
          <a:xfrm>
            <a:off x="7924800" y="2667000"/>
            <a:ext cx="3352800" cy="26670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30FFC47-50CC-495A-9E8E-23B886F43021}"/>
              </a:ext>
            </a:extLst>
          </p:cNvPr>
          <p:cNvSpPr txBox="1"/>
          <p:nvPr/>
        </p:nvSpPr>
        <p:spPr>
          <a:xfrm>
            <a:off x="8153400" y="28956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7A1A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6EC09FB-2101-43FE-9F27-A8DFFFB8BF04}"/>
              </a:ext>
            </a:extLst>
          </p:cNvPr>
          <p:cNvSpPr txBox="1"/>
          <p:nvPr/>
        </p:nvSpPr>
        <p:spPr>
          <a:xfrm>
            <a:off x="8153400" y="320040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4F1EA"/>
                </a:solidFill>
                <a:latin typeface="Microsoft YaHei"/>
                <a:ea typeface="Microsoft YaHei"/>
              </a:rPr>
              <a:t>产品 / 本地生活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5228914-2652-418D-9D5E-672B73B10448}"/>
              </a:ext>
            </a:extLst>
          </p:cNvPr>
          <p:cNvSpPr txBox="1"/>
          <p:nvPr/>
        </p:nvSpPr>
        <p:spPr>
          <a:xfrm>
            <a:off x="8153400" y="3543300"/>
            <a:ext cx="2895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57"/>
                </a:solidFill>
                <a:latin typeface="Microsoft YaHei"/>
                <a:ea typeface="Microsoft YaHei"/>
              </a:rPr>
              <a:t>把试点跑起来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0CA790F-0F83-4307-AFDC-22E2076C3C57}"/>
              </a:ext>
            </a:extLst>
          </p:cNvPr>
          <p:cNvSpPr txBox="1"/>
          <p:nvPr/>
        </p:nvSpPr>
        <p:spPr>
          <a:xfrm>
            <a:off x="8153400" y="3886200"/>
            <a:ext cx="28956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用户洞察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商家运营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实验设计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7A1A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A8B0BC"/>
                </a:solidFill>
                <a:latin typeface="Microsoft YaHei"/>
                <a:ea typeface="Microsoft YaHei"/>
              </a:rPr>
              <a:t>试点落地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02D99DB-A909-4891-84D6-91485D5EF981}"/>
              </a:ext>
            </a:extLst>
          </p:cNvPr>
          <p:cNvSpPr/>
          <p:nvPr/>
        </p:nvSpPr>
        <p:spPr>
          <a:xfrm>
            <a:off x="609600" y="5715000"/>
            <a:ext cx="10972800" cy="4000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6A6054D-6796-451B-93B2-359506307781}"/>
              </a:ext>
            </a:extLst>
          </p:cNvPr>
          <p:cNvSpPr txBox="1"/>
          <p:nvPr/>
        </p:nvSpPr>
        <p:spPr>
          <a:xfrm>
            <a:off x="800100" y="5810250"/>
            <a:ext cx="10591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A8B0BC"/>
                </a:solidFill>
                <a:latin typeface="Microsoft YaHei"/>
                <a:ea typeface="Microsoft YaHei"/>
              </a:rPr>
              <a:t>外部支持：平台优惠规则专家 + 法务 / 合规顾问。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734ED0A-15D9-42C0-830B-76A84E006B6E}"/>
              </a:ext>
            </a:extLst>
          </p:cNvPr>
          <p:cNvSpPr txBox="1"/>
          <p:nvPr/>
        </p:nvSpPr>
        <p:spPr>
          <a:xfrm>
            <a:off x="609600" y="62103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57"/>
                </a:solidFill>
                <a:latin typeface="Microsoft YaHei"/>
                <a:ea typeface="Microsoft YaHei"/>
              </a:rPr>
              <a:t>团队可以小，但这三件事必须有人负责。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CC3D8CA-DBF8-4F16-A679-27D6052766D0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C9CE6BB-BF73-41F0-8D57-BB793C1F3390}"/>
              </a:ext>
            </a:extLst>
          </p:cNvPr>
          <p:cNvSpPr txBox="1"/>
          <p:nvPr/>
        </p:nvSpPr>
        <p:spPr>
          <a:xfrm>
            <a:off x="762000" y="6096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Microsoft YaHei"/>
                <a:ea typeface="Microsoft YaHei"/>
              </a:rPr>
              <a:t>11 / 下一步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2E5EFF-6473-4ECE-9DA4-6B91A338B0C8}"/>
              </a:ext>
            </a:extLst>
          </p:cNvPr>
          <p:cNvSpPr txBox="1"/>
          <p:nvPr/>
        </p:nvSpPr>
        <p:spPr>
          <a:xfrm>
            <a:off x="762000" y="1238250"/>
            <a:ext cx="106680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4F1EA"/>
                </a:solidFill>
                <a:latin typeface="Microsoft YaHei"/>
                <a:ea typeface="Microsoft YaHei"/>
              </a:rPr>
              <a:t>给一个入口，</a:t>
            </a:r>
          </a:p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7A1A"/>
                </a:solidFill>
                <a:latin typeface="Microsoft YaHei"/>
                <a:ea typeface="Microsoft YaHei"/>
              </a:rPr>
              <a:t>12 周还你三个答案。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2D68DB0-DA21-4D65-9628-2E5C948555BA}"/>
              </a:ext>
            </a:extLst>
          </p:cNvPr>
          <p:cNvSpPr/>
          <p:nvPr/>
        </p:nvSpPr>
        <p:spPr>
          <a:xfrm>
            <a:off x="762000" y="3429000"/>
            <a:ext cx="3048000" cy="1238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1D84046-282B-45BF-A0DE-8EB2752FED3F}"/>
              </a:ext>
            </a:extLst>
          </p:cNvPr>
          <p:cNvSpPr txBox="1"/>
          <p:nvPr/>
        </p:nvSpPr>
        <p:spPr>
          <a:xfrm>
            <a:off x="952500" y="3581400"/>
            <a:ext cx="762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DF1348D-EAC1-4D0C-A598-A3EEFA2469BB}"/>
              </a:ext>
            </a:extLst>
          </p:cNvPr>
          <p:cNvSpPr txBox="1"/>
          <p:nvPr/>
        </p:nvSpPr>
        <p:spPr>
          <a:xfrm>
            <a:off x="952500" y="3829050"/>
            <a:ext cx="266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用户真的净省？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068AC93-078D-42A6-BCEB-CEF17BA5D756}"/>
              </a:ext>
            </a:extLst>
          </p:cNvPr>
          <p:cNvSpPr txBox="1"/>
          <p:nvPr/>
        </p:nvSpPr>
        <p:spPr>
          <a:xfrm>
            <a:off x="952500" y="4191000"/>
            <a:ext cx="266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净省 = 增量优惠 − 加购价格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B8897EE-4849-4551-A6D1-AEC2A6F2EA21}"/>
              </a:ext>
            </a:extLst>
          </p:cNvPr>
          <p:cNvSpPr/>
          <p:nvPr/>
        </p:nvSpPr>
        <p:spPr>
          <a:xfrm>
            <a:off x="4191000" y="3429000"/>
            <a:ext cx="3048000" cy="1238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8A8A06-33AB-4357-994E-89AD1DEDEF32}"/>
              </a:ext>
            </a:extLst>
          </p:cNvPr>
          <p:cNvSpPr txBox="1"/>
          <p:nvPr/>
        </p:nvSpPr>
        <p:spPr>
          <a:xfrm>
            <a:off x="4381500" y="3581400"/>
            <a:ext cx="762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791D28-9DDC-48C2-94EF-B6C9F8AA089F}"/>
              </a:ext>
            </a:extLst>
          </p:cNvPr>
          <p:cNvSpPr txBox="1"/>
          <p:nvPr/>
        </p:nvSpPr>
        <p:spPr>
          <a:xfrm>
            <a:off x="4381500" y="3829050"/>
            <a:ext cx="266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订单真的增量？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311B122-68AD-4B49-BCD3-484621596D54}"/>
              </a:ext>
            </a:extLst>
          </p:cNvPr>
          <p:cNvSpPr txBox="1"/>
          <p:nvPr/>
        </p:nvSpPr>
        <p:spPr>
          <a:xfrm>
            <a:off x="4381500" y="4191000"/>
            <a:ext cx="266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目标人群转化 +1-2 个百分点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B39F29A-CCC0-4B41-AA7B-3D6C16D97192}"/>
              </a:ext>
            </a:extLst>
          </p:cNvPr>
          <p:cNvSpPr/>
          <p:nvPr/>
        </p:nvSpPr>
        <p:spPr>
          <a:xfrm>
            <a:off x="7620000" y="3429000"/>
            <a:ext cx="3048000" cy="123825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A30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AC7E375-0803-4597-B22E-6FD7A4A33AB3}"/>
              </a:ext>
            </a:extLst>
          </p:cNvPr>
          <p:cNvSpPr txBox="1"/>
          <p:nvPr/>
        </p:nvSpPr>
        <p:spPr>
          <a:xfrm>
            <a:off x="7810500" y="3581400"/>
            <a:ext cx="762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7A1A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C691189-3015-48B4-9BF5-45B8E82F2DA6}"/>
              </a:ext>
            </a:extLst>
          </p:cNvPr>
          <p:cNvSpPr txBox="1"/>
          <p:nvPr/>
        </p:nvSpPr>
        <p:spPr>
          <a:xfrm>
            <a:off x="7810500" y="3829050"/>
            <a:ext cx="266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</a:rPr>
              <a:t>体验真的不伤？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D692616-8AE8-4AE7-AD1A-C5E57B3A7555}"/>
              </a:ext>
            </a:extLst>
          </p:cNvPr>
          <p:cNvSpPr txBox="1"/>
          <p:nvPr/>
        </p:nvSpPr>
        <p:spPr>
          <a:xfrm>
            <a:off x="7810500" y="4191000"/>
            <a:ext cx="266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A8B0BC"/>
                </a:solidFill>
                <a:latin typeface="Microsoft YaHei"/>
                <a:ea typeface="Microsoft YaHei"/>
              </a:rPr>
              <a:t>退款 / 差评不升，p99 &lt; 100ms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9A27128-D926-421A-991F-6CC87580ABD2}"/>
              </a:ext>
            </a:extLst>
          </p:cNvPr>
          <p:cNvSpPr txBox="1"/>
          <p:nvPr/>
        </p:nvSpPr>
        <p:spPr>
          <a:xfrm>
            <a:off x="762000" y="5048250"/>
            <a:ext cx="1066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8B0BC"/>
                </a:solidFill>
                <a:latin typeface="Microsoft YaHei"/>
                <a:ea typeface="Microsoft YaHei"/>
              </a:rPr>
              <a:t>下一步：30 天准备 → W1 启动 → W8 A/B → W12 复盘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09B9DD7-684A-43D5-A5C7-C2E62EF8F182}"/>
              </a:ext>
            </a:extLst>
          </p:cNvPr>
          <p:cNvSpPr/>
          <p:nvPr/>
        </p:nvSpPr>
        <p:spPr>
          <a:xfrm>
            <a:off x="762000" y="5410200"/>
            <a:ext cx="10668000" cy="19050"/>
          </a:xfrm>
          <a:prstGeom prst="rect">
            <a:avLst/>
          </a:prstGeom>
          <a:solidFill>
            <a:srgbClr val="2A30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9EB3BA5-DADF-4A98-B943-21807D9AAEA8}"/>
              </a:ext>
            </a:extLst>
          </p:cNvPr>
          <p:cNvSpPr txBox="1"/>
          <p:nvPr/>
        </p:nvSpPr>
        <p:spPr>
          <a:xfrm>
            <a:off x="762000" y="5600700"/>
            <a:ext cx="857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7A1A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985E7D7-2416-4F49-B4C8-37840F3BD23C}"/>
              </a:ext>
            </a:extLst>
          </p:cNvPr>
          <p:cNvSpPr txBox="1"/>
          <p:nvPr/>
        </p:nvSpPr>
        <p:spPr>
          <a:xfrm>
            <a:off x="762000" y="628650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产品 BP · 2026.10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FC1A112-D945-40EE-B705-DBCAC14A8052}"/>
              </a:ext>
            </a:extLst>
          </p:cNvPr>
          <p:cNvSpPr txBox="1"/>
          <p:nvPr/>
        </p:nvSpPr>
        <p:spPr>
          <a:xfrm>
            <a:off x="9334500" y="6286500"/>
            <a:ext cx="20955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6D7685"/>
                </a:solidFill>
                <a:latin typeface="Microsoft YaHei"/>
                <a:ea typeface="Microsoft YaHei"/>
              </a:rPr>
              <a:t>刚好 · 净省凑单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B7F42F5-9096-45EB-AF20-AD1AEA817247}"/>
              </a:ext>
            </a:extLst>
          </p:cNvPr>
          <p:cNvSpPr txBox="1"/>
          <p:nvPr/>
        </p:nvSpPr>
        <p:spPr>
          <a:xfrm>
            <a:off x="11049000" y="6477000"/>
            <a:ext cx="533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D7685"/>
                </a:solidFill>
                <a:latin typeface="Arial"/>
                <a:ea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