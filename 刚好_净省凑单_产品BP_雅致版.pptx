
<file path=[Content_Types].xml><?xml version="1.0" encoding="utf-8"?>
<Types xmlns="http://schemas.openxmlformats.org/package/2006/content-types"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3A93B13-3A55-4BAF-B5CD-791D460FCCE3}"/>
              </a:ext>
            </a:extLst>
          </p:cNvPr>
          <p:cNvSpPr txBox="1"/>
          <p:nvPr/>
        </p:nvSpPr>
        <p:spPr>
          <a:xfrm>
            <a:off x="762000" y="6096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普陀创新挑战赛 · 赛道2 / 产品 BP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C463C7-0AA8-42C9-A73A-333597FA1972}"/>
              </a:ext>
            </a:extLst>
          </p:cNvPr>
          <p:cNvSpPr txBox="1"/>
          <p:nvPr/>
        </p:nvSpPr>
        <p:spPr>
          <a:xfrm>
            <a:off x="685800" y="1428750"/>
            <a:ext cx="66675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1F1D1A"/>
                </a:solidFill>
                <a:latin typeface="Microsoft YaHei"/>
                <a:ea typeface="Microsoft YaHei"/>
              </a:rPr>
              <a:t>刚好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01D7682-6AA7-46CD-AA30-A349F17523AC}"/>
              </a:ext>
            </a:extLst>
          </p:cNvPr>
          <p:cNvSpPr txBox="1"/>
          <p:nvPr/>
        </p:nvSpPr>
        <p:spPr>
          <a:xfrm>
            <a:off x="685800" y="2857500"/>
            <a:ext cx="66675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B9542F"/>
                </a:solidFill>
                <a:latin typeface="Microsoft YaHei"/>
                <a:ea typeface="Microsoft YaHei"/>
              </a:rPr>
              <a:t>净省凑单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966229-C1C5-4992-B45A-16BE9D375BA5}"/>
              </a:ext>
            </a:extLst>
          </p:cNvPr>
          <p:cNvSpPr txBox="1"/>
          <p:nvPr/>
        </p:nvSpPr>
        <p:spPr>
          <a:xfrm>
            <a:off x="723900" y="4048125"/>
            <a:ext cx="66675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>
                <a:solidFill>
                  <a:srgbClr val="1F1D1A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B9EB9AE-467C-4E9B-8022-F66EF1DE5E8A}"/>
              </a:ext>
            </a:extLst>
          </p:cNvPr>
          <p:cNvSpPr/>
          <p:nvPr/>
        </p:nvSpPr>
        <p:spPr>
          <a:xfrm>
            <a:off x="723900" y="4667250"/>
            <a:ext cx="1333500" cy="9525"/>
          </a:xfrm>
          <a:prstGeom prst="rect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620B4D3-E8BE-483B-A3EB-5BBBF88D6D4B}"/>
              </a:ext>
            </a:extLst>
          </p:cNvPr>
          <p:cNvSpPr txBox="1"/>
          <p:nvPr/>
        </p:nvSpPr>
        <p:spPr>
          <a:xfrm>
            <a:off x="723900" y="48577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12 周 · 一个城市 · 一个购物车入口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63C844E-5D60-4E91-A6F4-C6D13E189883}"/>
              </a:ext>
            </a:extLst>
          </p:cNvPr>
          <p:cNvSpPr txBox="1"/>
          <p:nvPr/>
        </p:nvSpPr>
        <p:spPr>
          <a:xfrm>
            <a:off x="762000" y="638175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产品商业计划书 / 2026.10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CAED4C9-97A5-4405-A3E6-222C7EBC07B1}"/>
              </a:ext>
            </a:extLst>
          </p:cNvPr>
          <p:cNvSpPr/>
          <p:nvPr/>
        </p:nvSpPr>
        <p:spPr>
          <a:xfrm>
            <a:off x="8001000" y="1047750"/>
            <a:ext cx="3238500" cy="3238500"/>
          </a:xfrm>
          <a:prstGeom prst="ellipse">
            <a:avLst/>
          </a:prstGeom>
          <a:solidFill>
            <a:srgbClr val="F2EADF"/>
          </a:solidFill>
          <a:ln w="15240">
            <a:solidFill>
              <a:srgbClr val="B9542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38A01C-A784-4984-AC52-E926A2203B01}"/>
              </a:ext>
            </a:extLst>
          </p:cNvPr>
          <p:cNvSpPr txBox="1"/>
          <p:nvPr/>
        </p:nvSpPr>
        <p:spPr>
          <a:xfrm>
            <a:off x="8286750" y="1571625"/>
            <a:ext cx="2667000" cy="2190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</a:pPr>
            <a:r>
              <a:rPr sz="12800" b="1">
                <a:solidFill>
                  <a:srgbClr val="B9542F"/>
                </a:solidFill>
                <a:latin typeface="Georgia"/>
                <a:ea typeface="Georgia"/>
              </a:rPr>
              <a:t>¥2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3D3D41D-99AF-4780-A50F-E67B055C757B}"/>
              </a:ext>
            </a:extLst>
          </p:cNvPr>
          <p:cNvSpPr txBox="1"/>
          <p:nvPr/>
        </p:nvSpPr>
        <p:spPr>
          <a:xfrm>
            <a:off x="8286750" y="3905250"/>
            <a:ext cx="2667000" cy="228600"/>
          </a:xfrm>
        </p:spPr>
        <p:txBody>
          <a:bodyPr wrap="square" rtlCol="0" lIns="0" tIns="0" rIns="0" bIns="0" anchor="t"/>
          <a:lstStyle/>
          <a:p>
            <a:pPr algn="ctr"/>
            <a:r>
              <a:rPr sz="1200" b="1">
                <a:solidFill>
                  <a:srgbClr val="1F1D1A"/>
                </a:solidFill>
                <a:latin typeface="Microsoft YaHei"/>
                <a:ea typeface="Microsoft YaHei"/>
              </a:rPr>
              <a:t>每单净省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5368429-63C2-4B83-A63E-C179BA04DD64}"/>
              </a:ext>
            </a:extLst>
          </p:cNvPr>
          <p:cNvSpPr txBox="1"/>
          <p:nvPr/>
        </p:nvSpPr>
        <p:spPr>
          <a:xfrm>
            <a:off x="8001000" y="4762500"/>
            <a:ext cx="323850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增量优惠 − 加购价格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5F6B9C3-E354-4B19-8A16-900E16422C6D}"/>
              </a:ext>
            </a:extLst>
          </p:cNvPr>
          <p:cNvSpPr txBox="1"/>
          <p:nvPr/>
        </p:nvSpPr>
        <p:spPr>
          <a:xfrm>
            <a:off x="8001000" y="5143500"/>
            <a:ext cx="3238500" cy="190500"/>
          </a:xfrm>
        </p:spPr>
        <p:txBody>
          <a:bodyPr wrap="square" rtlCol="0" lIns="0" tIns="0" rIns="0" bIns="0" anchor="t"/>
          <a:lstStyle/>
          <a:p>
            <a:pPr algn="ctr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不预选 · 不倒计时 · 随时不凑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07C3764-1CBC-4C89-9EF0-FEEF541BD3CB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D6DBB4C-CD9E-4BF1-8595-5E1226886954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01 / 痛点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96F5624-9A6F-4EFF-B824-A87E460994BC}"/>
              </a:ext>
            </a:extLst>
          </p:cNvPr>
          <p:cNvSpPr txBox="1"/>
          <p:nvPr/>
        </p:nvSpPr>
        <p:spPr>
          <a:xfrm>
            <a:off x="685800" y="838200"/>
            <a:ext cx="952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凑单不是省钱，是三输。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C40A088-7B1F-4AB7-909F-4480A72DF587}"/>
              </a:ext>
            </a:extLst>
          </p:cNvPr>
          <p:cNvSpPr txBox="1"/>
          <p:nvPr/>
        </p:nvSpPr>
        <p:spPr>
          <a:xfrm>
            <a:off x="685800" y="16002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用户以为在省钱，实际在亏钱；平台以为在促活，实际在流失。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8502009-B845-461C-A20C-FEE888CCFAE9}"/>
              </a:ext>
            </a:extLst>
          </p:cNvPr>
          <p:cNvSpPr/>
          <p:nvPr/>
        </p:nvSpPr>
        <p:spPr>
          <a:xfrm>
            <a:off x="4000500" y="2190750"/>
            <a:ext cx="9525" cy="3619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39DD11-5087-45D8-9240-34A8C545D832}"/>
              </a:ext>
            </a:extLst>
          </p:cNvPr>
          <p:cNvSpPr txBox="1"/>
          <p:nvPr/>
        </p:nvSpPr>
        <p:spPr>
          <a:xfrm>
            <a:off x="685800" y="2286000"/>
            <a:ext cx="3048000" cy="2190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B9542F"/>
                </a:solidFill>
                <a:latin typeface="Georgia"/>
                <a:ea typeface="Georgia"/>
              </a:rPr>
              <a:t>−10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9370ED4-8A13-4092-8FF2-E37B48F43063}"/>
              </a:ext>
            </a:extLst>
          </p:cNvPr>
          <p:cNvSpPr txBox="1"/>
          <p:nvPr/>
        </p:nvSpPr>
        <p:spPr>
          <a:xfrm>
            <a:off x="723900" y="447675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9A8F80"/>
                </a:solidFill>
                <a:latin typeface="Microsoft YaHei"/>
                <a:ea typeface="Microsoft YaHei"/>
              </a:rPr>
              <a:t>元 / 一次典型凑单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B96764B-26FD-4D2F-A88E-3DFA288391BC}"/>
              </a:ext>
            </a:extLst>
          </p:cNvPr>
          <p:cNvSpPr txBox="1"/>
          <p:nvPr/>
        </p:nvSpPr>
        <p:spPr>
          <a:xfrm>
            <a:off x="723900" y="4762500"/>
            <a:ext cx="3048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F1D1A"/>
                </a:solidFill>
                <a:latin typeface="Microsoft YaHei"/>
                <a:ea typeface="Microsoft YaHei"/>
              </a:rPr>
              <a:t>为省 5 元，多花 15 元。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ADB3550-9F7E-46C8-9E82-5080317B203A}"/>
              </a:ext>
            </a:extLst>
          </p:cNvPr>
          <p:cNvSpPr txBox="1"/>
          <p:nvPr/>
        </p:nvSpPr>
        <p:spPr>
          <a:xfrm>
            <a:off x="723900" y="514350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9A8F80"/>
                </a:solidFill>
                <a:latin typeface="Microsoft YaHei"/>
                <a:ea typeface="Microsoft YaHei"/>
              </a:rPr>
              <a:t>还买回一份不需要的小菜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25697FD-2E7E-48F5-AB7A-8A4B8E731130}"/>
              </a:ext>
            </a:extLst>
          </p:cNvPr>
          <p:cNvSpPr txBox="1"/>
          <p:nvPr/>
        </p:nvSpPr>
        <p:spPr>
          <a:xfrm>
            <a:off x="4381500" y="2286000"/>
            <a:ext cx="95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80505D0-BA03-40BB-B5EC-1105AB61292F}"/>
              </a:ext>
            </a:extLst>
          </p:cNvPr>
          <p:cNvSpPr txBox="1"/>
          <p:nvPr/>
        </p:nvSpPr>
        <p:spPr>
          <a:xfrm>
            <a:off x="4381500" y="2552700"/>
            <a:ext cx="6667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F1D1A"/>
                </a:solidFill>
                <a:latin typeface="Microsoft YaHei"/>
                <a:ea typeface="Microsoft YaHei"/>
              </a:rPr>
              <a:t>为省 5 元多花 15 元；买回不需要的东西；比价 5 分钟，最后后悔。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F544190-C31A-448B-948A-8C6911E70C37}"/>
              </a:ext>
            </a:extLst>
          </p:cNvPr>
          <p:cNvSpPr/>
          <p:nvPr/>
        </p:nvSpPr>
        <p:spPr>
          <a:xfrm>
            <a:off x="4381500" y="3333750"/>
            <a:ext cx="71247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00018B6-6CC5-49F1-B25A-B8DE2B1750A9}"/>
              </a:ext>
            </a:extLst>
          </p:cNvPr>
          <p:cNvSpPr txBox="1"/>
          <p:nvPr/>
        </p:nvSpPr>
        <p:spPr>
          <a:xfrm>
            <a:off x="4381500" y="3562350"/>
            <a:ext cx="95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平台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DE53D84-072E-44B2-A543-5E12388D5EA1}"/>
              </a:ext>
            </a:extLst>
          </p:cNvPr>
          <p:cNvSpPr txBox="1"/>
          <p:nvPr/>
        </p:nvSpPr>
        <p:spPr>
          <a:xfrm>
            <a:off x="4381500" y="3829050"/>
            <a:ext cx="6667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F1D1A"/>
                </a:solidFill>
                <a:latin typeface="Microsoft YaHei"/>
                <a:ea typeface="Microsoft YaHei"/>
              </a:rPr>
              <a:t>差 2 元放弃的订单永久流失；补贴花了没成交；用户觉得被套路。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D1B3656-D016-4DDA-9FD0-ECCCACF72B1C}"/>
              </a:ext>
            </a:extLst>
          </p:cNvPr>
          <p:cNvSpPr/>
          <p:nvPr/>
        </p:nvSpPr>
        <p:spPr>
          <a:xfrm>
            <a:off x="4381500" y="4610100"/>
            <a:ext cx="71247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9D3D90B-F617-4B7F-B001-A68802E7B8CE}"/>
              </a:ext>
            </a:extLst>
          </p:cNvPr>
          <p:cNvSpPr txBox="1"/>
          <p:nvPr/>
        </p:nvSpPr>
        <p:spPr>
          <a:xfrm>
            <a:off x="4381500" y="4838700"/>
            <a:ext cx="95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商家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7E3BFC-1741-4C24-9E3B-3653A0FED1A3}"/>
              </a:ext>
            </a:extLst>
          </p:cNvPr>
          <p:cNvSpPr txBox="1"/>
          <p:nvPr/>
        </p:nvSpPr>
        <p:spPr>
          <a:xfrm>
            <a:off x="4381500" y="5105400"/>
            <a:ext cx="6667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1F1D1A"/>
                </a:solidFill>
                <a:latin typeface="Microsoft YaHei"/>
                <a:ea typeface="Microsoft YaHei"/>
              </a:rPr>
              <a:t>无效加购带来退款和差评；备货与出餐节奏被打乱。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DF44D2B-BBA5-4177-9ADB-9FEA45196590}"/>
              </a:ext>
            </a:extLst>
          </p:cNvPr>
          <p:cNvSpPr txBox="1"/>
          <p:nvPr/>
        </p:nvSpPr>
        <p:spPr>
          <a:xfrm>
            <a:off x="685800" y="6191250"/>
            <a:ext cx="1047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9542F"/>
                </a:solidFill>
                <a:latin typeface="Microsoft YaHei"/>
                <a:ea typeface="Microsoft YaHei"/>
              </a:rPr>
              <a:t>根因：现有凑单工具是商品推荐，不是决策服务。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44614CE-4054-4090-9984-68C24C73D37D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B5B4FAF-911D-42F8-98B5-B198A56DF30F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02 / 机会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E01F9D5-DFD9-4726-8615-F32284835792}"/>
              </a:ext>
            </a:extLst>
          </p:cNvPr>
          <p:cNvSpPr txBox="1"/>
          <p:nvPr/>
        </p:nvSpPr>
        <p:spPr>
          <a:xfrm>
            <a:off x="685800" y="838200"/>
            <a:ext cx="952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优惠越复杂，决策越值钱。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1843255-871C-483A-AE40-8C14AF3C2490}"/>
              </a:ext>
            </a:extLst>
          </p:cNvPr>
          <p:cNvSpPr txBox="1"/>
          <p:nvPr/>
        </p:nvSpPr>
        <p:spPr>
          <a:xfrm>
            <a:off x="685800" y="16002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平台从流量竞争转向效率竞争，用户从「多点几家」转向「帮我决定」。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3EB9BB3-B453-4C03-8F2E-C1C8708BC316}"/>
              </a:ext>
            </a:extLst>
          </p:cNvPr>
          <p:cNvSpPr/>
          <p:nvPr/>
        </p:nvSpPr>
        <p:spPr>
          <a:xfrm>
            <a:off x="4114800" y="2286000"/>
            <a:ext cx="9525" cy="30480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E981080-BE06-423E-B254-BF6A02DBBD01}"/>
              </a:ext>
            </a:extLst>
          </p:cNvPr>
          <p:cNvSpPr/>
          <p:nvPr/>
        </p:nvSpPr>
        <p:spPr>
          <a:xfrm>
            <a:off x="7772400" y="2286000"/>
            <a:ext cx="9525" cy="30480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5965A92-5409-420B-B9DA-FE1B493F343B}"/>
              </a:ext>
            </a:extLst>
          </p:cNvPr>
          <p:cNvSpPr txBox="1"/>
          <p:nvPr/>
        </p:nvSpPr>
        <p:spPr>
          <a:xfrm>
            <a:off x="685800" y="2286000"/>
            <a:ext cx="952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B9542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0B97592-1D0A-4879-971E-0829FB969CBE}"/>
              </a:ext>
            </a:extLst>
          </p:cNvPr>
          <p:cNvSpPr txBox="1"/>
          <p:nvPr/>
        </p:nvSpPr>
        <p:spPr>
          <a:xfrm>
            <a:off x="685800" y="3048000"/>
            <a:ext cx="3048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F1D1A"/>
                </a:solidFill>
                <a:latin typeface="Microsoft YaHei"/>
                <a:ea typeface="Microsoft YaHei"/>
              </a:rPr>
              <a:t>优惠叠加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D44795E-844F-4182-B469-038B85839AF4}"/>
              </a:ext>
            </a:extLst>
          </p:cNvPr>
          <p:cNvSpPr txBox="1"/>
          <p:nvPr/>
        </p:nvSpPr>
        <p:spPr>
          <a:xfrm>
            <a:off x="685800" y="3429000"/>
            <a:ext cx="3048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满减、券、配送费、会员权益同时出现，用户算不清，干脆放弃。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B9038C3-FDBC-4D2F-9FBD-07BFC7A320F5}"/>
              </a:ext>
            </a:extLst>
          </p:cNvPr>
          <p:cNvSpPr txBox="1"/>
          <p:nvPr/>
        </p:nvSpPr>
        <p:spPr>
          <a:xfrm>
            <a:off x="4343400" y="2286000"/>
            <a:ext cx="952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B9542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1BFDAAA-76DF-43C0-B6C9-6BB51E7900E3}"/>
              </a:ext>
            </a:extLst>
          </p:cNvPr>
          <p:cNvSpPr txBox="1"/>
          <p:nvPr/>
        </p:nvSpPr>
        <p:spPr>
          <a:xfrm>
            <a:off x="4343400" y="3048000"/>
            <a:ext cx="3048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F1D1A"/>
                </a:solidFill>
                <a:latin typeface="Microsoft YaHei"/>
                <a:ea typeface="Microsoft YaHei"/>
              </a:rPr>
              <a:t>效率竞争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7B3735-5132-4373-813B-F9A8F21511FF}"/>
              </a:ext>
            </a:extLst>
          </p:cNvPr>
          <p:cNvSpPr txBox="1"/>
          <p:nvPr/>
        </p:nvSpPr>
        <p:spPr>
          <a:xfrm>
            <a:off x="4343400" y="3429000"/>
            <a:ext cx="3048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平台不再只拼补贴，而是拼转化率、客单价和补贴效率。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A5EFFFD-439F-4B4D-B646-430BB3A9FC56}"/>
              </a:ext>
            </a:extLst>
          </p:cNvPr>
          <p:cNvSpPr txBox="1"/>
          <p:nvPr/>
        </p:nvSpPr>
        <p:spPr>
          <a:xfrm>
            <a:off x="8001000" y="2286000"/>
            <a:ext cx="952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B9542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D4D6E91-246F-4F5E-8763-172635D63E86}"/>
              </a:ext>
            </a:extLst>
          </p:cNvPr>
          <p:cNvSpPr txBox="1"/>
          <p:nvPr/>
        </p:nvSpPr>
        <p:spPr>
          <a:xfrm>
            <a:off x="8001000" y="3048000"/>
            <a:ext cx="30480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F1D1A"/>
                </a:solidFill>
                <a:latin typeface="Microsoft YaHei"/>
                <a:ea typeface="Microsoft YaHei"/>
              </a:rPr>
              <a:t>信任稀缺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678E57F-E115-485F-872F-61DEB222C7E7}"/>
              </a:ext>
            </a:extLst>
          </p:cNvPr>
          <p:cNvSpPr txBox="1"/>
          <p:nvPr/>
        </p:nvSpPr>
        <p:spPr>
          <a:xfrm>
            <a:off x="8001000" y="3429000"/>
            <a:ext cx="3048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用户对「诱导凑单」越来越敏感；透明、理性成为差异化。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6805064-2E99-4456-9FFA-A61FFD734F4F}"/>
              </a:ext>
            </a:extLst>
          </p:cNvPr>
          <p:cNvSpPr txBox="1"/>
          <p:nvPr/>
        </p:nvSpPr>
        <p:spPr>
          <a:xfrm>
            <a:off x="685800" y="5619750"/>
            <a:ext cx="1047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800">
                <a:solidFill>
                  <a:srgbClr val="1F1D1A"/>
                </a:solidFill>
                <a:latin typeface="Microsoft YaHei"/>
                <a:ea typeface="Microsoft YaHei"/>
              </a:rPr>
              <a:t>切入点：购物车结算前 </a:t>
            </a:r>
            <a:r>
              <a:rPr sz="2000" b="1">
                <a:solidFill>
                  <a:srgbClr val="B9542F"/>
                </a:solidFill>
                <a:latin typeface="Microsoft YaHei"/>
                <a:ea typeface="Microsoft YaHei"/>
              </a:rPr>
              <a:t>3 秒</a:t>
            </a:r>
            <a:r>
              <a:rPr sz="1800">
                <a:solidFill>
                  <a:srgbClr val="1F1D1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252EF14-B6DD-4399-8FE8-6E58245B7915}"/>
              </a:ext>
            </a:extLst>
          </p:cNvPr>
          <p:cNvSpPr/>
          <p:nvPr/>
        </p:nvSpPr>
        <p:spPr>
          <a:xfrm>
            <a:off x="685800" y="6057900"/>
            <a:ext cx="1143000" cy="9525"/>
          </a:xfrm>
          <a:prstGeom prst="rect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92285C0-7856-46D2-BC88-5036644DD719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362BBDD-3F8B-49E6-88C2-F06A35473132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03 / 产品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C84FCD-655D-4CF5-B8EF-A882A3B2B067}"/>
              </a:ext>
            </a:extLst>
          </p:cNvPr>
          <p:cNvSpPr txBox="1"/>
          <p:nvPr/>
        </p:nvSpPr>
        <p:spPr>
          <a:xfrm>
            <a:off x="685800" y="838200"/>
            <a:ext cx="6477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三个方案，一句净省。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C39B1F2-BF0D-412C-A2B5-81C5250F38B8}"/>
              </a:ext>
            </a:extLst>
          </p:cNvPr>
          <p:cNvSpPr txBox="1"/>
          <p:nvPr/>
        </p:nvSpPr>
        <p:spPr>
          <a:xfrm>
            <a:off x="685800" y="1600200"/>
            <a:ext cx="6477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不改变商家定价和优惠，只帮用户算清楚：加什么、省多少、值不值。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A64A76-09FD-4818-9E7F-4420E62F508A}"/>
              </a:ext>
            </a:extLst>
          </p:cNvPr>
          <p:cNvSpPr txBox="1"/>
          <p:nvPr/>
        </p:nvSpPr>
        <p:spPr>
          <a:xfrm>
            <a:off x="685800" y="2286000"/>
            <a:ext cx="495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Georgia"/>
                <a:ea typeface="Georgia"/>
              </a:rPr>
              <a:t>01</a:t>
            </a:r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   最省钱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DDAE4FD-E89C-4A30-A3DC-B0D8E2F89DF2}"/>
              </a:ext>
            </a:extLst>
          </p:cNvPr>
          <p:cNvSpPr txBox="1"/>
          <p:nvPr/>
        </p:nvSpPr>
        <p:spPr>
          <a:xfrm>
            <a:off x="1104900" y="2571750"/>
            <a:ext cx="438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刚好过门槛，实付最低。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F5A4969-469C-4F10-BFEB-D7EED3D7FD2B}"/>
              </a:ext>
            </a:extLst>
          </p:cNvPr>
          <p:cNvSpPr/>
          <p:nvPr/>
        </p:nvSpPr>
        <p:spPr>
          <a:xfrm>
            <a:off x="685800" y="2914650"/>
            <a:ext cx="49530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C8ABF8F-4BE5-44F5-97DD-1C12B432CC51}"/>
              </a:ext>
            </a:extLst>
          </p:cNvPr>
          <p:cNvSpPr txBox="1"/>
          <p:nvPr/>
        </p:nvSpPr>
        <p:spPr>
          <a:xfrm>
            <a:off x="685800" y="3105150"/>
            <a:ext cx="495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Georgia"/>
                <a:ea typeface="Georgia"/>
              </a:rPr>
              <a:t>02</a:t>
            </a:r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   最想要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274D18-4C09-4160-8C08-BEA75FDD4602}"/>
              </a:ext>
            </a:extLst>
          </p:cNvPr>
          <p:cNvSpPr txBox="1"/>
          <p:nvPr/>
        </p:nvSpPr>
        <p:spPr>
          <a:xfrm>
            <a:off x="1104900" y="3390900"/>
            <a:ext cx="438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优先常点 / 偏好品类，不硬塞。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4D66BA9-44F9-4F41-B3FF-67A47A87DB64}"/>
              </a:ext>
            </a:extLst>
          </p:cNvPr>
          <p:cNvSpPr/>
          <p:nvPr/>
        </p:nvSpPr>
        <p:spPr>
          <a:xfrm>
            <a:off x="685800" y="3733800"/>
            <a:ext cx="49530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86BC7D-F4F5-498B-A98A-755309A35024}"/>
              </a:ext>
            </a:extLst>
          </p:cNvPr>
          <p:cNvSpPr txBox="1"/>
          <p:nvPr/>
        </p:nvSpPr>
        <p:spPr>
          <a:xfrm>
            <a:off x="685800" y="3924300"/>
            <a:ext cx="495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Georgia"/>
                <a:ea typeface="Georgia"/>
              </a:rPr>
              <a:t>03</a:t>
            </a:r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   不凑更划算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F1AE2E-E796-4FA6-86D2-7EC71EB98AE7}"/>
              </a:ext>
            </a:extLst>
          </p:cNvPr>
          <p:cNvSpPr txBox="1"/>
          <p:nvPr/>
        </p:nvSpPr>
        <p:spPr>
          <a:xfrm>
            <a:off x="1104900" y="4210050"/>
            <a:ext cx="4381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多花的钱大于优惠，直接劝退。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DCBE1B3-ED32-4B59-8AD9-9A6EAD51CEB1}"/>
              </a:ext>
            </a:extLst>
          </p:cNvPr>
          <p:cNvSpPr txBox="1"/>
          <p:nvPr/>
        </p:nvSpPr>
        <p:spPr>
          <a:xfrm>
            <a:off x="685800" y="4762500"/>
            <a:ext cx="762000" cy="438150"/>
          </a:xfrm>
        </p:spPr>
        <p:txBody>
          <a:bodyPr wrap="square" rtlCol="0" lIns="0" tIns="0" rIns="0" bIns="0" anchor="t"/>
          <a:lstStyle/>
          <a:p>
            <a:pPr algn="l"/>
            <a:r>
              <a:rPr sz="2600" b="1">
                <a:solidFill>
                  <a:srgbClr val="B9542F"/>
                </a:solidFill>
                <a:latin typeface="Microsoft YaHei"/>
                <a:ea typeface="Microsoft YaHei"/>
              </a:rPr>
              <a:t>净省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058583D-D733-4B5C-A208-47A82BF63D90}"/>
              </a:ext>
            </a:extLst>
          </p:cNvPr>
          <p:cNvSpPr txBox="1"/>
          <p:nvPr/>
        </p:nvSpPr>
        <p:spPr>
          <a:xfrm>
            <a:off x="1428750" y="4838700"/>
            <a:ext cx="4381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1F1D1A"/>
                </a:solidFill>
                <a:latin typeface="Microsoft YaHei"/>
                <a:ea typeface="Microsoft YaHei"/>
              </a:rPr>
              <a:t>= 增量优惠 − 加购商品价格（含包装费）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EA289AC-A1DA-469D-9613-9CB7C08C7BAE}"/>
              </a:ext>
            </a:extLst>
          </p:cNvPr>
          <p:cNvSpPr txBox="1"/>
          <p:nvPr/>
        </p:nvSpPr>
        <p:spPr>
          <a:xfrm>
            <a:off x="685800" y="5191125"/>
            <a:ext cx="4953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6F665A"/>
                </a:solidFill>
                <a:latin typeface="Microsoft YaHei"/>
                <a:ea typeface="Microsoft YaHei"/>
              </a:rPr>
              <a:t>例：32 元购物车，差 6 元到「满 38 减 8」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6F665A"/>
                </a:solidFill>
                <a:latin typeface="Microsoft YaHei"/>
                <a:ea typeface="Microsoft YaHei"/>
              </a:rPr>
              <a:t>加 6 元小菜，净省 2 元，实付 30 元。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6A2E319-6E91-40B8-BDAE-AC586592EE3A}"/>
              </a:ext>
            </a:extLst>
          </p:cNvPr>
          <p:cNvSpPr txBox="1"/>
          <p:nvPr/>
        </p:nvSpPr>
        <p:spPr>
          <a:xfrm>
            <a:off x="685800" y="5905500"/>
            <a:ext cx="495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不预选 · 不倒计时 · 随时不凑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D4AC2491-A99C-4513-8A71-835371605D71}"/>
              </a:ext>
            </a:extLst>
          </p:cNvPr>
          <p:cNvSpPr/>
          <p:nvPr/>
        </p:nvSpPr>
        <p:spPr>
          <a:xfrm>
            <a:off x="7429500" y="1047750"/>
            <a:ext cx="3619500" cy="5143500"/>
          </a:xfrm>
          <a:prstGeom prst="roundRect">
            <a:avLst/>
          </a:prstGeom>
          <a:solidFill>
            <a:srgbClr val="FBF7F0"/>
          </a:solidFill>
          <a:ln w="15240">
            <a:solidFill>
              <a:srgbClr val="1F1D1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6B53749-44AC-468E-A0CB-CDBCA3403F07}"/>
              </a:ext>
            </a:extLst>
          </p:cNvPr>
          <p:cNvSpPr txBox="1"/>
          <p:nvPr/>
        </p:nvSpPr>
        <p:spPr>
          <a:xfrm>
            <a:off x="7734300" y="1314450"/>
            <a:ext cx="1333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F665A"/>
                </a:solidFill>
                <a:latin typeface="Microsoft YaHei"/>
                <a:ea typeface="Microsoft YaHei"/>
              </a:rPr>
              <a:t>购物车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E6CB194-27B0-420B-92E1-0F439E0507AF}"/>
              </a:ext>
            </a:extLst>
          </p:cNvPr>
          <p:cNvSpPr/>
          <p:nvPr/>
        </p:nvSpPr>
        <p:spPr>
          <a:xfrm>
            <a:off x="9715500" y="1257300"/>
            <a:ext cx="990600" cy="247650"/>
          </a:xfrm>
          <a:prstGeom prst="roundRect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5F7C37E-0290-45A9-96D3-232C6C23C66A}"/>
              </a:ext>
            </a:extLst>
          </p:cNvPr>
          <p:cNvSpPr txBox="1"/>
          <p:nvPr/>
        </p:nvSpPr>
        <p:spPr>
          <a:xfrm>
            <a:off x="9810750" y="1314450"/>
            <a:ext cx="800100" cy="161925"/>
          </a:xfrm>
        </p:spPr>
        <p:txBody>
          <a:bodyPr wrap="square" rtlCol="0" lIns="0" tIns="0" rIns="0" bIns="0" anchor="t"/>
          <a:lstStyle/>
          <a:p>
            <a:pPr algn="ctr"/>
            <a:r>
              <a:rPr sz="1000" b="1">
                <a:solidFill>
                  <a:srgbClr val="F6F1E8"/>
                </a:solidFill>
                <a:latin typeface="Microsoft YaHei"/>
                <a:ea typeface="Microsoft YaHei"/>
              </a:rPr>
              <a:t>差 6 元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9318BC1-82DC-4729-B48B-6E8A040E2BE3}"/>
              </a:ext>
            </a:extLst>
          </p:cNvPr>
          <p:cNvSpPr/>
          <p:nvPr/>
        </p:nvSpPr>
        <p:spPr>
          <a:xfrm>
            <a:off x="7734300" y="1676400"/>
            <a:ext cx="419100" cy="419100"/>
          </a:xfrm>
          <a:prstGeom prst="rect">
            <a:avLst/>
          </a:prstGeom>
          <a:solidFill>
            <a:srgbClr val="EFE6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58F98B6-6E73-4675-8CEC-6505A136A6EA}"/>
              </a:ext>
            </a:extLst>
          </p:cNvPr>
          <p:cNvSpPr txBox="1"/>
          <p:nvPr/>
        </p:nvSpPr>
        <p:spPr>
          <a:xfrm>
            <a:off x="8267700" y="1695450"/>
            <a:ext cx="1714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1F1D1A"/>
                </a:solidFill>
                <a:latin typeface="Microsoft YaHei"/>
                <a:ea typeface="Microsoft YaHei"/>
              </a:rPr>
              <a:t>招牌牛肉饭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2F76C0C-C344-4984-9ACB-47376A9FB060}"/>
              </a:ext>
            </a:extLst>
          </p:cNvPr>
          <p:cNvSpPr txBox="1"/>
          <p:nvPr/>
        </p:nvSpPr>
        <p:spPr>
          <a:xfrm>
            <a:off x="10096500" y="1695450"/>
            <a:ext cx="6096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B9542F"/>
                </a:solidFill>
                <a:latin typeface="Georgia"/>
                <a:ea typeface="Georgia"/>
              </a:rPr>
              <a:t>¥24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BA2D6FA-7C0D-496F-A591-E2B6D50F28AF}"/>
              </a:ext>
            </a:extLst>
          </p:cNvPr>
          <p:cNvSpPr/>
          <p:nvPr/>
        </p:nvSpPr>
        <p:spPr>
          <a:xfrm>
            <a:off x="7734300" y="2209800"/>
            <a:ext cx="419100" cy="419100"/>
          </a:xfrm>
          <a:prstGeom prst="rect">
            <a:avLst/>
          </a:prstGeom>
          <a:solidFill>
            <a:srgbClr val="EFE6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CD1B012-E938-478C-91C2-1D9A28B872C6}"/>
              </a:ext>
            </a:extLst>
          </p:cNvPr>
          <p:cNvSpPr txBox="1"/>
          <p:nvPr/>
        </p:nvSpPr>
        <p:spPr>
          <a:xfrm>
            <a:off x="8267700" y="2228850"/>
            <a:ext cx="1714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1F1D1A"/>
                </a:solidFill>
                <a:latin typeface="Microsoft YaHei"/>
                <a:ea typeface="Microsoft YaHei"/>
              </a:rPr>
              <a:t>冰美式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29F3C81-D87C-422E-93A6-32E6F357F8B3}"/>
              </a:ext>
            </a:extLst>
          </p:cNvPr>
          <p:cNvSpPr txBox="1"/>
          <p:nvPr/>
        </p:nvSpPr>
        <p:spPr>
          <a:xfrm>
            <a:off x="10096500" y="2228850"/>
            <a:ext cx="6096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B9542F"/>
                </a:solidFill>
                <a:latin typeface="Georgia"/>
                <a:ea typeface="Georgia"/>
              </a:rPr>
              <a:t>¥8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013329F-BE92-47F4-9BD2-AD2AFF8D94CB}"/>
              </a:ext>
            </a:extLst>
          </p:cNvPr>
          <p:cNvSpPr/>
          <p:nvPr/>
        </p:nvSpPr>
        <p:spPr>
          <a:xfrm>
            <a:off x="7734300" y="2781300"/>
            <a:ext cx="30099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EAD6AAB-DE95-455A-8BE2-969FEC9AEA95}"/>
              </a:ext>
            </a:extLst>
          </p:cNvPr>
          <p:cNvSpPr txBox="1"/>
          <p:nvPr/>
        </p:nvSpPr>
        <p:spPr>
          <a:xfrm>
            <a:off x="8953500" y="2876550"/>
            <a:ext cx="17145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100" b="1">
                <a:solidFill>
                  <a:srgbClr val="1F1D1A"/>
                </a:solidFill>
                <a:latin typeface="Microsoft YaHei"/>
                <a:ea typeface="Microsoft YaHei"/>
              </a:rPr>
              <a:t>合计 ¥32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F6C9666A-6DA1-4804-8F73-632652DE7322}"/>
              </a:ext>
            </a:extLst>
          </p:cNvPr>
          <p:cNvSpPr/>
          <p:nvPr/>
        </p:nvSpPr>
        <p:spPr>
          <a:xfrm>
            <a:off x="7696200" y="3333750"/>
            <a:ext cx="3086100" cy="2590800"/>
          </a:xfrm>
          <a:prstGeom prst="roundRect">
            <a:avLst/>
          </a:prstGeom>
          <a:solidFill>
            <a:srgbClr val="F1E9DC"/>
          </a:solidFill>
          <a:ln w="12700">
            <a:solidFill>
              <a:srgbClr val="D9CF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B5C6FB0-96EF-4157-84CE-990FF4917600}"/>
              </a:ext>
            </a:extLst>
          </p:cNvPr>
          <p:cNvSpPr txBox="1"/>
          <p:nvPr/>
        </p:nvSpPr>
        <p:spPr>
          <a:xfrm>
            <a:off x="7848600" y="35623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F1D1A"/>
                </a:solidFill>
                <a:latin typeface="Microsoft YaHei"/>
                <a:ea typeface="Microsoft YaHei"/>
              </a:rPr>
              <a:t>再差 6 元，可减 8 元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61BFB6E-D316-4153-89F6-333C3ECCD923}"/>
              </a:ext>
            </a:extLst>
          </p:cNvPr>
          <p:cNvSpPr txBox="1"/>
          <p:nvPr/>
        </p:nvSpPr>
        <p:spPr>
          <a:xfrm>
            <a:off x="7848600" y="3810000"/>
            <a:ext cx="27813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已找到 3 种凑法，净省 2 元起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7FC9BE3E-DECA-494C-B9DB-7D212015A310}"/>
              </a:ext>
            </a:extLst>
          </p:cNvPr>
          <p:cNvSpPr/>
          <p:nvPr/>
        </p:nvSpPr>
        <p:spPr>
          <a:xfrm>
            <a:off x="7848600" y="4076700"/>
            <a:ext cx="2781300" cy="36195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B9542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268BD8A2-A325-4900-98B6-8BEEF5F29A0F}"/>
              </a:ext>
            </a:extLst>
          </p:cNvPr>
          <p:cNvSpPr txBox="1"/>
          <p:nvPr/>
        </p:nvSpPr>
        <p:spPr>
          <a:xfrm>
            <a:off x="7962900" y="4171950"/>
            <a:ext cx="2552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1F1D1A"/>
                </a:solidFill>
                <a:latin typeface="Microsoft YaHei"/>
                <a:ea typeface="Microsoft YaHei"/>
              </a:rPr>
              <a:t>最省钱  +6 元小菜 · 净省 2 元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D9A417B0-DB1C-45D6-80D3-F0AF0C156346}"/>
              </a:ext>
            </a:extLst>
          </p:cNvPr>
          <p:cNvSpPr/>
          <p:nvPr/>
        </p:nvSpPr>
        <p:spPr>
          <a:xfrm>
            <a:off x="7848600" y="4495800"/>
            <a:ext cx="2781300" cy="361950"/>
          </a:xfrm>
          <a:prstGeom prst="roundRect">
            <a:avLst/>
          </a:prstGeom>
          <a:solidFill>
            <a:srgbClr val="FBF7F0"/>
          </a:solidFill>
          <a:ln w="12700">
            <a:solidFill>
              <a:srgbClr val="D9CF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2AC98BC-988F-4DCA-8427-F6E6A0C361A0}"/>
              </a:ext>
            </a:extLst>
          </p:cNvPr>
          <p:cNvSpPr txBox="1"/>
          <p:nvPr/>
        </p:nvSpPr>
        <p:spPr>
          <a:xfrm>
            <a:off x="7962900" y="4591050"/>
            <a:ext cx="2552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1F1D1A"/>
                </a:solidFill>
                <a:latin typeface="Microsoft YaHei"/>
                <a:ea typeface="Microsoft YaHei"/>
              </a:rPr>
              <a:t>最想要  +7 元凉菜 · 净省 1 元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47A89133-47D3-46BA-8098-34F7CB822D5E}"/>
              </a:ext>
            </a:extLst>
          </p:cNvPr>
          <p:cNvSpPr txBox="1"/>
          <p:nvPr/>
        </p:nvSpPr>
        <p:spPr>
          <a:xfrm>
            <a:off x="7962900" y="4972050"/>
            <a:ext cx="25527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6E7F68"/>
                </a:solidFill>
                <a:latin typeface="Microsoft YaHei"/>
                <a:ea typeface="Microsoft YaHei"/>
              </a:rPr>
              <a:t>不凑更划算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3833648-C060-48EA-8A0D-4F8305E165A3}"/>
              </a:ext>
            </a:extLst>
          </p:cNvPr>
          <p:cNvSpPr/>
          <p:nvPr/>
        </p:nvSpPr>
        <p:spPr>
          <a:xfrm>
            <a:off x="7848600" y="5238750"/>
            <a:ext cx="2781300" cy="342900"/>
          </a:xfrm>
          <a:prstGeom prst="roundRect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007FF5F-560F-4F11-A138-79934515DF4E}"/>
              </a:ext>
            </a:extLst>
          </p:cNvPr>
          <p:cNvSpPr txBox="1"/>
          <p:nvPr/>
        </p:nvSpPr>
        <p:spPr>
          <a:xfrm>
            <a:off x="7848600" y="5324475"/>
            <a:ext cx="27813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 b="1">
                <a:solidFill>
                  <a:srgbClr val="F6F1E8"/>
                </a:solidFill>
                <a:latin typeface="Microsoft YaHei"/>
                <a:ea typeface="Microsoft YaHei"/>
              </a:rPr>
              <a:t>选最省钱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F3C5127F-4C52-448D-9C32-33A1FF4CED6D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854F6D2-2CDC-4C37-8A55-A8592A490E64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04 / 技术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12309E-8C00-414A-AD9F-D2DA2EB8413E}"/>
              </a:ext>
            </a:extLst>
          </p:cNvPr>
          <p:cNvSpPr txBox="1"/>
          <p:nvPr/>
        </p:nvSpPr>
        <p:spPr>
          <a:xfrm>
            <a:off x="685800" y="838200"/>
            <a:ext cx="952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不是推荐列表，是实时优化器。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054F7A8-AC31-4177-9F68-335E111FD895}"/>
              </a:ext>
            </a:extLst>
          </p:cNvPr>
          <p:cNvSpPr txBox="1"/>
          <p:nvPr/>
        </p:nvSpPr>
        <p:spPr>
          <a:xfrm>
            <a:off x="685800" y="16002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把「差多少钱、加什么、减多少」当成一个带约束的选品题，在 100ms 内算完。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0299543-78C1-4F42-B171-E68C3C9A5D8A}"/>
              </a:ext>
            </a:extLst>
          </p:cNvPr>
          <p:cNvSpPr txBox="1"/>
          <p:nvPr/>
        </p:nvSpPr>
        <p:spPr>
          <a:xfrm>
            <a:off x="685800" y="219075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9A8F80"/>
                </a:solidFill>
                <a:latin typeface="Microsoft YaHei"/>
                <a:ea typeface="Microsoft YaHei"/>
              </a:rPr>
              <a:t>传统推荐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2C16242-678B-4B3E-9695-778A7303222B}"/>
              </a:ext>
            </a:extLst>
          </p:cNvPr>
          <p:cNvSpPr txBox="1"/>
          <p:nvPr/>
        </p:nvSpPr>
        <p:spPr>
          <a:xfrm>
            <a:off x="685800" y="2476500"/>
            <a:ext cx="4762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6F665A"/>
                </a:solidFill>
                <a:latin typeface="Microsoft YaHei"/>
                <a:ea typeface="Microsoft YaHei"/>
              </a:rPr>
              <a:t>给你更多选择：猜你喜欢、热销、相似商品；不保证净省，列表越长越难选。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37EE7B7-12FF-4CF6-A9A6-EB44B5ADAC00}"/>
              </a:ext>
            </a:extLst>
          </p:cNvPr>
          <p:cNvSpPr/>
          <p:nvPr/>
        </p:nvSpPr>
        <p:spPr>
          <a:xfrm>
            <a:off x="5791200" y="2190750"/>
            <a:ext cx="9525" cy="952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935024-AA23-47F9-8F62-26EA50FCEA75}"/>
              </a:ext>
            </a:extLst>
          </p:cNvPr>
          <p:cNvSpPr txBox="1"/>
          <p:nvPr/>
        </p:nvSpPr>
        <p:spPr>
          <a:xfrm>
            <a:off x="6096000" y="2190750"/>
            <a:ext cx="514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9542F"/>
                </a:solidFill>
                <a:latin typeface="Microsoft YaHei"/>
                <a:ea typeface="Microsoft YaHei"/>
              </a:rPr>
              <a:t>净省优化器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0BEC054-CC0D-452B-B539-09DD55458567}"/>
              </a:ext>
            </a:extLst>
          </p:cNvPr>
          <p:cNvSpPr txBox="1"/>
          <p:nvPr/>
        </p:nvSpPr>
        <p:spPr>
          <a:xfrm>
            <a:off x="6096000" y="2476500"/>
            <a:ext cx="5143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1F1D1A"/>
                </a:solidFill>
                <a:latin typeface="Microsoft YaHei"/>
                <a:ea typeface="Microsoft YaHei"/>
              </a:rPr>
              <a:t>给你一个决定：规则约束 + 净省最大；三个方案，一句解释；不划算就劝退。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EA72F95-33EE-4D38-AB30-45AD3BB263F1}"/>
              </a:ext>
            </a:extLst>
          </p:cNvPr>
          <p:cNvSpPr/>
          <p:nvPr/>
        </p:nvSpPr>
        <p:spPr>
          <a:xfrm>
            <a:off x="1143000" y="4286250"/>
            <a:ext cx="99060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8D6C091-5B63-4311-B187-4EF834941409}"/>
              </a:ext>
            </a:extLst>
          </p:cNvPr>
          <p:cNvSpPr/>
          <p:nvPr/>
        </p:nvSpPr>
        <p:spPr>
          <a:xfrm>
            <a:off x="1562100" y="4133850"/>
            <a:ext cx="304800" cy="304800"/>
          </a:xfrm>
          <a:prstGeom prst="ellipse">
            <a:avLst/>
          </a:prstGeom>
          <a:solidFill>
            <a:srgbClr val="F6F1E8"/>
          </a:solidFill>
          <a:ln w="12700">
            <a:solidFill>
              <a:srgbClr val="B9542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800" b="1">
                <a:solidFill>
                  <a:srgbClr val="B9542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258AF0D-18EE-44AD-BB97-6DC4E200CDCC}"/>
              </a:ext>
            </a:extLst>
          </p:cNvPr>
          <p:cNvSpPr/>
          <p:nvPr/>
        </p:nvSpPr>
        <p:spPr>
          <a:xfrm>
            <a:off x="4038600" y="4133850"/>
            <a:ext cx="304800" cy="304800"/>
          </a:xfrm>
          <a:prstGeom prst="ellipse">
            <a:avLst/>
          </a:prstGeom>
          <a:solidFill>
            <a:srgbClr val="F6F1E8"/>
          </a:solidFill>
          <a:ln w="12700">
            <a:solidFill>
              <a:srgbClr val="B9542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800" b="1">
                <a:solidFill>
                  <a:srgbClr val="B9542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F7F95A8-91F5-45AA-BBC0-5E78FCF0C103}"/>
              </a:ext>
            </a:extLst>
          </p:cNvPr>
          <p:cNvSpPr/>
          <p:nvPr/>
        </p:nvSpPr>
        <p:spPr>
          <a:xfrm>
            <a:off x="6515100" y="4133850"/>
            <a:ext cx="304800" cy="304800"/>
          </a:xfrm>
          <a:prstGeom prst="ellipse">
            <a:avLst/>
          </a:prstGeom>
          <a:solidFill>
            <a:srgbClr val="F6F1E8"/>
          </a:solidFill>
          <a:ln w="12700">
            <a:solidFill>
              <a:srgbClr val="B9542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800" b="1">
                <a:solidFill>
                  <a:srgbClr val="B9542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54C37B4-3082-4458-9B4D-EF56FC13A26A}"/>
              </a:ext>
            </a:extLst>
          </p:cNvPr>
          <p:cNvSpPr/>
          <p:nvPr/>
        </p:nvSpPr>
        <p:spPr>
          <a:xfrm>
            <a:off x="8991600" y="4133850"/>
            <a:ext cx="304800" cy="304800"/>
          </a:xfrm>
          <a:prstGeom prst="ellipse">
            <a:avLst/>
          </a:prstGeom>
          <a:solidFill>
            <a:srgbClr val="F6F1E8"/>
          </a:solidFill>
          <a:ln w="12700">
            <a:solidFill>
              <a:srgbClr val="B9542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800" b="1">
                <a:solidFill>
                  <a:srgbClr val="B9542F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4B8A843-452A-422D-B2B3-6F6514A648B7}"/>
              </a:ext>
            </a:extLst>
          </p:cNvPr>
          <p:cNvSpPr txBox="1"/>
          <p:nvPr/>
        </p:nvSpPr>
        <p:spPr>
          <a:xfrm>
            <a:off x="1143000" y="45720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F1D1A"/>
                </a:solidFill>
                <a:latin typeface="Microsoft YaHei"/>
                <a:ea typeface="Microsoft YaHei"/>
              </a:rPr>
              <a:t>规则引擎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9F6B12-1061-4D8D-A6F6-E6F90A1AB4A7}"/>
              </a:ext>
            </a:extLst>
          </p:cNvPr>
          <p:cNvSpPr txBox="1"/>
          <p:nvPr/>
        </p:nvSpPr>
        <p:spPr>
          <a:xfrm>
            <a:off x="1143000" y="4857750"/>
            <a:ext cx="1905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满减 · 券 · 库存 · 配送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340EB12-A326-46AD-8D0C-F829D4500922}"/>
              </a:ext>
            </a:extLst>
          </p:cNvPr>
          <p:cNvSpPr txBox="1"/>
          <p:nvPr/>
        </p:nvSpPr>
        <p:spPr>
          <a:xfrm>
            <a:off x="3619500" y="45720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F1D1A"/>
                </a:solidFill>
                <a:latin typeface="Microsoft YaHei"/>
                <a:ea typeface="Microsoft YaHei"/>
              </a:rPr>
              <a:t>候选生成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7307C36-F741-4C19-A517-AA527DA7B1B8}"/>
              </a:ext>
            </a:extLst>
          </p:cNvPr>
          <p:cNvSpPr txBox="1"/>
          <p:nvPr/>
        </p:nvSpPr>
        <p:spPr>
          <a:xfrm>
            <a:off x="3619500" y="4857750"/>
            <a:ext cx="1905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去重 · 忌口 · 价格带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9CAE8EE-D671-4941-A2AE-AA54DF25B72F}"/>
              </a:ext>
            </a:extLst>
          </p:cNvPr>
          <p:cNvSpPr txBox="1"/>
          <p:nvPr/>
        </p:nvSpPr>
        <p:spPr>
          <a:xfrm>
            <a:off x="6096000" y="45720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F1D1A"/>
                </a:solidFill>
                <a:latin typeface="Microsoft YaHei"/>
                <a:ea typeface="Microsoft YaHei"/>
              </a:rPr>
              <a:t>优化器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BE70274-D554-4996-8C55-1EFC1F0E7664}"/>
              </a:ext>
            </a:extLst>
          </p:cNvPr>
          <p:cNvSpPr txBox="1"/>
          <p:nvPr/>
        </p:nvSpPr>
        <p:spPr>
          <a:xfrm>
            <a:off x="6096000" y="4857750"/>
            <a:ext cx="1905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背包/整数规划 · 券组合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DEBC274-BA7D-4583-949A-62DA794DCF96}"/>
              </a:ext>
            </a:extLst>
          </p:cNvPr>
          <p:cNvSpPr txBox="1"/>
          <p:nvPr/>
        </p:nvSpPr>
        <p:spPr>
          <a:xfrm>
            <a:off x="8572500" y="4572000"/>
            <a:ext cx="1905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F1D1A"/>
                </a:solidFill>
                <a:latin typeface="Microsoft YaHei"/>
                <a:ea typeface="Microsoft YaHei"/>
              </a:rPr>
              <a:t>排序与解释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F13F6A0-90DC-471C-8588-AFD75BBBACD1}"/>
              </a:ext>
            </a:extLst>
          </p:cNvPr>
          <p:cNvSpPr txBox="1"/>
          <p:nvPr/>
        </p:nvSpPr>
        <p:spPr>
          <a:xfrm>
            <a:off x="8572500" y="4857750"/>
            <a:ext cx="19050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偏好 − 花费 − 浪费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0893FD17-B1D3-48A0-B747-EEADAD34C1A1}"/>
              </a:ext>
            </a:extLst>
          </p:cNvPr>
          <p:cNvSpPr/>
          <p:nvPr/>
        </p:nvSpPr>
        <p:spPr>
          <a:xfrm>
            <a:off x="685800" y="5524500"/>
            <a:ext cx="108204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A592FF8-6C05-4E15-BA98-06DB63EC4BEB}"/>
              </a:ext>
            </a:extLst>
          </p:cNvPr>
          <p:cNvSpPr txBox="1"/>
          <p:nvPr/>
        </p:nvSpPr>
        <p:spPr>
          <a:xfrm>
            <a:off x="685800" y="5676900"/>
            <a:ext cx="1047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542F"/>
                </a:solidFill>
                <a:latin typeface="Microsoft YaHei"/>
                <a:ea typeface="Microsoft YaHei"/>
              </a:rPr>
              <a:t>与结算同源 100%</a:t>
            </a:r>
            <a:r>
              <a:rPr sz="1100">
                <a:solidFill>
                  <a:srgbClr val="9A8F80"/>
                </a:solidFill>
                <a:latin typeface="Microsoft YaHei"/>
                <a:ea typeface="Microsoft YaHei"/>
              </a:rPr>
              <a:t>   ·   </a:t>
            </a:r>
            <a:r>
              <a:rPr sz="1100" b="1">
                <a:solidFill>
                  <a:srgbClr val="1F1D1A"/>
                </a:solidFill>
                <a:latin typeface="Arial"/>
                <a:ea typeface="Arial"/>
              </a:rPr>
              <a:t>p99 &lt; 100ms</a:t>
            </a:r>
            <a:r>
              <a:rPr sz="1100">
                <a:solidFill>
                  <a:srgbClr val="9A8F80"/>
                </a:solidFill>
                <a:latin typeface="Microsoft YaHei"/>
                <a:ea typeface="Microsoft YaHei"/>
              </a:rPr>
              <a:t>   ·   </a:t>
            </a:r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超时降级：绝不阻塞下单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2D97F90-82C4-4B75-B585-AD04868C3317}"/>
              </a:ext>
            </a:extLst>
          </p:cNvPr>
          <p:cNvSpPr txBox="1"/>
          <p:nvPr/>
        </p:nvSpPr>
        <p:spPr>
          <a:xfrm>
            <a:off x="685800" y="6096000"/>
            <a:ext cx="857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LLM 不放在交易主链路：数字必须来自规则引擎。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2962CC4-39DF-4358-9FE7-F8C6348179DE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3294471-341B-4B5E-968F-50BB85957786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05 / 壁垒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9ECD29-CBE8-48D7-9B63-4FDF9F4D12B1}"/>
              </a:ext>
            </a:extLst>
          </p:cNvPr>
          <p:cNvSpPr txBox="1"/>
          <p:nvPr/>
        </p:nvSpPr>
        <p:spPr>
          <a:xfrm>
            <a:off x="685800" y="838200"/>
            <a:ext cx="85725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算法不是壁垒，闭环才是。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631F13B-F732-4B90-9191-FEC269F30CDA}"/>
              </a:ext>
            </a:extLst>
          </p:cNvPr>
          <p:cNvSpPr txBox="1"/>
          <p:nvPr/>
        </p:nvSpPr>
        <p:spPr>
          <a:xfrm>
            <a:off x="685800" y="16002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规则接得准、数据转得动、用户信得过——三件事缺一不可。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47861DA-7D82-40C9-9721-4AD4FBF9ED92}"/>
              </a:ext>
            </a:extLst>
          </p:cNvPr>
          <p:cNvSpPr/>
          <p:nvPr/>
        </p:nvSpPr>
        <p:spPr>
          <a:xfrm>
            <a:off x="2000250" y="2571750"/>
            <a:ext cx="2476500" cy="2476500"/>
          </a:xfrm>
          <a:prstGeom prst="ellipse">
            <a:avLst/>
          </a:prstGeom>
          <a:solidFill>
            <a:srgbClr val="F6F1E8"/>
          </a:solidFill>
          <a:ln w="12700">
            <a:solidFill>
              <a:srgbClr val="6E7F6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2A2C8D0-5DFA-4661-BA81-A2332C1A5E5D}"/>
              </a:ext>
            </a:extLst>
          </p:cNvPr>
          <p:cNvSpPr txBox="1"/>
          <p:nvPr/>
        </p:nvSpPr>
        <p:spPr>
          <a:xfrm>
            <a:off x="2428875" y="3857625"/>
            <a:ext cx="1619250" cy="27432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1F1D1A"/>
                </a:solidFill>
                <a:latin typeface="Microsoft YaHei"/>
                <a:ea typeface="Microsoft YaHei"/>
              </a:rPr>
              <a:t>数据飞轮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3AF2BF-8B52-4604-B663-6E63071AF777}"/>
              </a:ext>
            </a:extLst>
          </p:cNvPr>
          <p:cNvSpPr txBox="1"/>
          <p:nvPr/>
        </p:nvSpPr>
        <p:spPr>
          <a:xfrm>
            <a:off x="2428875" y="4162425"/>
            <a:ext cx="161925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越用越准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8F4D966-A391-452D-838C-4E2E4DC77176}"/>
              </a:ext>
            </a:extLst>
          </p:cNvPr>
          <p:cNvSpPr/>
          <p:nvPr/>
        </p:nvSpPr>
        <p:spPr>
          <a:xfrm>
            <a:off x="3209925" y="2543175"/>
            <a:ext cx="57150" cy="5715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E520DEA-AFB3-4B84-BF2C-D5670E8AF865}"/>
              </a:ext>
            </a:extLst>
          </p:cNvPr>
          <p:cNvSpPr/>
          <p:nvPr/>
        </p:nvSpPr>
        <p:spPr>
          <a:xfrm>
            <a:off x="4448175" y="3781425"/>
            <a:ext cx="57150" cy="5715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4BFA847-78F5-4486-AFD1-8F5231967A42}"/>
              </a:ext>
            </a:extLst>
          </p:cNvPr>
          <p:cNvSpPr/>
          <p:nvPr/>
        </p:nvSpPr>
        <p:spPr>
          <a:xfrm>
            <a:off x="3209925" y="5019675"/>
            <a:ext cx="57150" cy="5715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0FEB7E7-0C83-4DB6-8613-DF0AED7515C2}"/>
              </a:ext>
            </a:extLst>
          </p:cNvPr>
          <p:cNvSpPr/>
          <p:nvPr/>
        </p:nvSpPr>
        <p:spPr>
          <a:xfrm>
            <a:off x="1971675" y="3781425"/>
            <a:ext cx="57150" cy="5715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4648463-55A0-4D47-9882-C2964C2CF789}"/>
              </a:ext>
            </a:extLst>
          </p:cNvPr>
          <p:cNvSpPr txBox="1"/>
          <p:nvPr/>
        </p:nvSpPr>
        <p:spPr>
          <a:xfrm>
            <a:off x="2571750" y="2095500"/>
            <a:ext cx="133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F1D1A"/>
                </a:solidFill>
                <a:latin typeface="Microsoft YaHei"/>
                <a:ea typeface="Microsoft YaHei"/>
              </a:rPr>
              <a:t>规则接入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7D1019E-D759-445D-BCF0-CA71286D62FD}"/>
              </a:ext>
            </a:extLst>
          </p:cNvPr>
          <p:cNvSpPr txBox="1"/>
          <p:nvPr/>
        </p:nvSpPr>
        <p:spPr>
          <a:xfrm>
            <a:off x="2571750" y="2324100"/>
            <a:ext cx="1524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F665A"/>
                </a:solidFill>
                <a:latin typeface="Microsoft YaHei"/>
                <a:ea typeface="Microsoft YaHei"/>
              </a:rPr>
              <a:t>满减 / 券 / 库存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D8C8162-F84C-4177-B5A3-12CECF8B228F}"/>
              </a:ext>
            </a:extLst>
          </p:cNvPr>
          <p:cNvSpPr txBox="1"/>
          <p:nvPr/>
        </p:nvSpPr>
        <p:spPr>
          <a:xfrm>
            <a:off x="4762500" y="3619500"/>
            <a:ext cx="152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F1D1A"/>
                </a:solidFill>
                <a:latin typeface="Microsoft YaHei"/>
                <a:ea typeface="Microsoft YaHei"/>
              </a:rPr>
              <a:t>方案输出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834828B-70B8-4EE0-AE1E-39C2365ED58E}"/>
              </a:ext>
            </a:extLst>
          </p:cNvPr>
          <p:cNvSpPr txBox="1"/>
          <p:nvPr/>
        </p:nvSpPr>
        <p:spPr>
          <a:xfrm>
            <a:off x="4762500" y="3848100"/>
            <a:ext cx="1524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F665A"/>
                </a:solidFill>
                <a:latin typeface="Microsoft YaHei"/>
                <a:ea typeface="Microsoft YaHei"/>
              </a:rPr>
              <a:t>三方案 + 净省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77960AC-80E0-4E16-98F8-9700A2B90E8F}"/>
              </a:ext>
            </a:extLst>
          </p:cNvPr>
          <p:cNvSpPr txBox="1"/>
          <p:nvPr/>
        </p:nvSpPr>
        <p:spPr>
          <a:xfrm>
            <a:off x="2571750" y="5334000"/>
            <a:ext cx="133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F1D1A"/>
                </a:solidFill>
                <a:latin typeface="Microsoft YaHei"/>
                <a:ea typeface="Microsoft YaHei"/>
              </a:rPr>
              <a:t>用户反馈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EEDFE21-33E6-4D3B-A1A9-4E6CC4B903F8}"/>
              </a:ext>
            </a:extLst>
          </p:cNvPr>
          <p:cNvSpPr txBox="1"/>
          <p:nvPr/>
        </p:nvSpPr>
        <p:spPr>
          <a:xfrm>
            <a:off x="2571750" y="5562600"/>
            <a:ext cx="1524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F665A"/>
                </a:solidFill>
                <a:latin typeface="Microsoft YaHei"/>
                <a:ea typeface="Microsoft YaHei"/>
              </a:rPr>
              <a:t>接受 / 拒绝 / 退款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E0A856D-4570-40B7-A634-9871BE970E1E}"/>
              </a:ext>
            </a:extLst>
          </p:cNvPr>
          <p:cNvSpPr txBox="1"/>
          <p:nvPr/>
        </p:nvSpPr>
        <p:spPr>
          <a:xfrm>
            <a:off x="571500" y="3619500"/>
            <a:ext cx="114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F1D1A"/>
                </a:solidFill>
                <a:latin typeface="Microsoft YaHei"/>
                <a:ea typeface="Microsoft YaHei"/>
              </a:rPr>
              <a:t>更好排序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5F882DD-85F7-40FD-B4D4-C7EB2E0DB03D}"/>
              </a:ext>
            </a:extLst>
          </p:cNvPr>
          <p:cNvSpPr txBox="1"/>
          <p:nvPr/>
        </p:nvSpPr>
        <p:spPr>
          <a:xfrm>
            <a:off x="571500" y="384810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F665A"/>
                </a:solidFill>
                <a:latin typeface="Microsoft YaHei"/>
                <a:ea typeface="Microsoft YaHei"/>
              </a:rPr>
              <a:t>偏好 / 浪费 / 转化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DD69800-B18F-455C-BC70-9DAF9D72E520}"/>
              </a:ext>
            </a:extLst>
          </p:cNvPr>
          <p:cNvSpPr txBox="1"/>
          <p:nvPr/>
        </p:nvSpPr>
        <p:spPr>
          <a:xfrm>
            <a:off x="6667500" y="2190750"/>
            <a:ext cx="4572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壁垒一 / 规则接入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4B7DC8B-3D0C-4E49-9C7E-ED5F9D433F58}"/>
              </a:ext>
            </a:extLst>
          </p:cNvPr>
          <p:cNvSpPr txBox="1"/>
          <p:nvPr/>
        </p:nvSpPr>
        <p:spPr>
          <a:xfrm>
            <a:off x="6667500" y="2438400"/>
            <a:ext cx="4572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1F1D1A"/>
                </a:solidFill>
                <a:latin typeface="Microsoft YaHei"/>
                <a:ea typeface="Microsoft YaHei"/>
              </a:rPr>
              <a:t>每个平台的满减、券、配送费都不同；接得准、跟得上变更，是脏活也是护城河。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59F6A08-7B47-44B9-9CAB-9F6C85496C32}"/>
              </a:ext>
            </a:extLst>
          </p:cNvPr>
          <p:cNvSpPr/>
          <p:nvPr/>
        </p:nvSpPr>
        <p:spPr>
          <a:xfrm>
            <a:off x="6667500" y="3333750"/>
            <a:ext cx="48387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84BFED3-4D94-4AA7-8870-7EAFEC1D74A6}"/>
              </a:ext>
            </a:extLst>
          </p:cNvPr>
          <p:cNvSpPr txBox="1"/>
          <p:nvPr/>
        </p:nvSpPr>
        <p:spPr>
          <a:xfrm>
            <a:off x="6667500" y="3619500"/>
            <a:ext cx="4572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壁垒二 / 数据飞轮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65E809B-77DE-4ADB-AF1D-DAC8DBB394E4}"/>
              </a:ext>
            </a:extLst>
          </p:cNvPr>
          <p:cNvSpPr txBox="1"/>
          <p:nvPr/>
        </p:nvSpPr>
        <p:spPr>
          <a:xfrm>
            <a:off x="6667500" y="3867150"/>
            <a:ext cx="4572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1F1D1A"/>
                </a:solidFill>
                <a:latin typeface="Microsoft YaHei"/>
                <a:ea typeface="Microsoft YaHei"/>
              </a:rPr>
              <a:t>曝光→接受→下单→退款→复购，越用越准；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F1D1A"/>
                </a:solidFill>
                <a:latin typeface="Microsoft YaHei"/>
                <a:ea typeface="Microsoft YaHei"/>
              </a:rPr>
              <a:t>别人抄得走模型，抄不走数据。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FC0CC62C-6F0D-41D4-9B33-04A6617A77F2}"/>
              </a:ext>
            </a:extLst>
          </p:cNvPr>
          <p:cNvSpPr/>
          <p:nvPr/>
        </p:nvSpPr>
        <p:spPr>
          <a:xfrm>
            <a:off x="6667500" y="4476750"/>
            <a:ext cx="48387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5BB3004-DDAE-4FAC-A939-1D73B3903F55}"/>
              </a:ext>
            </a:extLst>
          </p:cNvPr>
          <p:cNvSpPr txBox="1"/>
          <p:nvPr/>
        </p:nvSpPr>
        <p:spPr>
          <a:xfrm>
            <a:off x="6667500" y="4762500"/>
            <a:ext cx="4572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壁垒三 / 用户信任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C53EA0B7-D34B-4150-9F6F-F2375541E32A}"/>
              </a:ext>
            </a:extLst>
          </p:cNvPr>
          <p:cNvSpPr txBox="1"/>
          <p:nvPr/>
        </p:nvSpPr>
        <p:spPr>
          <a:xfrm>
            <a:off x="6667500" y="5010150"/>
            <a:ext cx="4572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1F1D1A"/>
                </a:solidFill>
                <a:latin typeface="Microsoft YaHei"/>
                <a:ea typeface="Microsoft YaHei"/>
              </a:rPr>
              <a:t>「净省」是可验证的承诺；用户信一次，才会用第二次。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A2E8ED2-6C8F-42B8-8EFE-492ECB585573}"/>
              </a:ext>
            </a:extLst>
          </p:cNvPr>
          <p:cNvSpPr txBox="1"/>
          <p:nvPr/>
        </p:nvSpPr>
        <p:spPr>
          <a:xfrm>
            <a:off x="6667500" y="5810250"/>
            <a:ext cx="48387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F665A"/>
                </a:solidFill>
                <a:latin typeface="Microsoft YaHei"/>
                <a:ea typeface="Microsoft YaHei"/>
              </a:rPr>
              <a:t>今天做外卖凑单，明天复用到商超、买药、到店。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00F2D26-BBD0-4837-A4A4-8FF1D09C19E3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6C18A8C-7A83-414B-ACA9-894F83EC97CE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06 / 竞争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158DD4-F8B8-4CD0-A810-8D1505BC9F9E}"/>
              </a:ext>
            </a:extLst>
          </p:cNvPr>
          <p:cNvSpPr txBox="1"/>
          <p:nvPr/>
        </p:nvSpPr>
        <p:spPr>
          <a:xfrm>
            <a:off x="685800" y="838200"/>
            <a:ext cx="952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现有方案，都不解决「净省」。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9EAFFD9-85A8-4704-8EAF-F827184FDD3F}"/>
              </a:ext>
            </a:extLst>
          </p:cNvPr>
          <p:cNvSpPr txBox="1"/>
          <p:nvPr/>
        </p:nvSpPr>
        <p:spPr>
          <a:xfrm>
            <a:off x="685800" y="16002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要么没嵌进结算，要么不保证净省；右上角是空位。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79A8FDD-2BB1-4D62-BC16-2D62D8E5B516}"/>
              </a:ext>
            </a:extLst>
          </p:cNvPr>
          <p:cNvSpPr txBox="1"/>
          <p:nvPr/>
        </p:nvSpPr>
        <p:spPr>
          <a:xfrm>
            <a:off x="952500" y="20383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保证净省 ↑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7639869-9B19-4305-AEA2-A058353B0E98}"/>
              </a:ext>
            </a:extLst>
          </p:cNvPr>
          <p:cNvSpPr/>
          <p:nvPr/>
        </p:nvSpPr>
        <p:spPr>
          <a:xfrm>
            <a:off x="952500" y="2286000"/>
            <a:ext cx="5334000" cy="3619500"/>
          </a:xfrm>
          <a:prstGeom prst="rect">
            <a:avLst/>
          </a:prstGeom>
          <a:solidFill>
            <a:srgbClr val="FBF7F0"/>
          </a:solidFill>
          <a:ln w="12700">
            <a:solidFill>
              <a:srgbClr val="D9CF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9E9E54C-BCC2-4B31-BAC4-38C1C67C9678}"/>
              </a:ext>
            </a:extLst>
          </p:cNvPr>
          <p:cNvSpPr/>
          <p:nvPr/>
        </p:nvSpPr>
        <p:spPr>
          <a:xfrm>
            <a:off x="3619500" y="2286000"/>
            <a:ext cx="2667000" cy="1809750"/>
          </a:xfrm>
          <a:prstGeom prst="rect">
            <a:avLst/>
          </a:prstGeom>
          <a:solidFill>
            <a:srgbClr val="F3E3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98BBC44-50D0-4230-9FCF-E4AFF7BFC0D5}"/>
              </a:ext>
            </a:extLst>
          </p:cNvPr>
          <p:cNvSpPr/>
          <p:nvPr/>
        </p:nvSpPr>
        <p:spPr>
          <a:xfrm>
            <a:off x="3619500" y="2286000"/>
            <a:ext cx="9525" cy="3619500"/>
          </a:xfrm>
          <a:prstGeom prst="rect">
            <a:avLst/>
          </a:prstGeom>
          <a:solidFill>
            <a:srgbClr val="C9BEB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947695A-8FFC-488F-83CE-926DC6827796}"/>
              </a:ext>
            </a:extLst>
          </p:cNvPr>
          <p:cNvSpPr/>
          <p:nvPr/>
        </p:nvSpPr>
        <p:spPr>
          <a:xfrm>
            <a:off x="952500" y="4095750"/>
            <a:ext cx="5334000" cy="9525"/>
          </a:xfrm>
          <a:prstGeom prst="rect">
            <a:avLst/>
          </a:prstGeom>
          <a:solidFill>
            <a:srgbClr val="C9BEB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2493F7E-CF7B-425D-B198-4FFBEE702CAF}"/>
              </a:ext>
            </a:extLst>
          </p:cNvPr>
          <p:cNvSpPr txBox="1"/>
          <p:nvPr/>
        </p:nvSpPr>
        <p:spPr>
          <a:xfrm>
            <a:off x="4476750" y="6019800"/>
            <a:ext cx="1714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嵌入结算 →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148727A-848F-4F02-AACE-3ADBF1F82A58}"/>
              </a:ext>
            </a:extLst>
          </p:cNvPr>
          <p:cNvSpPr txBox="1"/>
          <p:nvPr/>
        </p:nvSpPr>
        <p:spPr>
          <a:xfrm>
            <a:off x="1143000" y="2571750"/>
            <a:ext cx="21907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665A"/>
                </a:solidFill>
                <a:latin typeface="Microsoft YaHei"/>
                <a:ea typeface="Microsoft YaHei"/>
              </a:rPr>
              <a:t>第三方返利 / 比价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0F27C8E-8557-42BB-9C67-F838D9DD91C0}"/>
              </a:ext>
            </a:extLst>
          </p:cNvPr>
          <p:cNvSpPr txBox="1"/>
          <p:nvPr/>
        </p:nvSpPr>
        <p:spPr>
          <a:xfrm>
            <a:off x="1143000" y="2819400"/>
            <a:ext cx="2190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站外领券，链路长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6B2545-0478-4408-9930-EB320D0C7197}"/>
              </a:ext>
            </a:extLst>
          </p:cNvPr>
          <p:cNvSpPr txBox="1"/>
          <p:nvPr/>
        </p:nvSpPr>
        <p:spPr>
          <a:xfrm>
            <a:off x="3810000" y="2590800"/>
            <a:ext cx="2286000" cy="24384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B9542F"/>
                </a:solidFill>
                <a:latin typeface="Microsoft YaHei"/>
                <a:ea typeface="Microsoft YaHei"/>
              </a:rPr>
              <a:t>刚好 · 净省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2A67343-424F-432A-BC40-731882E7B134}"/>
              </a:ext>
            </a:extLst>
          </p:cNvPr>
          <p:cNvSpPr txBox="1"/>
          <p:nvPr/>
        </p:nvSpPr>
        <p:spPr>
          <a:xfrm>
            <a:off x="3810000" y="2876550"/>
            <a:ext cx="2286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嵌入 + 净省 + 可解释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0328FE5-C821-46D5-AD16-5FC61E13E159}"/>
              </a:ext>
            </a:extLst>
          </p:cNvPr>
          <p:cNvSpPr txBox="1"/>
          <p:nvPr/>
        </p:nvSpPr>
        <p:spPr>
          <a:xfrm>
            <a:off x="1143000" y="4476750"/>
            <a:ext cx="219075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665A"/>
                </a:solidFill>
                <a:latin typeface="Microsoft YaHei"/>
                <a:ea typeface="Microsoft YaHei"/>
              </a:rPr>
              <a:t>AI 点餐助手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390B999-9ED7-47C4-8A1F-14D617B42D36}"/>
              </a:ext>
            </a:extLst>
          </p:cNvPr>
          <p:cNvSpPr txBox="1"/>
          <p:nvPr/>
        </p:nvSpPr>
        <p:spPr>
          <a:xfrm>
            <a:off x="1143000" y="4724400"/>
            <a:ext cx="21907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对话强，交易内核弱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5826D4F-0611-4760-A822-69A871446662}"/>
              </a:ext>
            </a:extLst>
          </p:cNvPr>
          <p:cNvSpPr txBox="1"/>
          <p:nvPr/>
        </p:nvSpPr>
        <p:spPr>
          <a:xfrm>
            <a:off x="3810000" y="4476750"/>
            <a:ext cx="2286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6F665A"/>
                </a:solidFill>
                <a:latin typeface="Microsoft YaHei"/>
                <a:ea typeface="Microsoft YaHei"/>
              </a:rPr>
              <a:t>平台凑单 / 商家工具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4F3D75E-3332-4BFC-AF40-CD5B20B3E5EA}"/>
              </a:ext>
            </a:extLst>
          </p:cNvPr>
          <p:cNvSpPr txBox="1"/>
          <p:nvPr/>
        </p:nvSpPr>
        <p:spPr>
          <a:xfrm>
            <a:off x="3810000" y="4724400"/>
            <a:ext cx="2286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有入口，不保证净省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76E3FED-97CC-4D69-9A23-15E6DB9B26F1}"/>
              </a:ext>
            </a:extLst>
          </p:cNvPr>
          <p:cNvSpPr txBox="1"/>
          <p:nvPr/>
        </p:nvSpPr>
        <p:spPr>
          <a:xfrm>
            <a:off x="6667500" y="2286000"/>
            <a:ext cx="4838700" cy="19812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A8F80"/>
                </a:solidFill>
                <a:latin typeface="Microsoft YaHei"/>
                <a:ea typeface="Microsoft YaHei"/>
              </a:rPr>
              <a:t>空位 =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3A5C651-AEA8-4E69-9D74-FF3F637E3478}"/>
              </a:ext>
            </a:extLst>
          </p:cNvPr>
          <p:cNvSpPr txBox="1"/>
          <p:nvPr/>
        </p:nvSpPr>
        <p:spPr>
          <a:xfrm>
            <a:off x="6667500" y="2552700"/>
            <a:ext cx="4838700" cy="115671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1D1A"/>
                </a:solidFill>
                <a:latin typeface="Microsoft YaHei"/>
                <a:ea typeface="Microsoft YaHei"/>
              </a:rPr>
              <a:t>嵌入结算 ×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1D1A"/>
                </a:solidFill>
                <a:latin typeface="Microsoft YaHei"/>
                <a:ea typeface="Microsoft YaHei"/>
              </a:rPr>
              <a:t>保证净省 ×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B9542F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A6986E1-3BA7-48CF-B3B2-D4ADBA165DF3}"/>
              </a:ext>
            </a:extLst>
          </p:cNvPr>
          <p:cNvSpPr txBox="1"/>
          <p:nvPr/>
        </p:nvSpPr>
        <p:spPr>
          <a:xfrm>
            <a:off x="6667500" y="39052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嵌入结算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3647C27-28AF-40A2-B6CB-45B169378D84}"/>
              </a:ext>
            </a:extLst>
          </p:cNvPr>
          <p:cNvSpPr txBox="1"/>
          <p:nvPr/>
        </p:nvSpPr>
        <p:spPr>
          <a:xfrm>
            <a:off x="6667500" y="41338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在购物车算，不是站外算。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222392B-7B07-4236-B641-25AD888D98D5}"/>
              </a:ext>
            </a:extLst>
          </p:cNvPr>
          <p:cNvSpPr/>
          <p:nvPr/>
        </p:nvSpPr>
        <p:spPr>
          <a:xfrm>
            <a:off x="6667500" y="4419600"/>
            <a:ext cx="48387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7EF86DA-AC06-450F-9579-EF78F0AE6C35}"/>
              </a:ext>
            </a:extLst>
          </p:cNvPr>
          <p:cNvSpPr txBox="1"/>
          <p:nvPr/>
        </p:nvSpPr>
        <p:spPr>
          <a:xfrm>
            <a:off x="6667500" y="461010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保证净省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5ACD26D-1F14-4FBC-9009-0CCE3EAEE1B3}"/>
              </a:ext>
            </a:extLst>
          </p:cNvPr>
          <p:cNvSpPr txBox="1"/>
          <p:nvPr/>
        </p:nvSpPr>
        <p:spPr>
          <a:xfrm>
            <a:off x="6667500" y="483870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净省为负就不推荐。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0B6B5BB3-46A7-4DF4-BDD7-EB6C34050B16}"/>
              </a:ext>
            </a:extLst>
          </p:cNvPr>
          <p:cNvSpPr/>
          <p:nvPr/>
        </p:nvSpPr>
        <p:spPr>
          <a:xfrm>
            <a:off x="6667500" y="5124450"/>
            <a:ext cx="48387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DD855B7-5BB3-4416-A225-9341C906F2DB}"/>
              </a:ext>
            </a:extLst>
          </p:cNvPr>
          <p:cNvSpPr txBox="1"/>
          <p:nvPr/>
        </p:nvSpPr>
        <p:spPr>
          <a:xfrm>
            <a:off x="6667500" y="53149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可解释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C84ADD7-D96D-4C3D-AF84-02DCC063D40A}"/>
              </a:ext>
            </a:extLst>
          </p:cNvPr>
          <p:cNvSpPr txBox="1"/>
          <p:nvPr/>
        </p:nvSpPr>
        <p:spPr>
          <a:xfrm>
            <a:off x="6667500" y="55435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每一分钱都说得清。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409C9FA-BC7F-4828-B8D8-D362BB1C8EEE}"/>
              </a:ext>
            </a:extLst>
          </p:cNvPr>
          <p:cNvSpPr txBox="1"/>
          <p:nvPr/>
        </p:nvSpPr>
        <p:spPr>
          <a:xfrm>
            <a:off x="6667500" y="5905500"/>
            <a:ext cx="48387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这不是又一个推荐列表，是交易决策。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E4ACD8A-3F79-4E91-8A2D-9E65BF5B2515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2721550-DC84-400F-B018-3463DA276FC0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07 / 落地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7F02AA-B518-49E3-AAFE-BE7E6003C493}"/>
              </a:ext>
            </a:extLst>
          </p:cNvPr>
          <p:cNvSpPr txBox="1"/>
          <p:nvPr/>
        </p:nvSpPr>
        <p:spPr>
          <a:xfrm>
            <a:off x="685800" y="838200"/>
            <a:ext cx="85725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12 周，跑通一个城市。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2D5CAA8-D2EF-4C08-9E42-682042D884BC}"/>
              </a:ext>
            </a:extLst>
          </p:cNvPr>
          <p:cNvSpPr txBox="1"/>
          <p:nvPr/>
        </p:nvSpPr>
        <p:spPr>
          <a:xfrm>
            <a:off x="685800" y="16002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一个城市、一个品类、一个购物车入口；先证明净省、增量和体验。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F6D22B0-63DB-47AD-98FD-B3436EC058E5}"/>
              </a:ext>
            </a:extLst>
          </p:cNvPr>
          <p:cNvSpPr txBox="1"/>
          <p:nvPr/>
        </p:nvSpPr>
        <p:spPr>
          <a:xfrm>
            <a:off x="685800" y="2000250"/>
            <a:ext cx="104775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6F665A"/>
                </a:solidFill>
                <a:latin typeface="Microsoft YaHei"/>
                <a:ea typeface="Microsoft YaHei"/>
              </a:rPr>
              <a:t>1 个城市   ·   1 个品类   ·   1 个入口   ·   </a:t>
            </a:r>
            <a:r>
              <a:rPr sz="1800" b="1">
                <a:solidFill>
                  <a:srgbClr val="B9542F"/>
                </a:solidFill>
                <a:latin typeface="Microsoft YaHei"/>
                <a:ea typeface="Microsoft YaHei"/>
              </a:rPr>
              <a:t>12 周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995449F-FAB7-4B16-B9A6-D7563719878B}"/>
              </a:ext>
            </a:extLst>
          </p:cNvPr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C9BEB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E1B8F92-2559-42D9-804B-869DF8A93BCF}"/>
              </a:ext>
            </a:extLst>
          </p:cNvPr>
          <p:cNvSpPr/>
          <p:nvPr/>
        </p:nvSpPr>
        <p:spPr>
          <a:xfrm>
            <a:off x="1676400" y="3200400"/>
            <a:ext cx="76200" cy="7620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8193F1C-52BB-4012-B7B4-E5E254772E8A}"/>
              </a:ext>
            </a:extLst>
          </p:cNvPr>
          <p:cNvSpPr/>
          <p:nvPr/>
        </p:nvSpPr>
        <p:spPr>
          <a:xfrm>
            <a:off x="3771900" y="3200400"/>
            <a:ext cx="76200" cy="7620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B49798C-ED67-4EEA-AF8C-EBB5949910BF}"/>
              </a:ext>
            </a:extLst>
          </p:cNvPr>
          <p:cNvSpPr/>
          <p:nvPr/>
        </p:nvSpPr>
        <p:spPr>
          <a:xfrm>
            <a:off x="5867400" y="3200400"/>
            <a:ext cx="76200" cy="7620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76B870A-D93F-42C1-81A7-4DEE74F99E5A}"/>
              </a:ext>
            </a:extLst>
          </p:cNvPr>
          <p:cNvSpPr/>
          <p:nvPr/>
        </p:nvSpPr>
        <p:spPr>
          <a:xfrm>
            <a:off x="7962900" y="3200400"/>
            <a:ext cx="76200" cy="7620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2C07C9A-9722-4C17-A3DB-EDC732E198E3}"/>
              </a:ext>
            </a:extLst>
          </p:cNvPr>
          <p:cNvSpPr/>
          <p:nvPr/>
        </p:nvSpPr>
        <p:spPr>
          <a:xfrm>
            <a:off x="10058400" y="3200400"/>
            <a:ext cx="76200" cy="76200"/>
          </a:xfrm>
          <a:prstGeom prst="ellipse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9859ADC-895F-4370-807F-8E8407CC5311}"/>
              </a:ext>
            </a:extLst>
          </p:cNvPr>
          <p:cNvSpPr txBox="1"/>
          <p:nvPr/>
        </p:nvSpPr>
        <p:spPr>
          <a:xfrm>
            <a:off x="762000" y="3524250"/>
            <a:ext cx="1905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W1-3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564EDD2-0016-4DF6-84E1-6EB06C71B5EC}"/>
              </a:ext>
            </a:extLst>
          </p:cNvPr>
          <p:cNvSpPr txBox="1"/>
          <p:nvPr/>
        </p:nvSpPr>
        <p:spPr>
          <a:xfrm>
            <a:off x="762000" y="3752850"/>
            <a:ext cx="190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F1D1A"/>
                </a:solidFill>
                <a:latin typeface="Microsoft YaHei"/>
                <a:ea typeface="Microsoft YaHei"/>
              </a:rPr>
              <a:t>数据 / 规则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716056A-FDC2-40C1-9123-D663E25CF270}"/>
              </a:ext>
            </a:extLst>
          </p:cNvPr>
          <p:cNvSpPr txBox="1"/>
          <p:nvPr/>
        </p:nvSpPr>
        <p:spPr>
          <a:xfrm>
            <a:off x="762000" y="4038600"/>
            <a:ext cx="1714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接菜单、优惠、库存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计价 + 建模拟器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931AE3B-6280-4505-818F-839DEC48E814}"/>
              </a:ext>
            </a:extLst>
          </p:cNvPr>
          <p:cNvSpPr txBox="1"/>
          <p:nvPr/>
        </p:nvSpPr>
        <p:spPr>
          <a:xfrm>
            <a:off x="762000" y="47625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E7F68"/>
                </a:solidFill>
                <a:latin typeface="Microsoft YaHei"/>
                <a:ea typeface="Microsoft YaHei"/>
              </a:rPr>
              <a:t>报价一致率 100%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1FDA689-8838-4D44-BC0A-7B81208D0E57}"/>
              </a:ext>
            </a:extLst>
          </p:cNvPr>
          <p:cNvSpPr txBox="1"/>
          <p:nvPr/>
        </p:nvSpPr>
        <p:spPr>
          <a:xfrm>
            <a:off x="2857500" y="3524250"/>
            <a:ext cx="1905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W4-6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4972739-D5D5-4F9D-93BF-BF2124742613}"/>
              </a:ext>
            </a:extLst>
          </p:cNvPr>
          <p:cNvSpPr txBox="1"/>
          <p:nvPr/>
        </p:nvSpPr>
        <p:spPr>
          <a:xfrm>
            <a:off x="2857500" y="3752850"/>
            <a:ext cx="190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F1D1A"/>
                </a:solidFill>
                <a:latin typeface="Microsoft YaHei"/>
                <a:ea typeface="Microsoft YaHei"/>
              </a:rPr>
              <a:t>算法 MVP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9EB9414-B4B4-4045-A810-32286B4CBD50}"/>
              </a:ext>
            </a:extLst>
          </p:cNvPr>
          <p:cNvSpPr txBox="1"/>
          <p:nvPr/>
        </p:nvSpPr>
        <p:spPr>
          <a:xfrm>
            <a:off x="2857500" y="4038600"/>
            <a:ext cx="1714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候选 + 优化器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+ 排序 + 兜底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0E5D72E-38CF-445B-8B93-0EBC1C83B41B}"/>
              </a:ext>
            </a:extLst>
          </p:cNvPr>
          <p:cNvSpPr txBox="1"/>
          <p:nvPr/>
        </p:nvSpPr>
        <p:spPr>
          <a:xfrm>
            <a:off x="2857500" y="47625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E7F68"/>
                </a:solidFill>
                <a:latin typeface="Microsoft YaHei"/>
                <a:ea typeface="Microsoft YaHei"/>
              </a:rPr>
              <a:t>覆盖 70% / 100ms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B82B512-4B89-4216-BEAD-9621E021C11E}"/>
              </a:ext>
            </a:extLst>
          </p:cNvPr>
          <p:cNvSpPr txBox="1"/>
          <p:nvPr/>
        </p:nvSpPr>
        <p:spPr>
          <a:xfrm>
            <a:off x="4953000" y="3524250"/>
            <a:ext cx="1905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W7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234730C-6D8B-44D7-8D89-7BAE1C2C1570}"/>
              </a:ext>
            </a:extLst>
          </p:cNvPr>
          <p:cNvSpPr txBox="1"/>
          <p:nvPr/>
        </p:nvSpPr>
        <p:spPr>
          <a:xfrm>
            <a:off x="4953000" y="3752850"/>
            <a:ext cx="190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F1D1A"/>
                </a:solidFill>
                <a:latin typeface="Microsoft YaHei"/>
                <a:ea typeface="Microsoft YaHei"/>
              </a:rPr>
              <a:t>影子模式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72A92EB-4FE5-44C3-A6DE-3D39647A4BC7}"/>
              </a:ext>
            </a:extLst>
          </p:cNvPr>
          <p:cNvSpPr txBox="1"/>
          <p:nvPr/>
        </p:nvSpPr>
        <p:spPr>
          <a:xfrm>
            <a:off x="4953000" y="4038600"/>
            <a:ext cx="1714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只记录不展示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对比结算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188BDF6-FC5A-474D-B843-E818FA3FCE34}"/>
              </a:ext>
            </a:extLst>
          </p:cNvPr>
          <p:cNvSpPr txBox="1"/>
          <p:nvPr/>
        </p:nvSpPr>
        <p:spPr>
          <a:xfrm>
            <a:off x="4953000" y="47625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E7F68"/>
                </a:solidFill>
                <a:latin typeface="Microsoft YaHei"/>
                <a:ea typeface="Microsoft YaHei"/>
              </a:rPr>
              <a:t>无资损 · 无阻塞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77A94EA-8BBD-4AD5-8009-0B4CD9CCE8B4}"/>
              </a:ext>
            </a:extLst>
          </p:cNvPr>
          <p:cNvSpPr txBox="1"/>
          <p:nvPr/>
        </p:nvSpPr>
        <p:spPr>
          <a:xfrm>
            <a:off x="7048500" y="3524250"/>
            <a:ext cx="1905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W8-11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96138E4-CFB8-4E8C-8BA7-DF922DB3F1F6}"/>
              </a:ext>
            </a:extLst>
          </p:cNvPr>
          <p:cNvSpPr txBox="1"/>
          <p:nvPr/>
        </p:nvSpPr>
        <p:spPr>
          <a:xfrm>
            <a:off x="7048500" y="3752850"/>
            <a:ext cx="190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F1D1A"/>
                </a:solidFill>
                <a:latin typeface="Microsoft YaHei"/>
                <a:ea typeface="Microsoft YaHei"/>
              </a:rPr>
              <a:t>A/B 试点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0654D75-3A07-407D-8734-2D285091800D}"/>
              </a:ext>
            </a:extLst>
          </p:cNvPr>
          <p:cNvSpPr txBox="1"/>
          <p:nvPr/>
        </p:nvSpPr>
        <p:spPr>
          <a:xfrm>
            <a:off x="7048500" y="4038600"/>
            <a:ext cx="1714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单城市 + 快餐/奶茶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+ 午高峰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24258BB-B51F-4180-A5A6-8CD2A82D296B}"/>
              </a:ext>
            </a:extLst>
          </p:cNvPr>
          <p:cNvSpPr txBox="1"/>
          <p:nvPr/>
        </p:nvSpPr>
        <p:spPr>
          <a:xfrm>
            <a:off x="7048500" y="47625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E7F68"/>
                </a:solidFill>
                <a:latin typeface="Microsoft YaHei"/>
                <a:ea typeface="Microsoft YaHei"/>
              </a:rPr>
              <a:t>转化 +1-2 个百分点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ED80CCD-9EC5-4502-A6A9-4BE8CC65E725}"/>
              </a:ext>
            </a:extLst>
          </p:cNvPr>
          <p:cNvSpPr txBox="1"/>
          <p:nvPr/>
        </p:nvSpPr>
        <p:spPr>
          <a:xfrm>
            <a:off x="9144000" y="3524250"/>
            <a:ext cx="1905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W12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B88E11C-406F-432C-A561-A54D8C0E57D9}"/>
              </a:ext>
            </a:extLst>
          </p:cNvPr>
          <p:cNvSpPr txBox="1"/>
          <p:nvPr/>
        </p:nvSpPr>
        <p:spPr>
          <a:xfrm>
            <a:off x="9144000" y="3752850"/>
            <a:ext cx="190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F1D1A"/>
                </a:solidFill>
                <a:latin typeface="Microsoft YaHei"/>
                <a:ea typeface="Microsoft YaHei"/>
              </a:rPr>
              <a:t>复盘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D3CC370-2536-433F-B6F7-7EEC19DD7AB6}"/>
              </a:ext>
            </a:extLst>
          </p:cNvPr>
          <p:cNvSpPr txBox="1"/>
          <p:nvPr/>
        </p:nvSpPr>
        <p:spPr>
          <a:xfrm>
            <a:off x="9144000" y="4038600"/>
            <a:ext cx="1714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实验报告、商业测算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推广方案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1F55534-61D3-4106-B3D5-A86D5475038B}"/>
              </a:ext>
            </a:extLst>
          </p:cNvPr>
          <p:cNvSpPr txBox="1"/>
          <p:nvPr/>
        </p:nvSpPr>
        <p:spPr>
          <a:xfrm>
            <a:off x="9144000" y="47625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E7F68"/>
                </a:solidFill>
                <a:latin typeface="Microsoft YaHei"/>
                <a:ea typeface="Microsoft YaHei"/>
              </a:rPr>
              <a:t>决定是否规模化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A782335-F15F-42E9-994B-7BFF7977B176}"/>
              </a:ext>
            </a:extLst>
          </p:cNvPr>
          <p:cNvSpPr txBox="1"/>
          <p:nvPr/>
        </p:nvSpPr>
        <p:spPr>
          <a:xfrm>
            <a:off x="762000" y="5295900"/>
            <a:ext cx="1524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灰度节奏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65EBF03-B992-4BFC-8A67-B4AC90842218}"/>
              </a:ext>
            </a:extLst>
          </p:cNvPr>
          <p:cNvSpPr txBox="1"/>
          <p:nvPr/>
        </p:nvSpPr>
        <p:spPr>
          <a:xfrm>
            <a:off x="762000" y="5562600"/>
            <a:ext cx="1047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B9542F"/>
                </a:solidFill>
                <a:latin typeface="Georgia"/>
                <a:ea typeface="Georgia"/>
              </a:rPr>
              <a:t>5%</a:t>
            </a:r>
            <a:r>
              <a:rPr sz="1400">
                <a:solidFill>
                  <a:srgbClr val="6F665A"/>
                </a:solidFill>
                <a:latin typeface="Georgia"/>
                <a:ea typeface="Georgia"/>
              </a:rPr>
              <a:t>   →   20%   →   50%   →   </a:t>
            </a:r>
            <a:r>
              <a:rPr sz="1400" b="1">
                <a:solidFill>
                  <a:srgbClr val="1F1D1A"/>
                </a:solidFill>
                <a:latin typeface="Microsoft YaHei"/>
                <a:ea typeface="Microsoft YaHei"/>
              </a:rPr>
              <a:t>全量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E1604CE-A5A8-4A3D-BC31-D727604A4D6C}"/>
              </a:ext>
            </a:extLst>
          </p:cNvPr>
          <p:cNvSpPr txBox="1"/>
          <p:nvPr/>
        </p:nvSpPr>
        <p:spPr>
          <a:xfrm>
            <a:off x="762000" y="5905500"/>
            <a:ext cx="1047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每级设门槛：一致性 / 延迟 / 退款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712E0C6-3567-43DF-8C10-57D1169A42F9}"/>
              </a:ext>
            </a:extLst>
          </p:cNvPr>
          <p:cNvSpPr txBox="1"/>
          <p:nvPr/>
        </p:nvSpPr>
        <p:spPr>
          <a:xfrm>
            <a:off x="762000" y="6286500"/>
            <a:ext cx="1047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A8F80"/>
                </a:solidFill>
                <a:latin typeface="Microsoft YaHei"/>
                <a:ea typeface="Microsoft YaHei"/>
              </a:rPr>
              <a:t>关键依赖：数据权限 + 计价接口必须在 W1-W2 到位。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B8F65A7E-63F1-4C03-9B22-073DA584DDCC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9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58F11C0-7326-4AEB-BE58-5F13C9CAC235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08 / 价值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ADD98C-6104-4D17-B856-C44A1CFD49BE}"/>
              </a:ext>
            </a:extLst>
          </p:cNvPr>
          <p:cNvSpPr txBox="1"/>
          <p:nvPr/>
        </p:nvSpPr>
        <p:spPr>
          <a:xfrm>
            <a:off x="685800" y="838200"/>
            <a:ext cx="952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平台投入 1 元，拿回 3.8 元。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F48A39E-2D2D-490B-BCB4-90761B27C8AC}"/>
              </a:ext>
            </a:extLst>
          </p:cNvPr>
          <p:cNvSpPr txBox="1"/>
          <p:nvPr/>
        </p:nvSpPr>
        <p:spPr>
          <a:xfrm>
            <a:off x="685800" y="16002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示例测算：日均 100 万单的平台，只算增量贡献毛利，不算留存和品牌。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312F2EC-D628-47EF-892E-43549BE9B44E}"/>
              </a:ext>
            </a:extLst>
          </p:cNvPr>
          <p:cNvSpPr txBox="1"/>
          <p:nvPr/>
        </p:nvSpPr>
        <p:spPr>
          <a:xfrm>
            <a:off x="685800" y="2286000"/>
            <a:ext cx="2381250" cy="838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B9542F"/>
                </a:solidFill>
                <a:latin typeface="Georgia"/>
                <a:ea typeface="Georgia"/>
              </a:rPr>
              <a:t>3.8×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667B20D-C017-4CEB-ABC1-30D56255013D}"/>
              </a:ext>
            </a:extLst>
          </p:cNvPr>
          <p:cNvSpPr txBox="1"/>
          <p:nvPr/>
        </p:nvSpPr>
        <p:spPr>
          <a:xfrm>
            <a:off x="685800" y="3181350"/>
            <a:ext cx="2381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F1D1A"/>
                </a:solidFill>
                <a:latin typeface="Microsoft YaHei"/>
                <a:ea typeface="Microsoft YaHei"/>
              </a:rPr>
              <a:t>平台 ROI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7B3B670-1937-457D-A273-AD766AD8951F}"/>
              </a:ext>
            </a:extLst>
          </p:cNvPr>
          <p:cNvSpPr txBox="1"/>
          <p:nvPr/>
        </p:nvSpPr>
        <p:spPr>
          <a:xfrm>
            <a:off x="685800" y="3390900"/>
            <a:ext cx="238125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增量毛利 / 服务费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17E7B5-5F59-49D6-BB7E-60261156C8EC}"/>
              </a:ext>
            </a:extLst>
          </p:cNvPr>
          <p:cNvSpPr txBox="1"/>
          <p:nvPr/>
        </p:nvSpPr>
        <p:spPr>
          <a:xfrm>
            <a:off x="3429000" y="2362200"/>
            <a:ext cx="238125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F1D1A"/>
                </a:solidFill>
                <a:latin typeface="Georgia"/>
                <a:ea typeface="Georgia"/>
              </a:rPr>
              <a:t>4,200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9BD15F-6529-465A-BEBC-728861372265}"/>
              </a:ext>
            </a:extLst>
          </p:cNvPr>
          <p:cNvSpPr txBox="1"/>
          <p:nvPr/>
        </p:nvSpPr>
        <p:spPr>
          <a:xfrm>
            <a:off x="3429000" y="3181350"/>
            <a:ext cx="2381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F1D1A"/>
                </a:solidFill>
                <a:latin typeface="Microsoft YaHei"/>
                <a:ea typeface="Microsoft YaHei"/>
              </a:rPr>
              <a:t>增量订单 / 日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FD4F1E7-4427-4BC1-B231-9D7497D0569E}"/>
              </a:ext>
            </a:extLst>
          </p:cNvPr>
          <p:cNvSpPr txBox="1"/>
          <p:nvPr/>
        </p:nvSpPr>
        <p:spPr>
          <a:xfrm>
            <a:off x="3429000" y="3390900"/>
            <a:ext cx="238125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示例：日均 100 万单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E6DEA2-4A51-4C8B-A2A2-1158BC21FB54}"/>
              </a:ext>
            </a:extLst>
          </p:cNvPr>
          <p:cNvSpPr txBox="1"/>
          <p:nvPr/>
        </p:nvSpPr>
        <p:spPr>
          <a:xfrm>
            <a:off x="6172200" y="2362200"/>
            <a:ext cx="238125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F1D1A"/>
                </a:solidFill>
                <a:latin typeface="Microsoft YaHei"/>
                <a:ea typeface="Microsoft YaHei"/>
              </a:rPr>
              <a:t>383 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012D259-87B8-4238-A2C1-67BAED5BBA33}"/>
              </a:ext>
            </a:extLst>
          </p:cNvPr>
          <p:cNvSpPr txBox="1"/>
          <p:nvPr/>
        </p:nvSpPr>
        <p:spPr>
          <a:xfrm>
            <a:off x="6172200" y="3181350"/>
            <a:ext cx="2381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F1D1A"/>
                </a:solidFill>
                <a:latin typeface="Microsoft YaHei"/>
                <a:ea typeface="Microsoft YaHei"/>
              </a:rPr>
              <a:t>增量贡献毛利 / 年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3531704-B7CA-494D-9FD1-B237026A04AA}"/>
              </a:ext>
            </a:extLst>
          </p:cNvPr>
          <p:cNvSpPr txBox="1"/>
          <p:nvPr/>
        </p:nvSpPr>
        <p:spPr>
          <a:xfrm>
            <a:off x="6172200" y="3390900"/>
            <a:ext cx="238125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未计留存 / 品牌增益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F8E7019-9417-46E7-8CB6-039E8C8B91EC}"/>
              </a:ext>
            </a:extLst>
          </p:cNvPr>
          <p:cNvSpPr txBox="1"/>
          <p:nvPr/>
        </p:nvSpPr>
        <p:spPr>
          <a:xfrm>
            <a:off x="8915400" y="2400300"/>
            <a:ext cx="2667000" cy="7429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9542F"/>
                </a:solidFill>
                <a:latin typeface="Microsoft YaHei"/>
                <a:ea typeface="Microsoft YaHei"/>
              </a:rPr>
              <a:t>1,533 万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F28B435-96EF-4706-8CE2-B67B27F97DC5}"/>
              </a:ext>
            </a:extLst>
          </p:cNvPr>
          <p:cNvSpPr txBox="1"/>
          <p:nvPr/>
        </p:nvSpPr>
        <p:spPr>
          <a:xfrm>
            <a:off x="8915400" y="3181350"/>
            <a:ext cx="23812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F1D1A"/>
                </a:solidFill>
                <a:latin typeface="Microsoft YaHei"/>
                <a:ea typeface="Microsoft YaHei"/>
              </a:rPr>
              <a:t>用户净省 / 年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F3B0442-739F-4665-8D92-2E1AA7B39A9B}"/>
              </a:ext>
            </a:extLst>
          </p:cNvPr>
          <p:cNvSpPr txBox="1"/>
          <p:nvPr/>
        </p:nvSpPr>
        <p:spPr>
          <a:xfrm>
            <a:off x="8915400" y="3390900"/>
            <a:ext cx="2381250" cy="1524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2 元/单 × 2.1 万单/日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1A1B4514-46E2-47CC-8F03-050CC7B00EA5}"/>
              </a:ext>
            </a:extLst>
          </p:cNvPr>
          <p:cNvSpPr/>
          <p:nvPr/>
        </p:nvSpPr>
        <p:spPr>
          <a:xfrm>
            <a:off x="3200400" y="2286000"/>
            <a:ext cx="9525" cy="1333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E1210E1-6EC9-49F0-BDD8-CFD391E83803}"/>
              </a:ext>
            </a:extLst>
          </p:cNvPr>
          <p:cNvSpPr/>
          <p:nvPr/>
        </p:nvSpPr>
        <p:spPr>
          <a:xfrm>
            <a:off x="5943600" y="2286000"/>
            <a:ext cx="9525" cy="1333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4987184-F86A-4019-A19C-FC7F9E72F647}"/>
              </a:ext>
            </a:extLst>
          </p:cNvPr>
          <p:cNvSpPr/>
          <p:nvPr/>
        </p:nvSpPr>
        <p:spPr>
          <a:xfrm>
            <a:off x="8686800" y="2286000"/>
            <a:ext cx="9525" cy="1333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CDAFB2E-B4B0-4DA4-BE12-CF32EC3B517F}"/>
              </a:ext>
            </a:extLst>
          </p:cNvPr>
          <p:cNvSpPr/>
          <p:nvPr/>
        </p:nvSpPr>
        <p:spPr>
          <a:xfrm>
            <a:off x="685800" y="3810000"/>
            <a:ext cx="108204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5FCDF3C-851F-4D43-AB63-05D4000C07C3}"/>
              </a:ext>
            </a:extLst>
          </p:cNvPr>
          <p:cNvSpPr txBox="1"/>
          <p:nvPr/>
        </p:nvSpPr>
        <p:spPr>
          <a:xfrm>
            <a:off x="685800" y="4000500"/>
            <a:ext cx="4953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测算口径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72A7AC9-4A1A-4743-A920-A2C525099999}"/>
              </a:ext>
            </a:extLst>
          </p:cNvPr>
          <p:cNvSpPr txBox="1"/>
          <p:nvPr/>
        </p:nvSpPr>
        <p:spPr>
          <a:xfrm>
            <a:off x="685800" y="4248150"/>
            <a:ext cx="4953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日均订单 100 万单；差一点订单 15%；覆盖率 70%；接受率 20%；</a:t>
            </a:r>
          </a:p>
          <a:p>
            <a:pPr algn="l">
              <a:lnSpc>
                <a:spcPct val="145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接受方案中原本会放弃 20%；单均贡献毛利 2.5 元；</a:t>
            </a:r>
          </a:p>
          <a:p>
            <a:pPr algn="l">
              <a:lnSpc>
                <a:spcPct val="145000"/>
              </a:lnSpc>
            </a:pPr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服务费 100 万元/年。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E929162-D622-424C-9688-DEB4D3737D15}"/>
              </a:ext>
            </a:extLst>
          </p:cNvPr>
          <p:cNvSpPr txBox="1"/>
          <p:nvPr/>
        </p:nvSpPr>
        <p:spPr>
          <a:xfrm>
            <a:off x="685800" y="5238750"/>
            <a:ext cx="4953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年化价值 = 目标订单 × 覆盖率 × 接受率 × 增量转化率</a:t>
            </a:r>
          </a:p>
          <a:p>
            <a:pPr algn="l">
              <a:lnSpc>
                <a:spcPct val="120000"/>
              </a:lnSpc>
            </a:pPr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× 单均毛利 × 365 + 留存 − 服务成本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E074DCD-C25D-44C7-80B7-2EABB572CB37}"/>
              </a:ext>
            </a:extLst>
          </p:cNvPr>
          <p:cNvSpPr txBox="1"/>
          <p:nvPr/>
        </p:nvSpPr>
        <p:spPr>
          <a:xfrm>
            <a:off x="6477000" y="4000500"/>
            <a:ext cx="4762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价值拆解（万元 / 年）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D8D7F3F-3647-4088-8663-2A4FD4C88345}"/>
              </a:ext>
            </a:extLst>
          </p:cNvPr>
          <p:cNvSpPr txBox="1"/>
          <p:nvPr/>
        </p:nvSpPr>
        <p:spPr>
          <a:xfrm>
            <a:off x="6477000" y="4343400"/>
            <a:ext cx="857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增量毛利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BC11C1A8-5021-487B-ACF0-B39F9366F744}"/>
              </a:ext>
            </a:extLst>
          </p:cNvPr>
          <p:cNvSpPr/>
          <p:nvPr/>
        </p:nvSpPr>
        <p:spPr>
          <a:xfrm>
            <a:off x="7429500" y="4343400"/>
            <a:ext cx="3619500" cy="171450"/>
          </a:xfrm>
          <a:prstGeom prst="rect">
            <a:avLst/>
          </a:prstGeom>
          <a:solidFill>
            <a:srgbClr val="B9542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AE65017-BAA4-4027-B0E8-5A8041CC9B20}"/>
              </a:ext>
            </a:extLst>
          </p:cNvPr>
          <p:cNvSpPr txBox="1"/>
          <p:nvPr/>
        </p:nvSpPr>
        <p:spPr>
          <a:xfrm>
            <a:off x="11201400" y="4343400"/>
            <a:ext cx="3429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1F1D1A"/>
                </a:solidFill>
                <a:latin typeface="Georgia"/>
                <a:ea typeface="Georgia"/>
              </a:rPr>
              <a:t>383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C3339B9-AF4E-431B-8CBE-F06A46C464E5}"/>
              </a:ext>
            </a:extLst>
          </p:cNvPr>
          <p:cNvSpPr txBox="1"/>
          <p:nvPr/>
        </p:nvSpPr>
        <p:spPr>
          <a:xfrm>
            <a:off x="6477000" y="4724400"/>
            <a:ext cx="857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服务费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DE12F45E-86D5-4AAB-9DAB-C07CE889ED68}"/>
              </a:ext>
            </a:extLst>
          </p:cNvPr>
          <p:cNvSpPr/>
          <p:nvPr/>
        </p:nvSpPr>
        <p:spPr>
          <a:xfrm>
            <a:off x="7429500" y="4724400"/>
            <a:ext cx="942975" cy="171450"/>
          </a:xfrm>
          <a:prstGeom prst="rect">
            <a:avLst/>
          </a:prstGeom>
          <a:solidFill>
            <a:srgbClr val="6E7F6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69B58AD-0BC2-4579-8CA8-D2C958B28503}"/>
              </a:ext>
            </a:extLst>
          </p:cNvPr>
          <p:cNvSpPr txBox="1"/>
          <p:nvPr/>
        </p:nvSpPr>
        <p:spPr>
          <a:xfrm>
            <a:off x="11201400" y="4724400"/>
            <a:ext cx="3429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1F1D1A"/>
                </a:solidFill>
                <a:latin typeface="Georgia"/>
                <a:ea typeface="Georgia"/>
              </a:rPr>
              <a:t>100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D74BE7E-C1E0-417F-8447-680639559FCC}"/>
              </a:ext>
            </a:extLst>
          </p:cNvPr>
          <p:cNvSpPr txBox="1"/>
          <p:nvPr/>
        </p:nvSpPr>
        <p:spPr>
          <a:xfrm>
            <a:off x="6477000" y="5105400"/>
            <a:ext cx="8572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F665A"/>
                </a:solidFill>
                <a:latin typeface="Microsoft YaHei"/>
                <a:ea typeface="Microsoft YaHei"/>
              </a:rPr>
              <a:t>净收益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7C411EE8-B196-44BE-BC4F-E74AF6EA7336}"/>
              </a:ext>
            </a:extLst>
          </p:cNvPr>
          <p:cNvSpPr/>
          <p:nvPr/>
        </p:nvSpPr>
        <p:spPr>
          <a:xfrm>
            <a:off x="7429500" y="5105400"/>
            <a:ext cx="2676525" cy="171450"/>
          </a:xfrm>
          <a:prstGeom prst="rect">
            <a:avLst/>
          </a:prstGeom>
          <a:solidFill>
            <a:srgbClr val="1F1D1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9D440EC-68A4-4794-8C29-DDB0BDB37484}"/>
              </a:ext>
            </a:extLst>
          </p:cNvPr>
          <p:cNvSpPr txBox="1"/>
          <p:nvPr/>
        </p:nvSpPr>
        <p:spPr>
          <a:xfrm>
            <a:off x="11201400" y="5105400"/>
            <a:ext cx="3429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1F1D1A"/>
                </a:solidFill>
                <a:latin typeface="Georgia"/>
                <a:ea typeface="Georgia"/>
              </a:rPr>
              <a:t>283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4D822658-7280-4009-A1DE-BB368A5F9A80}"/>
              </a:ext>
            </a:extLst>
          </p:cNvPr>
          <p:cNvSpPr/>
          <p:nvPr/>
        </p:nvSpPr>
        <p:spPr>
          <a:xfrm>
            <a:off x="6477000" y="5391150"/>
            <a:ext cx="50292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88A7A6C-8E97-4DF2-B4F0-C28BAFECE965}"/>
              </a:ext>
            </a:extLst>
          </p:cNvPr>
          <p:cNvSpPr txBox="1"/>
          <p:nvPr/>
        </p:nvSpPr>
        <p:spPr>
          <a:xfrm>
            <a:off x="6477000" y="5486400"/>
            <a:ext cx="4762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9A8F80"/>
                </a:solidFill>
                <a:latin typeface="Microsoft YaHei"/>
                <a:ea typeface="Microsoft YaHei"/>
              </a:rPr>
              <a:t>未计留存 / 品牌增益；服务费为示例定价。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D9482FF-471D-44A4-AB6B-14D5451356B3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3A27722-4113-4D59-9FD2-88243FF0ED64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09 / 商业模式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D0733B-2D8F-4A55-B1DB-9434528ADFA9}"/>
              </a:ext>
            </a:extLst>
          </p:cNvPr>
          <p:cNvSpPr txBox="1"/>
          <p:nvPr/>
        </p:nvSpPr>
        <p:spPr>
          <a:xfrm>
            <a:off x="685800" y="838200"/>
            <a:ext cx="9525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向平台收费，不向用户收费。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CB7106-E583-475D-A10E-0D1565859DD7}"/>
              </a:ext>
            </a:extLst>
          </p:cNvPr>
          <p:cNvSpPr txBox="1"/>
          <p:nvPr/>
        </p:nvSpPr>
        <p:spPr>
          <a:xfrm>
            <a:off x="685800" y="1600200"/>
            <a:ext cx="100012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平台是买单方，用户是使用者；先试点，再 SaaS，最后按效果分成。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99B32A-703E-4E94-807D-6BBB086F594B}"/>
              </a:ext>
            </a:extLst>
          </p:cNvPr>
          <p:cNvSpPr txBox="1"/>
          <p:nvPr/>
        </p:nvSpPr>
        <p:spPr>
          <a:xfrm>
            <a:off x="685800" y="20002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B2B2C · 平台买单 · 用户免费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66E7986-32AC-4D9E-90EF-976638E5C9F9}"/>
              </a:ext>
            </a:extLst>
          </p:cNvPr>
          <p:cNvSpPr/>
          <p:nvPr/>
        </p:nvSpPr>
        <p:spPr>
          <a:xfrm>
            <a:off x="4114800" y="2381250"/>
            <a:ext cx="9525" cy="295275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2B2EA8E-03FD-410D-ADDA-FC3E97A141F1}"/>
              </a:ext>
            </a:extLst>
          </p:cNvPr>
          <p:cNvSpPr/>
          <p:nvPr/>
        </p:nvSpPr>
        <p:spPr>
          <a:xfrm>
            <a:off x="7772400" y="2381250"/>
            <a:ext cx="9525" cy="295275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AFF9989-6ED1-410B-8B5B-D5E849F81674}"/>
              </a:ext>
            </a:extLst>
          </p:cNvPr>
          <p:cNvSpPr txBox="1"/>
          <p:nvPr/>
        </p:nvSpPr>
        <p:spPr>
          <a:xfrm>
            <a:off x="685800" y="3619500"/>
            <a:ext cx="9525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9542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F7766D-AC36-4858-A074-77E2338BB70A}"/>
              </a:ext>
            </a:extLst>
          </p:cNvPr>
          <p:cNvSpPr txBox="1"/>
          <p:nvPr/>
        </p:nvSpPr>
        <p:spPr>
          <a:xfrm>
            <a:off x="685800" y="4343400"/>
            <a:ext cx="304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试点项目费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988E005-90FB-4994-B7A0-7AF33B188709}"/>
              </a:ext>
            </a:extLst>
          </p:cNvPr>
          <p:cNvSpPr txBox="1"/>
          <p:nvPr/>
        </p:nvSpPr>
        <p:spPr>
          <a:xfrm>
            <a:off x="685800" y="4686300"/>
            <a:ext cx="3048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6F665A"/>
                </a:solidFill>
                <a:latin typeface="Microsoft YaHei"/>
                <a:ea typeface="Microsoft YaHei"/>
              </a:rPr>
              <a:t>12 周联合试点，按成本或固定费用。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F1DC46E-D7DF-47E8-BF27-1C8197AFF13D}"/>
              </a:ext>
            </a:extLst>
          </p:cNvPr>
          <p:cNvSpPr txBox="1"/>
          <p:nvPr/>
        </p:nvSpPr>
        <p:spPr>
          <a:xfrm>
            <a:off x="685800" y="529590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验证价值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623ED20-D74C-4DFD-B88B-1913833C1D7F}"/>
              </a:ext>
            </a:extLst>
          </p:cNvPr>
          <p:cNvSpPr txBox="1"/>
          <p:nvPr/>
        </p:nvSpPr>
        <p:spPr>
          <a:xfrm>
            <a:off x="4343400" y="3048000"/>
            <a:ext cx="9525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9542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94279A-4B0E-4B52-909E-18237E49E0D0}"/>
              </a:ext>
            </a:extLst>
          </p:cNvPr>
          <p:cNvSpPr txBox="1"/>
          <p:nvPr/>
        </p:nvSpPr>
        <p:spPr>
          <a:xfrm>
            <a:off x="4343400" y="3771900"/>
            <a:ext cx="304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SaaS / API 年费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698ACD7-4AC8-4165-AC53-737404823C66}"/>
              </a:ext>
            </a:extLst>
          </p:cNvPr>
          <p:cNvSpPr txBox="1"/>
          <p:nvPr/>
        </p:nvSpPr>
        <p:spPr>
          <a:xfrm>
            <a:off x="4343400" y="4114800"/>
            <a:ext cx="3048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6F665A"/>
                </a:solidFill>
                <a:latin typeface="Microsoft YaHei"/>
                <a:ea typeface="Microsoft YaHei"/>
              </a:rPr>
              <a:t>按平台 / 城市 / 调用量收费。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99A85FD-1CF9-484A-BB74-8EFFD6464461}"/>
              </a:ext>
            </a:extLst>
          </p:cNvPr>
          <p:cNvSpPr txBox="1"/>
          <p:nvPr/>
        </p:nvSpPr>
        <p:spPr>
          <a:xfrm>
            <a:off x="4343400" y="472440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6E7F68"/>
                </a:solidFill>
                <a:latin typeface="Microsoft YaHei"/>
                <a:ea typeface="Microsoft YaHei"/>
              </a:rPr>
              <a:t>规模化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FF2B0EC-836D-4B3E-BB96-0B6329718018}"/>
              </a:ext>
            </a:extLst>
          </p:cNvPr>
          <p:cNvSpPr txBox="1"/>
          <p:nvPr/>
        </p:nvSpPr>
        <p:spPr>
          <a:xfrm>
            <a:off x="8001000" y="2476500"/>
            <a:ext cx="9525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9542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F25F214-A4B6-4AD0-AFE1-8BEDBADDDFB5}"/>
              </a:ext>
            </a:extLst>
          </p:cNvPr>
          <p:cNvSpPr txBox="1"/>
          <p:nvPr/>
        </p:nvSpPr>
        <p:spPr>
          <a:xfrm>
            <a:off x="8001000" y="3200400"/>
            <a:ext cx="304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效果分成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FA35ED1-9679-4730-9CDE-09CBE828878B}"/>
              </a:ext>
            </a:extLst>
          </p:cNvPr>
          <p:cNvSpPr txBox="1"/>
          <p:nvPr/>
        </p:nvSpPr>
        <p:spPr>
          <a:xfrm>
            <a:off x="8001000" y="3543300"/>
            <a:ext cx="304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6F665A"/>
                </a:solidFill>
                <a:latin typeface="Microsoft YaHei"/>
                <a:ea typeface="Microsoft YaHei"/>
              </a:rPr>
              <a:t>按增量完成订单或补贴效率分成；和平台利益绑定。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DC07CD0-4F74-4F2E-A508-C107C7F1E75D}"/>
              </a:ext>
            </a:extLst>
          </p:cNvPr>
          <p:cNvSpPr txBox="1"/>
          <p:nvPr/>
        </p:nvSpPr>
        <p:spPr>
          <a:xfrm>
            <a:off x="8001000" y="430530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9542F"/>
                </a:solidFill>
                <a:latin typeface="Microsoft YaHei"/>
                <a:ea typeface="Microsoft YaHei"/>
              </a:rPr>
              <a:t>长期收入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AEF38FA9-7360-4FFA-9D15-EB4CAC9E67F3}"/>
              </a:ext>
            </a:extLst>
          </p:cNvPr>
          <p:cNvSpPr/>
          <p:nvPr/>
        </p:nvSpPr>
        <p:spPr>
          <a:xfrm>
            <a:off x="685800" y="5619750"/>
            <a:ext cx="108204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4B1B0C7-BC1E-4A36-9922-848A4E6D0356}"/>
              </a:ext>
            </a:extLst>
          </p:cNvPr>
          <p:cNvSpPr txBox="1"/>
          <p:nvPr/>
        </p:nvSpPr>
        <p:spPr>
          <a:xfrm>
            <a:off x="685800" y="5810250"/>
            <a:ext cx="1047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6F665A"/>
                </a:solidFill>
                <a:latin typeface="Microsoft YaHei"/>
                <a:ea typeface="Microsoft YaHei"/>
              </a:rPr>
              <a:t>扩展：外卖 → 商超 / 买药 / 到店 → 银行权益平台 → 商家 SaaS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D03B11B-0AA1-4423-933E-7D4E7F7A8B85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4984A76-BA3E-424F-8C32-847D00A379BF}"/>
              </a:ext>
            </a:extLst>
          </p:cNvPr>
          <p:cNvSpPr txBox="1"/>
          <p:nvPr/>
        </p:nvSpPr>
        <p:spPr>
          <a:xfrm>
            <a:off x="685800" y="4953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10 / 团队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702341C-BF83-45C0-9325-9880A0BAC6D4}"/>
              </a:ext>
            </a:extLst>
          </p:cNvPr>
          <p:cNvSpPr txBox="1"/>
          <p:nvPr/>
        </p:nvSpPr>
        <p:spPr>
          <a:xfrm>
            <a:off x="685800" y="838200"/>
            <a:ext cx="85725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F1D1A"/>
                </a:solidFill>
                <a:latin typeface="Microsoft YaHei"/>
                <a:ea typeface="Microsoft YaHei"/>
              </a:rPr>
              <a:t>三类人，缺一不可。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7C9CC24-517A-4384-9FF1-D1C030991782}"/>
              </a:ext>
            </a:extLst>
          </p:cNvPr>
          <p:cNvSpPr txBox="1"/>
          <p:nvPr/>
        </p:nvSpPr>
        <p:spPr>
          <a:xfrm>
            <a:off x="685800" y="16002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F665A"/>
                </a:solidFill>
                <a:latin typeface="Microsoft YaHei"/>
                <a:ea typeface="Microsoft YaHei"/>
              </a:rPr>
              <a:t>不是堆履历，是证明这三件事有人能搞定。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904559E-1ED7-429B-8BF3-8753F9E9E0B0}"/>
              </a:ext>
            </a:extLst>
          </p:cNvPr>
          <p:cNvSpPr/>
          <p:nvPr/>
        </p:nvSpPr>
        <p:spPr>
          <a:xfrm>
            <a:off x="4114800" y="2286000"/>
            <a:ext cx="9525" cy="295275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DCA067E-C52C-4EF1-A066-3095D8C18058}"/>
              </a:ext>
            </a:extLst>
          </p:cNvPr>
          <p:cNvSpPr/>
          <p:nvPr/>
        </p:nvSpPr>
        <p:spPr>
          <a:xfrm>
            <a:off x="7772400" y="2286000"/>
            <a:ext cx="9525" cy="295275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792A77F-B083-460E-B9AB-804A245C9C86}"/>
              </a:ext>
            </a:extLst>
          </p:cNvPr>
          <p:cNvSpPr txBox="1"/>
          <p:nvPr/>
        </p:nvSpPr>
        <p:spPr>
          <a:xfrm>
            <a:off x="685800" y="2476500"/>
            <a:ext cx="952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9542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1F32E84-7422-4F26-862B-3F689C7C161C}"/>
              </a:ext>
            </a:extLst>
          </p:cNvPr>
          <p:cNvSpPr txBox="1"/>
          <p:nvPr/>
        </p:nvSpPr>
        <p:spPr>
          <a:xfrm>
            <a:off x="685800" y="3086100"/>
            <a:ext cx="304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算法 / 运筹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6E371D9-9DE5-49AE-98BF-B6925FF7B9D0}"/>
              </a:ext>
            </a:extLst>
          </p:cNvPr>
          <p:cNvSpPr txBox="1"/>
          <p:nvPr/>
        </p:nvSpPr>
        <p:spPr>
          <a:xfrm>
            <a:off x="685800" y="3429000"/>
            <a:ext cx="304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6E7F68"/>
                </a:solidFill>
                <a:latin typeface="Microsoft YaHei"/>
                <a:ea typeface="Microsoft YaHei"/>
              </a:rPr>
              <a:t>把凑单算准、算快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2E13C1B-F330-4D17-ABCB-40218F661982}"/>
              </a:ext>
            </a:extLst>
          </p:cNvPr>
          <p:cNvSpPr txBox="1"/>
          <p:nvPr/>
        </p:nvSpPr>
        <p:spPr>
          <a:xfrm>
            <a:off x="685800" y="377190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背包 / 整数规划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券组合优化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排序与评估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离线模拟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84D754B-BF85-49E7-9773-C92B64C5065B}"/>
              </a:ext>
            </a:extLst>
          </p:cNvPr>
          <p:cNvSpPr txBox="1"/>
          <p:nvPr/>
        </p:nvSpPr>
        <p:spPr>
          <a:xfrm>
            <a:off x="4343400" y="2190750"/>
            <a:ext cx="952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9542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AB7BCA4-E98A-49BD-BADF-9D36B9A47771}"/>
              </a:ext>
            </a:extLst>
          </p:cNvPr>
          <p:cNvSpPr txBox="1"/>
          <p:nvPr/>
        </p:nvSpPr>
        <p:spPr>
          <a:xfrm>
            <a:off x="4343400" y="2800350"/>
            <a:ext cx="304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工程 / 平台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368236D-0AD4-4C16-BCD4-C075B3C1100A}"/>
              </a:ext>
            </a:extLst>
          </p:cNvPr>
          <p:cNvSpPr txBox="1"/>
          <p:nvPr/>
        </p:nvSpPr>
        <p:spPr>
          <a:xfrm>
            <a:off x="4343400" y="3143250"/>
            <a:ext cx="304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6E7F68"/>
                </a:solidFill>
                <a:latin typeface="Microsoft YaHei"/>
                <a:ea typeface="Microsoft YaHei"/>
              </a:rPr>
              <a:t>接进结算，扛住峰值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C8F8D47-0A82-4FEB-BE53-F6CC75546C7F}"/>
              </a:ext>
            </a:extLst>
          </p:cNvPr>
          <p:cNvSpPr txBox="1"/>
          <p:nvPr/>
        </p:nvSpPr>
        <p:spPr>
          <a:xfrm>
            <a:off x="4343400" y="348615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计价同源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Arial"/>
                <a:ea typeface="Arial"/>
              </a:rPr>
              <a:t>p99 &lt; 100ms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灰度 / 回滚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峰值稳定性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09EF311-E42E-48E8-8D1D-3EEEE4C8FBB0}"/>
              </a:ext>
            </a:extLst>
          </p:cNvPr>
          <p:cNvSpPr txBox="1"/>
          <p:nvPr/>
        </p:nvSpPr>
        <p:spPr>
          <a:xfrm>
            <a:off x="8001000" y="2476500"/>
            <a:ext cx="952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9542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717410-C182-46C7-84F5-D1D4A7FFC6A9}"/>
              </a:ext>
            </a:extLst>
          </p:cNvPr>
          <p:cNvSpPr txBox="1"/>
          <p:nvPr/>
        </p:nvSpPr>
        <p:spPr>
          <a:xfrm>
            <a:off x="8001000" y="3086100"/>
            <a:ext cx="3048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F1D1A"/>
                </a:solidFill>
                <a:latin typeface="Microsoft YaHei"/>
                <a:ea typeface="Microsoft YaHei"/>
              </a:rPr>
              <a:t>产品 / 本地生活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A9BFF0-23A9-4FD7-AF04-58259D4408AB}"/>
              </a:ext>
            </a:extLst>
          </p:cNvPr>
          <p:cNvSpPr txBox="1"/>
          <p:nvPr/>
        </p:nvSpPr>
        <p:spPr>
          <a:xfrm>
            <a:off x="8001000" y="3429000"/>
            <a:ext cx="3048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6E7F68"/>
                </a:solidFill>
                <a:latin typeface="Microsoft YaHei"/>
                <a:ea typeface="Microsoft YaHei"/>
              </a:rPr>
              <a:t>把试点跑起来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6DAEFB7-DBDC-49F8-9AE3-DD4E2017F8A4}"/>
              </a:ext>
            </a:extLst>
          </p:cNvPr>
          <p:cNvSpPr txBox="1"/>
          <p:nvPr/>
        </p:nvSpPr>
        <p:spPr>
          <a:xfrm>
            <a:off x="8001000" y="3771900"/>
            <a:ext cx="28575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用户洞察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商家运营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实验设计</a:t>
            </a:r>
          </a:p>
          <a:p>
            <a:pPr algn="l">
              <a:lnSpc>
                <a:spcPct val="160000"/>
              </a:lnSpc>
            </a:pPr>
            <a:r>
              <a:rPr sz="1200" b="1">
                <a:solidFill>
                  <a:srgbClr val="B9542F"/>
                </a:solidFill>
                <a:latin typeface="Microsoft YaHei"/>
                <a:ea typeface="Microsoft YaHei"/>
              </a:rPr>
              <a:t>· </a:t>
            </a:r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试点落地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8F81B05-4E85-4142-AB34-D7B4AC2DBFD1}"/>
              </a:ext>
            </a:extLst>
          </p:cNvPr>
          <p:cNvSpPr txBox="1"/>
          <p:nvPr/>
        </p:nvSpPr>
        <p:spPr>
          <a:xfrm>
            <a:off x="685800" y="5619750"/>
            <a:ext cx="1047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外部支持：平台优惠规则专家 + 法务 / 合规顾问。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ADC91A8-E92C-401A-8DE8-DEBA7E18DA01}"/>
              </a:ext>
            </a:extLst>
          </p:cNvPr>
          <p:cNvSpPr txBox="1"/>
          <p:nvPr/>
        </p:nvSpPr>
        <p:spPr>
          <a:xfrm>
            <a:off x="685800" y="6096000"/>
            <a:ext cx="857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B9542F"/>
                </a:solidFill>
                <a:latin typeface="Microsoft YaHei"/>
                <a:ea typeface="Microsoft YaHei"/>
              </a:rPr>
              <a:t>团队可以小，但这三件事必须有人负责。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199AFA2-2C1D-4E7E-AB36-761DD33A31C5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B555686-203E-4D4B-AB20-8B714DAE2760}"/>
              </a:ext>
            </a:extLst>
          </p:cNvPr>
          <p:cNvSpPr txBox="1"/>
          <p:nvPr/>
        </p:nvSpPr>
        <p:spPr>
          <a:xfrm>
            <a:off x="762000" y="6096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Microsoft YaHei"/>
                <a:ea typeface="Microsoft YaHei"/>
              </a:rPr>
              <a:t>11 / 下一步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2025BD2-1E48-4F39-8B41-BC17AEEC3FE0}"/>
              </a:ext>
            </a:extLst>
          </p:cNvPr>
          <p:cNvSpPr/>
          <p:nvPr/>
        </p:nvSpPr>
        <p:spPr>
          <a:xfrm>
            <a:off x="9525000" y="666750"/>
            <a:ext cx="1905000" cy="1905000"/>
          </a:xfrm>
          <a:prstGeom prst="ellipse">
            <a:avLst/>
          </a:prstGeom>
          <a:solidFill>
            <a:srgbClr val="F2EADF"/>
          </a:solidFill>
          <a:ln w="12700">
            <a:solidFill>
              <a:srgbClr val="D9CFC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CD29EB-A246-43FB-A73F-99F4E7F6DF6B}"/>
              </a:ext>
            </a:extLst>
          </p:cNvPr>
          <p:cNvSpPr txBox="1"/>
          <p:nvPr/>
        </p:nvSpPr>
        <p:spPr>
          <a:xfrm>
            <a:off x="762000" y="1238250"/>
            <a:ext cx="85725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F1D1A"/>
                </a:solidFill>
                <a:latin typeface="Microsoft YaHei"/>
                <a:ea typeface="Microsoft YaHei"/>
              </a:rPr>
              <a:t>给一个入口，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B9542F"/>
                </a:solidFill>
                <a:latin typeface="Microsoft YaHei"/>
                <a:ea typeface="Microsoft YaHei"/>
              </a:rPr>
              <a:t>12 周还你三个答案。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C3F9DAE-3F53-40D3-BEF5-F4BB864B0C4D}"/>
              </a:ext>
            </a:extLst>
          </p:cNvPr>
          <p:cNvSpPr/>
          <p:nvPr/>
        </p:nvSpPr>
        <p:spPr>
          <a:xfrm>
            <a:off x="4000500" y="3619500"/>
            <a:ext cx="9525" cy="1333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0A7E8AD-BFEE-4FFD-B958-F54A508F528C}"/>
              </a:ext>
            </a:extLst>
          </p:cNvPr>
          <p:cNvSpPr/>
          <p:nvPr/>
        </p:nvSpPr>
        <p:spPr>
          <a:xfrm>
            <a:off x="7429500" y="3619500"/>
            <a:ext cx="9525" cy="1333500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AEF7718-7B1C-4B39-9A9F-E8450E4255B9}"/>
              </a:ext>
            </a:extLst>
          </p:cNvPr>
          <p:cNvSpPr txBox="1"/>
          <p:nvPr/>
        </p:nvSpPr>
        <p:spPr>
          <a:xfrm>
            <a:off x="762000" y="361950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BEC6DB8-FD0F-4B98-A0DF-747A60B4A696}"/>
              </a:ext>
            </a:extLst>
          </p:cNvPr>
          <p:cNvSpPr txBox="1"/>
          <p:nvPr/>
        </p:nvSpPr>
        <p:spPr>
          <a:xfrm>
            <a:off x="762000" y="38862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F1D1A"/>
                </a:solidFill>
                <a:latin typeface="Microsoft YaHei"/>
                <a:ea typeface="Microsoft YaHei"/>
              </a:rPr>
              <a:t>用户真的净省？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CE9A4F-691A-478B-A859-02BCA2A6A49E}"/>
              </a:ext>
            </a:extLst>
          </p:cNvPr>
          <p:cNvSpPr txBox="1"/>
          <p:nvPr/>
        </p:nvSpPr>
        <p:spPr>
          <a:xfrm>
            <a:off x="762000" y="4229100"/>
            <a:ext cx="2857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净省 = 增量优惠 − 加购价格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4F79AA-1DD7-491E-B183-D5F35E4F39F0}"/>
              </a:ext>
            </a:extLst>
          </p:cNvPr>
          <p:cNvSpPr txBox="1"/>
          <p:nvPr/>
        </p:nvSpPr>
        <p:spPr>
          <a:xfrm>
            <a:off x="4191000" y="361950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2999E97-8157-4572-9473-52ECE59AD059}"/>
              </a:ext>
            </a:extLst>
          </p:cNvPr>
          <p:cNvSpPr txBox="1"/>
          <p:nvPr/>
        </p:nvSpPr>
        <p:spPr>
          <a:xfrm>
            <a:off x="4191000" y="38862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F1D1A"/>
                </a:solidFill>
                <a:latin typeface="Microsoft YaHei"/>
                <a:ea typeface="Microsoft YaHei"/>
              </a:rPr>
              <a:t>订单真的增量？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1ADBC24-0EFE-4B36-B6A0-8F06A1079CF4}"/>
              </a:ext>
            </a:extLst>
          </p:cNvPr>
          <p:cNvSpPr txBox="1"/>
          <p:nvPr/>
        </p:nvSpPr>
        <p:spPr>
          <a:xfrm>
            <a:off x="4191000" y="4229100"/>
            <a:ext cx="2857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目标人群转化 +1-2 个百分点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9C3C4F2-5C07-4A95-B8DC-270ACE34235E}"/>
              </a:ext>
            </a:extLst>
          </p:cNvPr>
          <p:cNvSpPr txBox="1"/>
          <p:nvPr/>
        </p:nvSpPr>
        <p:spPr>
          <a:xfrm>
            <a:off x="7620000" y="3619500"/>
            <a:ext cx="3048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9542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9076181-0EBC-4C13-99CB-8AEDDA66AEA9}"/>
              </a:ext>
            </a:extLst>
          </p:cNvPr>
          <p:cNvSpPr txBox="1"/>
          <p:nvPr/>
        </p:nvSpPr>
        <p:spPr>
          <a:xfrm>
            <a:off x="7620000" y="38862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F1D1A"/>
                </a:solidFill>
                <a:latin typeface="Microsoft YaHei"/>
                <a:ea typeface="Microsoft YaHei"/>
              </a:rPr>
              <a:t>体验真的不伤？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75C342-1309-4541-8CED-A086B4AB3A78}"/>
              </a:ext>
            </a:extLst>
          </p:cNvPr>
          <p:cNvSpPr txBox="1"/>
          <p:nvPr/>
        </p:nvSpPr>
        <p:spPr>
          <a:xfrm>
            <a:off x="7620000" y="4229100"/>
            <a:ext cx="2857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6F665A"/>
                </a:solidFill>
                <a:latin typeface="Microsoft YaHei"/>
                <a:ea typeface="Microsoft YaHei"/>
              </a:rPr>
              <a:t>退款 / 差评不升，p99 &lt; 100ms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9EDC28B-DB87-4A6A-BE75-EBE067B313D3}"/>
              </a:ext>
            </a:extLst>
          </p:cNvPr>
          <p:cNvSpPr txBox="1"/>
          <p:nvPr/>
        </p:nvSpPr>
        <p:spPr>
          <a:xfrm>
            <a:off x="762000" y="5238750"/>
            <a:ext cx="1066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F665A"/>
                </a:solidFill>
                <a:latin typeface="Microsoft YaHei"/>
                <a:ea typeface="Microsoft YaHei"/>
              </a:rPr>
              <a:t>下一步：30 天准备 → W1 启动 → W8 A/B → W12 复盘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3A5653C-EEC0-4790-A703-FD77F637ED0F}"/>
              </a:ext>
            </a:extLst>
          </p:cNvPr>
          <p:cNvSpPr/>
          <p:nvPr/>
        </p:nvSpPr>
        <p:spPr>
          <a:xfrm>
            <a:off x="762000" y="5619750"/>
            <a:ext cx="10668000" cy="9525"/>
          </a:xfrm>
          <a:prstGeom prst="rect">
            <a:avLst/>
          </a:prstGeom>
          <a:solidFill>
            <a:srgbClr val="D9CF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8C1C852-F20D-4BB2-BBA2-8DB52B6B9EB0}"/>
              </a:ext>
            </a:extLst>
          </p:cNvPr>
          <p:cNvSpPr txBox="1"/>
          <p:nvPr/>
        </p:nvSpPr>
        <p:spPr>
          <a:xfrm>
            <a:off x="762000" y="5810250"/>
            <a:ext cx="857250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B9542F"/>
                </a:solidFill>
                <a:latin typeface="Microsoft YaHei"/>
                <a:ea typeface="Microsoft YaHei"/>
              </a:rPr>
              <a:t>不劝你多买，只帮你少花。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0C1CE8B-90A8-4780-86A3-970B3CB0CF88}"/>
              </a:ext>
            </a:extLst>
          </p:cNvPr>
          <p:cNvSpPr txBox="1"/>
          <p:nvPr/>
        </p:nvSpPr>
        <p:spPr>
          <a:xfrm>
            <a:off x="762000" y="6477000"/>
            <a:ext cx="285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产品 BP · 2026.10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9026A59-7CE4-4059-B9CC-10033901B936}"/>
              </a:ext>
            </a:extLst>
          </p:cNvPr>
          <p:cNvSpPr txBox="1"/>
          <p:nvPr/>
        </p:nvSpPr>
        <p:spPr>
          <a:xfrm>
            <a:off x="8572500" y="6477000"/>
            <a:ext cx="19050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Microsoft YaHei"/>
                <a:ea typeface="Microsoft YaHei"/>
              </a:rPr>
              <a:t>刚好 · 净省凑单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F46472B-955B-4957-9BDF-14CF7D5B544E}"/>
              </a:ext>
            </a:extLst>
          </p:cNvPr>
          <p:cNvSpPr txBox="1"/>
          <p:nvPr/>
        </p:nvSpPr>
        <p:spPr>
          <a:xfrm>
            <a:off x="10668000" y="6515100"/>
            <a:ext cx="8382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9A8F80"/>
                </a:solidFill>
                <a:latin typeface="Georgia"/>
                <a:ea typeface="Georgi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