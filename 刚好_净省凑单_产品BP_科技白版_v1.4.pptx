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"/>
    <p:sldId id="268" r:id="rId14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E65E361-3BCE-407D-96B3-CB53AA343F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67E8379-F6ED-4419-9323-394260730A7C}"/>
              </a:ext>
            </a:extLst>
          </p:cNvPr>
          <p:cNvSpPr/>
          <p:nvPr/>
        </p:nvSpPr>
        <p:spPr>
          <a:xfrm>
            <a:off x="838200" y="838200"/>
            <a:ext cx="3429000" cy="3048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1870B56-D70D-4B30-9C6A-43E98285FEA3}"/>
              </a:ext>
            </a:extLst>
          </p:cNvPr>
          <p:cNvSpPr txBox="1"/>
          <p:nvPr/>
        </p:nvSpPr>
        <p:spPr>
          <a:xfrm>
            <a:off x="971550" y="895350"/>
            <a:ext cx="323850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普陀创新挑战赛 · 赛道 2 / 产品 BP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75840D-7E7F-4875-A9CB-5A53FA29DC70}"/>
              </a:ext>
            </a:extLst>
          </p:cNvPr>
          <p:cNvSpPr txBox="1"/>
          <p:nvPr/>
        </p:nvSpPr>
        <p:spPr>
          <a:xfrm>
            <a:off x="838200" y="1428750"/>
            <a:ext cx="6477000" cy="731520"/>
          </a:xfrm>
        </p:spPr>
        <p:txBody>
          <a:bodyPr wrap="square" rtlCol="0" lIns="0" tIns="0" rIns="0" bIns="0" anchor="t"/>
          <a:lstStyle/>
          <a:p>
            <a:r>
              <a:rPr sz="4800" b="1">
                <a:solidFill>
                  <a:srgbClr val="0F172A"/>
                </a:solidFill>
                <a:latin typeface="Microsoft YaHei"/>
                <a:ea typeface="Microsoft YaHei"/>
              </a:rPr>
              <a:t>刚好 · 净省凑单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6701EC1-B85F-48B5-AC06-DEC825FEB2A9}"/>
              </a:ext>
            </a:extLst>
          </p:cNvPr>
          <p:cNvSpPr txBox="1"/>
          <p:nvPr/>
        </p:nvSpPr>
        <p:spPr>
          <a:xfrm>
            <a:off x="838200" y="2247900"/>
            <a:ext cx="64770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4AC248E-5AE2-40B9-931C-4D420DE42610}"/>
              </a:ext>
            </a:extLst>
          </p:cNvPr>
          <p:cNvSpPr txBox="1"/>
          <p:nvPr/>
        </p:nvSpPr>
        <p:spPr>
          <a:xfrm>
            <a:off x="838200" y="2714625"/>
            <a:ext cx="647700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64748B"/>
                </a:solidFill>
                <a:latin typeface="Microsoft YaHei"/>
                <a:ea typeface="Microsoft YaHei"/>
              </a:rPr>
              <a:t>外卖购物车结算前的带约束实时决策服务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74B25FD-1E4F-4AC3-BBFC-E3C67069FDBC}"/>
              </a:ext>
            </a:extLst>
          </p:cNvPr>
          <p:cNvSpPr/>
          <p:nvPr/>
        </p:nvSpPr>
        <p:spPr>
          <a:xfrm>
            <a:off x="7620000" y="1333500"/>
            <a:ext cx="3714750" cy="36195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C9569A-489C-4A37-8170-98FF79229401}"/>
              </a:ext>
            </a:extLst>
          </p:cNvPr>
          <p:cNvSpPr txBox="1"/>
          <p:nvPr/>
        </p:nvSpPr>
        <p:spPr>
          <a:xfrm>
            <a:off x="7905750" y="1619250"/>
            <a:ext cx="314325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334155"/>
                </a:solidFill>
                <a:latin typeface="Microsoft YaHei"/>
                <a:ea typeface="Microsoft YaHei"/>
              </a:rPr>
              <a:t>核心指标与价值承诺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D1FA8D3-F855-4985-9EC6-15BBC332853B}"/>
              </a:ext>
            </a:extLst>
          </p:cNvPr>
          <p:cNvSpPr txBox="1"/>
          <p:nvPr/>
        </p:nvSpPr>
        <p:spPr>
          <a:xfrm>
            <a:off x="7905750" y="1952625"/>
            <a:ext cx="3143250" cy="952500"/>
          </a:xfrm>
        </p:spPr>
        <p:txBody>
          <a:bodyPr wrap="square" rtlCol="0" lIns="0" tIns="0" rIns="0" bIns="0" anchor="t"/>
          <a:lstStyle/>
          <a:p>
            <a:r>
              <a:rPr sz="5600" b="1">
                <a:solidFill>
                  <a:srgbClr val="0F172A"/>
                </a:solidFill>
                <a:latin typeface="Arial"/>
                <a:ea typeface="Arial"/>
              </a:rPr>
              <a:t>¥2.0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8B72A4-4575-4506-BDC3-A553C634F5D7}"/>
              </a:ext>
            </a:extLst>
          </p:cNvPr>
          <p:cNvSpPr txBox="1"/>
          <p:nvPr/>
        </p:nvSpPr>
        <p:spPr>
          <a:xfrm>
            <a:off x="7905750" y="2952750"/>
            <a:ext cx="3143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单均净省金额 · 结算真实兑现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4799308-890C-4602-81AE-CD1B2A01D97C}"/>
              </a:ext>
            </a:extLst>
          </p:cNvPr>
          <p:cNvSpPr/>
          <p:nvPr/>
        </p:nvSpPr>
        <p:spPr>
          <a:xfrm>
            <a:off x="7905750" y="3333750"/>
            <a:ext cx="314325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67624A-247F-4178-81DF-D0EB91C746EF}"/>
              </a:ext>
            </a:extLst>
          </p:cNvPr>
          <p:cNvSpPr txBox="1"/>
          <p:nvPr/>
        </p:nvSpPr>
        <p:spPr>
          <a:xfrm>
            <a:off x="7905750" y="3524250"/>
            <a:ext cx="3143250" cy="7620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净省 = 增量优惠 − 加购价 − 附加费</a:t>
            </a:r>
          </a:p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报价与结算 100% 同源 · P99 &lt; 100ms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16E38DE-7AE3-4478-B936-BEFB95510C8D}"/>
              </a:ext>
            </a:extLst>
          </p:cNvPr>
          <p:cNvSpPr/>
          <p:nvPr/>
        </p:nvSpPr>
        <p:spPr>
          <a:xfrm>
            <a:off x="838200" y="3333750"/>
            <a:ext cx="6477000" cy="161925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887D1E2-1BFE-4852-BCBB-61F1169CA450}"/>
              </a:ext>
            </a:extLst>
          </p:cNvPr>
          <p:cNvSpPr txBox="1"/>
          <p:nvPr/>
        </p:nvSpPr>
        <p:spPr>
          <a:xfrm>
            <a:off x="1123950" y="3543300"/>
            <a:ext cx="5905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颠覆传统逻辑：推荐卖货 ➔ 净省决策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9793C4E-BEE6-477E-93DD-205F1E532983}"/>
              </a:ext>
            </a:extLst>
          </p:cNvPr>
          <p:cNvSpPr txBox="1"/>
          <p:nvPr/>
        </p:nvSpPr>
        <p:spPr>
          <a:xfrm>
            <a:off x="1123950" y="3886200"/>
            <a:ext cx="5905500" cy="8572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Microsoft YaHei"/>
                <a:ea typeface="Microsoft YaHei"/>
              </a:rPr>
              <a:t>传统凑单：给你推一堆商品，买得越多越贵，算不清满减规则。</a:t>
            </a:r>
          </a:p>
          <a:p>
            <a:r>
              <a:rPr sz="1300">
                <a:solidFill>
                  <a:srgbClr val="475569"/>
                </a:solidFill>
                <a:latin typeface="Microsoft YaHei"/>
                <a:ea typeface="Microsoft YaHei"/>
              </a:rPr>
              <a:t>刚好方案：输入购物车，秒级求出最优解；不划算直接劝退。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52A021-D82B-4CF2-B22D-08FC467C0C7C}"/>
              </a:ext>
            </a:extLst>
          </p:cNvPr>
          <p:cNvSpPr txBox="1"/>
          <p:nvPr/>
        </p:nvSpPr>
        <p:spPr>
          <a:xfrm>
            <a:off x="838200" y="6096000"/>
            <a:ext cx="38100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商业计划书 (BP) · 2026.10 · v1.4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1BF6943-99DE-402B-8EEC-2BFEC09DACD5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AA4BBF0-A2F3-4CC1-9AD5-5C80C0350834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7A02F5-3C9E-4D11-BE98-3BBE2D76CFFC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01 / 痛点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凑单不是省钱，是三输。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02A5DBA-9D8F-42B1-8C50-00E0D7F2C221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用户以为在省钱，平台以为在促活，商家却在承担无效加购与退款风险。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9449F5D-289E-4D9E-8BE1-1B429FBB5C57}"/>
              </a:ext>
            </a:extLst>
          </p:cNvPr>
          <p:cNvSpPr/>
          <p:nvPr/>
        </p:nvSpPr>
        <p:spPr>
          <a:xfrm>
            <a:off x="838200" y="1981200"/>
            <a:ext cx="3238500" cy="3143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1B0E0CD-9CE5-4C8F-BEF0-B3260E37F287}"/>
              </a:ext>
            </a:extLst>
          </p:cNvPr>
          <p:cNvSpPr txBox="1"/>
          <p:nvPr/>
        </p:nvSpPr>
        <p:spPr>
          <a:xfrm>
            <a:off x="1104900" y="2152650"/>
            <a:ext cx="2667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用户端：负和博弈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663FE24-DF90-4F1D-924F-12EE51F824F4}"/>
              </a:ext>
            </a:extLst>
          </p:cNvPr>
          <p:cNvSpPr txBox="1"/>
          <p:nvPr/>
        </p:nvSpPr>
        <p:spPr>
          <a:xfrm>
            <a:off x="1104900" y="2476500"/>
            <a:ext cx="26670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DC2626"/>
                </a:solidFill>
                <a:latin typeface="Arial"/>
                <a:ea typeface="Arial"/>
              </a:rPr>
              <a:t>−¥10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606F876-0B62-4BE7-AE4C-651C045CB565}"/>
              </a:ext>
            </a:extLst>
          </p:cNvPr>
          <p:cNvSpPr txBox="1"/>
          <p:nvPr/>
        </p:nvSpPr>
        <p:spPr>
          <a:xfrm>
            <a:off x="1104900" y="3181350"/>
            <a:ext cx="2667000" cy="1714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为省 5 元满减，被迫多凑 15 元不需要的冷门单品；比价 5 分钟，吃完往往后悔。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8683A02-6F30-4FE1-8A0D-26F9D8B7F4D0}"/>
              </a:ext>
            </a:extLst>
          </p:cNvPr>
          <p:cNvSpPr/>
          <p:nvPr/>
        </p:nvSpPr>
        <p:spPr>
          <a:xfrm>
            <a:off x="4305300" y="1981200"/>
            <a:ext cx="3238500" cy="3143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CBC12AA-BC7B-4FDB-BD3A-3E8BA22AE429}"/>
              </a:ext>
            </a:extLst>
          </p:cNvPr>
          <p:cNvSpPr txBox="1"/>
          <p:nvPr/>
        </p:nvSpPr>
        <p:spPr>
          <a:xfrm>
            <a:off x="4572000" y="2152650"/>
            <a:ext cx="2667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平台端：流失隐患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29745FF-7EC9-4A32-B1F0-FD19433B3A1F}"/>
              </a:ext>
            </a:extLst>
          </p:cNvPr>
          <p:cNvSpPr txBox="1"/>
          <p:nvPr/>
        </p:nvSpPr>
        <p:spPr>
          <a:xfrm>
            <a:off x="4572000" y="2476500"/>
            <a:ext cx="26670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15%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31058F8-BBF8-42A1-874B-3508058F9CDA}"/>
              </a:ext>
            </a:extLst>
          </p:cNvPr>
          <p:cNvSpPr txBox="1"/>
          <p:nvPr/>
        </p:nvSpPr>
        <p:spPr>
          <a:xfrm>
            <a:off x="4572000" y="3181350"/>
            <a:ext cx="2667000" cy="1714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结算前因「差几元达标」造成的购物车放弃率；补贴发了，但没促成交易。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EC12B97-4229-431C-A869-C3A0D56E83DC}"/>
              </a:ext>
            </a:extLst>
          </p:cNvPr>
          <p:cNvSpPr/>
          <p:nvPr/>
        </p:nvSpPr>
        <p:spPr>
          <a:xfrm>
            <a:off x="7772400" y="1981200"/>
            <a:ext cx="3524250" cy="3143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344AE81-59DC-4B86-BEE2-8EE8186AEAFB}"/>
              </a:ext>
            </a:extLst>
          </p:cNvPr>
          <p:cNvSpPr txBox="1"/>
          <p:nvPr/>
        </p:nvSpPr>
        <p:spPr>
          <a:xfrm>
            <a:off x="8039100" y="2152650"/>
            <a:ext cx="2857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商家端：运营负担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0C55F09-9FEE-4103-8A2D-62749D680264}"/>
              </a:ext>
            </a:extLst>
          </p:cNvPr>
          <p:cNvSpPr txBox="1"/>
          <p:nvPr/>
        </p:nvSpPr>
        <p:spPr>
          <a:xfrm>
            <a:off x="8039100" y="2476500"/>
            <a:ext cx="28575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D97706"/>
                </a:solidFill>
                <a:latin typeface="Arial"/>
                <a:ea typeface="Arial"/>
              </a:rPr>
              <a:t>+23%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8485A6B-BD9D-4F26-9EDA-F8A7FA6DBE5D}"/>
              </a:ext>
            </a:extLst>
          </p:cNvPr>
          <p:cNvSpPr txBox="1"/>
          <p:nvPr/>
        </p:nvSpPr>
        <p:spPr>
          <a:xfrm>
            <a:off x="8039100" y="3181350"/>
            <a:ext cx="2857500" cy="1714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无效加购引发部分退款或差评，打包和备货节奏被打乱；满减折扣换来低质量客单。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B597C8B-4BB0-4CE0-815D-18037302955C}"/>
              </a:ext>
            </a:extLst>
          </p:cNvPr>
          <p:cNvSpPr/>
          <p:nvPr/>
        </p:nvSpPr>
        <p:spPr>
          <a:xfrm>
            <a:off x="838200" y="5334000"/>
            <a:ext cx="9525000" cy="43815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84B2BE6-BF84-477E-962F-C4F48AB68613}"/>
              </a:ext>
            </a:extLst>
          </p:cNvPr>
          <p:cNvSpPr txBox="1"/>
          <p:nvPr/>
        </p:nvSpPr>
        <p:spPr>
          <a:xfrm>
            <a:off x="1028700" y="5448300"/>
            <a:ext cx="9144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根因：现有凑单工具是商品推荐，不是决策服务。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DF3678E-92E6-4CE5-AE8C-8D681C936874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9DBE64C-A44D-45A4-A847-0CF58F870CF8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4DD478B-AB08-436C-8C76-05B8EEF30BCA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02 / 机会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优惠越复杂，决策越值钱。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BFC0F5-D13C-4746-907F-4051E7E391EE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平台不再只拼补贴，用户也不想再多点几家。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512D52B-5F79-4FBA-B3E2-1634B8DBC1F1}"/>
              </a:ext>
            </a:extLst>
          </p:cNvPr>
          <p:cNvSpPr/>
          <p:nvPr/>
        </p:nvSpPr>
        <p:spPr>
          <a:xfrm>
            <a:off x="838200" y="1981200"/>
            <a:ext cx="3810000" cy="314325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D991C00-0C9D-4C6B-A18F-CEC7E59EF2EE}"/>
              </a:ext>
            </a:extLst>
          </p:cNvPr>
          <p:cNvSpPr txBox="1"/>
          <p:nvPr/>
        </p:nvSpPr>
        <p:spPr>
          <a:xfrm>
            <a:off x="1104900" y="2247900"/>
            <a:ext cx="3238500" cy="1097280"/>
          </a:xfrm>
        </p:spPr>
        <p:txBody>
          <a:bodyPr wrap="square" rtlCol="0" lIns="0" tIns="0" rIns="0" bIns="0" anchor="t"/>
          <a:lstStyle/>
          <a:p>
            <a:r>
              <a:rPr sz="7200" b="1">
                <a:solidFill>
                  <a:srgbClr val="2563EB"/>
                </a:solidFill>
                <a:latin typeface="Arial"/>
                <a:ea typeface="Arial"/>
              </a:rPr>
              <a:t>3s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DC18A0A-054D-487C-A442-F797C093B3B6}"/>
              </a:ext>
            </a:extLst>
          </p:cNvPr>
          <p:cNvSpPr txBox="1"/>
          <p:nvPr/>
        </p:nvSpPr>
        <p:spPr>
          <a:xfrm>
            <a:off x="1104900" y="3333750"/>
            <a:ext cx="32385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结算前决策窗口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32D2269-78AC-4006-BADA-331C75E78B66}"/>
              </a:ext>
            </a:extLst>
          </p:cNvPr>
          <p:cNvSpPr txBox="1"/>
          <p:nvPr/>
        </p:nvSpPr>
        <p:spPr>
          <a:xfrm>
            <a:off x="1104900" y="3676650"/>
            <a:ext cx="32385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从「多点几家」变成「帮我决定」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44739A7-9A56-40AF-97A7-5A37EB349E2F}"/>
              </a:ext>
            </a:extLst>
          </p:cNvPr>
          <p:cNvSpPr txBox="1"/>
          <p:nvPr/>
        </p:nvSpPr>
        <p:spPr>
          <a:xfrm>
            <a:off x="1104900" y="4762500"/>
            <a:ext cx="32385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用户只愿意为凑单多花 3 秒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C7DFDE-DB8F-40BE-A4A5-FBDA961CBF8B}"/>
              </a:ext>
            </a:extLst>
          </p:cNvPr>
          <p:cNvSpPr txBox="1"/>
          <p:nvPr/>
        </p:nvSpPr>
        <p:spPr>
          <a:xfrm>
            <a:off x="5143500" y="2038350"/>
            <a:ext cx="3810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403C0D1-83DE-489C-B9EB-68D4869ADE8D}"/>
              </a:ext>
            </a:extLst>
          </p:cNvPr>
          <p:cNvSpPr txBox="1"/>
          <p:nvPr/>
        </p:nvSpPr>
        <p:spPr>
          <a:xfrm>
            <a:off x="5619750" y="2000250"/>
            <a:ext cx="5334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优惠叠加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53A854F-042D-4E78-81EB-6500EDE1A47D}"/>
              </a:ext>
            </a:extLst>
          </p:cNvPr>
          <p:cNvSpPr txBox="1"/>
          <p:nvPr/>
        </p:nvSpPr>
        <p:spPr>
          <a:xfrm>
            <a:off x="5619750" y="232410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满减、券、配送费、会员权益同时出现，用户算不清。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75CFA02-46E9-4B6B-8910-05FA4BAE6AAE}"/>
              </a:ext>
            </a:extLst>
          </p:cNvPr>
          <p:cNvSpPr/>
          <p:nvPr/>
        </p:nvSpPr>
        <p:spPr>
          <a:xfrm>
            <a:off x="5143500" y="2724150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DE6EA44-16AE-49AF-873B-F0015B9E4698}"/>
              </a:ext>
            </a:extLst>
          </p:cNvPr>
          <p:cNvSpPr txBox="1"/>
          <p:nvPr/>
        </p:nvSpPr>
        <p:spPr>
          <a:xfrm>
            <a:off x="5143500" y="2895600"/>
            <a:ext cx="3810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5FBE5C-67C8-4A13-A932-D1487AB38CBC}"/>
              </a:ext>
            </a:extLst>
          </p:cNvPr>
          <p:cNvSpPr txBox="1"/>
          <p:nvPr/>
        </p:nvSpPr>
        <p:spPr>
          <a:xfrm>
            <a:off x="5619750" y="2857500"/>
            <a:ext cx="5334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效率竞争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48331FF-80DC-433B-8C5F-2DD671F7DDCA}"/>
              </a:ext>
            </a:extLst>
          </p:cNvPr>
          <p:cNvSpPr txBox="1"/>
          <p:nvPr/>
        </p:nvSpPr>
        <p:spPr>
          <a:xfrm>
            <a:off x="5619750" y="318135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平台从拼补贴转向拼转化率、客单价与补贴效率。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6DA057C-CDE7-4F49-BAFE-E807B1449DE0}"/>
              </a:ext>
            </a:extLst>
          </p:cNvPr>
          <p:cNvSpPr/>
          <p:nvPr/>
        </p:nvSpPr>
        <p:spPr>
          <a:xfrm>
            <a:off x="5143500" y="3581400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E05D069-EDB6-4D7D-ACBB-AFD8D500A1B8}"/>
              </a:ext>
            </a:extLst>
          </p:cNvPr>
          <p:cNvSpPr txBox="1"/>
          <p:nvPr/>
        </p:nvSpPr>
        <p:spPr>
          <a:xfrm>
            <a:off x="5143500" y="3752850"/>
            <a:ext cx="3810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20EA23E-4F37-4F75-B014-988589CC69A4}"/>
              </a:ext>
            </a:extLst>
          </p:cNvPr>
          <p:cNvSpPr txBox="1"/>
          <p:nvPr/>
        </p:nvSpPr>
        <p:spPr>
          <a:xfrm>
            <a:off x="5619750" y="3714750"/>
            <a:ext cx="5334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信任稀缺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0A43FB2-BC51-4BCB-8DCE-98216318C396}"/>
              </a:ext>
            </a:extLst>
          </p:cNvPr>
          <p:cNvSpPr txBox="1"/>
          <p:nvPr/>
        </p:nvSpPr>
        <p:spPr>
          <a:xfrm>
            <a:off x="5619750" y="403860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用户对诱导凑单越来越敏感，透明、理性成为差异化。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7029A5E-4810-4C7C-A774-F482BC55B61C}"/>
              </a:ext>
            </a:extLst>
          </p:cNvPr>
          <p:cNvSpPr/>
          <p:nvPr/>
        </p:nvSpPr>
        <p:spPr>
          <a:xfrm>
            <a:off x="838200" y="5334000"/>
            <a:ext cx="9525000" cy="43815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05DD290-C434-46FE-8830-D1A94AC7AF92}"/>
              </a:ext>
            </a:extLst>
          </p:cNvPr>
          <p:cNvSpPr txBox="1"/>
          <p:nvPr/>
        </p:nvSpPr>
        <p:spPr>
          <a:xfrm>
            <a:off x="1028700" y="5448300"/>
            <a:ext cx="9144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机会定义：不是再做一个推荐入口，而是在结算前替用户完成一次净省计算。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ECB4FA3-DABD-41D7-8EBD-934AF63F291B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B4F0F63-C09D-4D8B-A38C-DA6893BB8752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06427C5-4F61-43A1-8E47-F544BC00DB36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03 / 产品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三个方案，一句净省。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424080D-7442-4333-85B2-6FE0E966FB68}"/>
              </a:ext>
            </a:extLst>
          </p:cNvPr>
          <p:cNvSpPr txBox="1"/>
          <p:nvPr/>
        </p:nvSpPr>
        <p:spPr>
          <a:xfrm>
            <a:off x="838200" y="1657350"/>
            <a:ext cx="6191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不改变商家定价，只帮用户算清楚：加什么、省多少、值不值。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ACADCC-2E6E-4E29-9BD1-A70350AAF44B}"/>
              </a:ext>
            </a:extLst>
          </p:cNvPr>
          <p:cNvSpPr txBox="1"/>
          <p:nvPr/>
        </p:nvSpPr>
        <p:spPr>
          <a:xfrm>
            <a:off x="838200" y="198120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用户最多看到 3 个答案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EDD4F75-16F4-4701-AE0C-94FA93B2AB18}"/>
              </a:ext>
            </a:extLst>
          </p:cNvPr>
          <p:cNvSpPr txBox="1"/>
          <p:nvPr/>
        </p:nvSpPr>
        <p:spPr>
          <a:xfrm>
            <a:off x="838200" y="2333625"/>
            <a:ext cx="381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E6168E-CD35-4B16-B660-E0658FE663B8}"/>
              </a:ext>
            </a:extLst>
          </p:cNvPr>
          <p:cNvSpPr txBox="1"/>
          <p:nvPr/>
        </p:nvSpPr>
        <p:spPr>
          <a:xfrm>
            <a:off x="1333500" y="2295525"/>
            <a:ext cx="28575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最省钱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2C27A0-5849-4602-A102-A1B751B25A15}"/>
              </a:ext>
            </a:extLst>
          </p:cNvPr>
          <p:cNvSpPr txBox="1"/>
          <p:nvPr/>
        </p:nvSpPr>
        <p:spPr>
          <a:xfrm>
            <a:off x="1333500" y="2638425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刚好过门槛，实付最低。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CE4F3EF-4B76-4293-8D7F-65239BF28819}"/>
              </a:ext>
            </a:extLst>
          </p:cNvPr>
          <p:cNvSpPr/>
          <p:nvPr/>
        </p:nvSpPr>
        <p:spPr>
          <a:xfrm>
            <a:off x="838200" y="3048000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6BAF6E1-75A7-4A66-82D4-5F85EEDD795E}"/>
              </a:ext>
            </a:extLst>
          </p:cNvPr>
          <p:cNvSpPr txBox="1"/>
          <p:nvPr/>
        </p:nvSpPr>
        <p:spPr>
          <a:xfrm>
            <a:off x="838200" y="3238500"/>
            <a:ext cx="381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C8D1F73-CC42-47C2-B024-B98B203E5D6B}"/>
              </a:ext>
            </a:extLst>
          </p:cNvPr>
          <p:cNvSpPr txBox="1"/>
          <p:nvPr/>
        </p:nvSpPr>
        <p:spPr>
          <a:xfrm>
            <a:off x="1333500" y="3200400"/>
            <a:ext cx="28575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最想要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9CE29D-ADBF-440C-96B1-04F4901EB223}"/>
              </a:ext>
            </a:extLst>
          </p:cNvPr>
          <p:cNvSpPr txBox="1"/>
          <p:nvPr/>
        </p:nvSpPr>
        <p:spPr>
          <a:xfrm>
            <a:off x="1333500" y="3543300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优先常点 / 偏好品类，不硬塞。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54C3014-26B8-479B-9E61-4C216FA900A6}"/>
              </a:ext>
            </a:extLst>
          </p:cNvPr>
          <p:cNvSpPr/>
          <p:nvPr/>
        </p:nvSpPr>
        <p:spPr>
          <a:xfrm>
            <a:off x="838200" y="3952875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7C5C76F-7D49-44C2-BA3B-5AC1DBE8EDEE}"/>
              </a:ext>
            </a:extLst>
          </p:cNvPr>
          <p:cNvSpPr txBox="1"/>
          <p:nvPr/>
        </p:nvSpPr>
        <p:spPr>
          <a:xfrm>
            <a:off x="838200" y="4143375"/>
            <a:ext cx="381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524448A-6320-472D-9F17-743DC1C71DE2}"/>
              </a:ext>
            </a:extLst>
          </p:cNvPr>
          <p:cNvSpPr txBox="1"/>
          <p:nvPr/>
        </p:nvSpPr>
        <p:spPr>
          <a:xfrm>
            <a:off x="1333500" y="4105275"/>
            <a:ext cx="4953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07637A4-843F-44E4-8C00-C2CBB2FE773A}"/>
              </a:ext>
            </a:extLst>
          </p:cNvPr>
          <p:cNvSpPr txBox="1"/>
          <p:nvPr/>
        </p:nvSpPr>
        <p:spPr>
          <a:xfrm>
            <a:off x="1333500" y="4448175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加购成本高于增量优惠时，明确劝退。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0993B5C-AE58-46DB-9706-114B8AAC0F46}"/>
              </a:ext>
            </a:extLst>
          </p:cNvPr>
          <p:cNvSpPr/>
          <p:nvPr/>
        </p:nvSpPr>
        <p:spPr>
          <a:xfrm>
            <a:off x="7239000" y="1619250"/>
            <a:ext cx="3143250" cy="43815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FCC2FCF3-CDAA-4C30-BC0D-98D92A6A530F}"/>
              </a:ext>
            </a:extLst>
          </p:cNvPr>
          <p:cNvSpPr/>
          <p:nvPr/>
        </p:nvSpPr>
        <p:spPr>
          <a:xfrm>
            <a:off x="7429500" y="1790700"/>
            <a:ext cx="2762250" cy="40386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3DEC432-3852-49CB-B1F7-1ECFECA97F4E}"/>
              </a:ext>
            </a:extLst>
          </p:cNvPr>
          <p:cNvSpPr txBox="1"/>
          <p:nvPr/>
        </p:nvSpPr>
        <p:spPr>
          <a:xfrm>
            <a:off x="7620000" y="1943100"/>
            <a:ext cx="1524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购物车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CBDB2F9-3F29-402A-A977-0DB13FFF509E}"/>
              </a:ext>
            </a:extLst>
          </p:cNvPr>
          <p:cNvSpPr txBox="1"/>
          <p:nvPr/>
        </p:nvSpPr>
        <p:spPr>
          <a:xfrm>
            <a:off x="9239250" y="1924050"/>
            <a:ext cx="762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400" b="1">
                <a:solidFill>
                  <a:srgbClr val="0F172A"/>
                </a:solidFill>
                <a:latin typeface="Arial"/>
                <a:ea typeface="Arial"/>
              </a:rPr>
              <a:t>¥32.0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3A095DE-B34B-4427-87E8-2E55D81785CA}"/>
              </a:ext>
            </a:extLst>
          </p:cNvPr>
          <p:cNvSpPr txBox="1"/>
          <p:nvPr/>
        </p:nvSpPr>
        <p:spPr>
          <a:xfrm>
            <a:off x="7620000" y="226695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34155"/>
                </a:solidFill>
                <a:latin typeface="Microsoft YaHei"/>
                <a:ea typeface="Microsoft YaHei"/>
              </a:rPr>
              <a:t>招牌牛肉饭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7F057F4-FC5B-4C1B-85BF-296B32344736}"/>
              </a:ext>
            </a:extLst>
          </p:cNvPr>
          <p:cNvSpPr txBox="1"/>
          <p:nvPr/>
        </p:nvSpPr>
        <p:spPr>
          <a:xfrm>
            <a:off x="9334500" y="22669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334155"/>
                </a:solidFill>
                <a:latin typeface="Arial"/>
                <a:ea typeface="Arial"/>
              </a:rPr>
              <a:t>¥26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9E6516B-5A0A-4219-A741-CDE0A2F708AB}"/>
              </a:ext>
            </a:extLst>
          </p:cNvPr>
          <p:cNvSpPr txBox="1"/>
          <p:nvPr/>
        </p:nvSpPr>
        <p:spPr>
          <a:xfrm>
            <a:off x="7620000" y="249555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34155"/>
                </a:solidFill>
                <a:latin typeface="Microsoft YaHei"/>
                <a:ea typeface="Microsoft YaHei"/>
              </a:rPr>
              <a:t>冰美式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D0144FF-0EA3-493B-B1B7-06DAA1E87C35}"/>
              </a:ext>
            </a:extLst>
          </p:cNvPr>
          <p:cNvSpPr txBox="1"/>
          <p:nvPr/>
        </p:nvSpPr>
        <p:spPr>
          <a:xfrm>
            <a:off x="9334500" y="24955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334155"/>
                </a:solidFill>
                <a:latin typeface="Arial"/>
                <a:ea typeface="Arial"/>
              </a:rPr>
              <a:t>¥6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E473703E-0B3A-4EF6-96E1-3BD8E5C3D5B5}"/>
              </a:ext>
            </a:extLst>
          </p:cNvPr>
          <p:cNvSpPr/>
          <p:nvPr/>
        </p:nvSpPr>
        <p:spPr>
          <a:xfrm>
            <a:off x="7620000" y="2781300"/>
            <a:ext cx="238125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7AB732F-6F3F-4928-8F21-ED62E08F225C}"/>
              </a:ext>
            </a:extLst>
          </p:cNvPr>
          <p:cNvSpPr txBox="1"/>
          <p:nvPr/>
        </p:nvSpPr>
        <p:spPr>
          <a:xfrm>
            <a:off x="7620000" y="2895600"/>
            <a:ext cx="2381250" cy="1905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再差 ¥6 可减 ¥8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99BF4395-12A2-485D-8227-E58A10ED5436}"/>
              </a:ext>
            </a:extLst>
          </p:cNvPr>
          <p:cNvSpPr/>
          <p:nvPr/>
        </p:nvSpPr>
        <p:spPr>
          <a:xfrm>
            <a:off x="7620000" y="3162300"/>
            <a:ext cx="238125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269186F-E257-4CB8-AC8A-0EC5C19A5B6F}"/>
              </a:ext>
            </a:extLst>
          </p:cNvPr>
          <p:cNvSpPr txBox="1"/>
          <p:nvPr/>
        </p:nvSpPr>
        <p:spPr>
          <a:xfrm>
            <a:off x="7734300" y="3200400"/>
            <a:ext cx="2190750" cy="17145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最省钱 · 加小菜 ¥6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88E7A47-B5EE-433F-87A0-E69DE42AF629}"/>
              </a:ext>
            </a:extLst>
          </p:cNvPr>
          <p:cNvSpPr txBox="1"/>
          <p:nvPr/>
        </p:nvSpPr>
        <p:spPr>
          <a:xfrm>
            <a:off x="7734300" y="3390900"/>
            <a:ext cx="2190750" cy="152400"/>
          </a:xfrm>
        </p:spPr>
        <p:txBody>
          <a:bodyPr wrap="square" rtlCol="0" lIns="0" tIns="0" rIns="0" bIns="0" anchor="t"/>
          <a:lstStyle/>
          <a:p>
            <a:r>
              <a:rPr sz="950">
                <a:solidFill>
                  <a:srgbClr val="059669"/>
                </a:solidFill>
                <a:latin typeface="Microsoft YaHei"/>
                <a:ea typeface="Microsoft YaHei"/>
              </a:rPr>
              <a:t>实付 ¥30 · 净省 ¥2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316472FF-BE80-41D9-A8A6-A48932606480}"/>
              </a:ext>
            </a:extLst>
          </p:cNvPr>
          <p:cNvSpPr/>
          <p:nvPr/>
        </p:nvSpPr>
        <p:spPr>
          <a:xfrm>
            <a:off x="7620000" y="3657600"/>
            <a:ext cx="238125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DE30F6C-65EC-4E64-881C-AD5B57155DE4}"/>
              </a:ext>
            </a:extLst>
          </p:cNvPr>
          <p:cNvSpPr txBox="1"/>
          <p:nvPr/>
        </p:nvSpPr>
        <p:spPr>
          <a:xfrm>
            <a:off x="7734300" y="3695700"/>
            <a:ext cx="2190750" cy="17145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最想要 · 加豆干 ¥7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FB7B91D-3318-447E-B2A9-D6E6F2A75709}"/>
              </a:ext>
            </a:extLst>
          </p:cNvPr>
          <p:cNvSpPr txBox="1"/>
          <p:nvPr/>
        </p:nvSpPr>
        <p:spPr>
          <a:xfrm>
            <a:off x="7734300" y="3886200"/>
            <a:ext cx="2190750" cy="152400"/>
          </a:xfrm>
        </p:spPr>
        <p:txBody>
          <a:bodyPr wrap="square" rtlCol="0" lIns="0" tIns="0" rIns="0" bIns="0" anchor="t"/>
          <a:lstStyle/>
          <a:p>
            <a:r>
              <a:rPr sz="950">
                <a:solidFill>
                  <a:srgbClr val="059669"/>
                </a:solidFill>
                <a:latin typeface="Microsoft YaHei"/>
                <a:ea typeface="Microsoft YaHei"/>
              </a:rPr>
              <a:t>实付 ¥31 · 净省 ¥1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EBB926A4-0A70-44D8-ADAB-690CE49E2CE4}"/>
              </a:ext>
            </a:extLst>
          </p:cNvPr>
          <p:cNvSpPr/>
          <p:nvPr/>
        </p:nvSpPr>
        <p:spPr>
          <a:xfrm>
            <a:off x="7620000" y="4152900"/>
            <a:ext cx="2381250" cy="41910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B14E7BB-A505-445C-936B-FE0432BC291E}"/>
              </a:ext>
            </a:extLst>
          </p:cNvPr>
          <p:cNvSpPr txBox="1"/>
          <p:nvPr/>
        </p:nvSpPr>
        <p:spPr>
          <a:xfrm>
            <a:off x="7734300" y="4191000"/>
            <a:ext cx="2190750" cy="17145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80A6BA07-E0C2-4A1F-B7F4-12DCF6968191}"/>
              </a:ext>
            </a:extLst>
          </p:cNvPr>
          <p:cNvSpPr txBox="1"/>
          <p:nvPr/>
        </p:nvSpPr>
        <p:spPr>
          <a:xfrm>
            <a:off x="7734300" y="4381500"/>
            <a:ext cx="2190750" cy="152400"/>
          </a:xfrm>
        </p:spPr>
        <p:txBody>
          <a:bodyPr wrap="square" rtlCol="0" lIns="0" tIns="0" rIns="0" bIns="0" anchor="t"/>
          <a:lstStyle/>
          <a:p>
            <a:r>
              <a:rPr sz="950">
                <a:solidFill>
                  <a:srgbClr val="64748B"/>
                </a:solidFill>
                <a:latin typeface="Microsoft YaHei"/>
                <a:ea typeface="Microsoft YaHei"/>
              </a:rPr>
              <a:t>直接结算 ¥32，不加购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914797D-F4E6-4E7B-94EA-CA418ACEB08F}"/>
              </a:ext>
            </a:extLst>
          </p:cNvPr>
          <p:cNvSpPr/>
          <p:nvPr/>
        </p:nvSpPr>
        <p:spPr>
          <a:xfrm>
            <a:off x="7620000" y="4724400"/>
            <a:ext cx="2381250" cy="2857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5675CE17-62CC-4995-B38E-32E3C545D046}"/>
              </a:ext>
            </a:extLst>
          </p:cNvPr>
          <p:cNvSpPr txBox="1"/>
          <p:nvPr/>
        </p:nvSpPr>
        <p:spPr>
          <a:xfrm>
            <a:off x="7762875" y="4791075"/>
            <a:ext cx="20955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按净省排序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ACE482C-D725-4A1F-8D3A-5DCA99D34380}"/>
              </a:ext>
            </a:extLst>
          </p:cNvPr>
          <p:cNvSpPr txBox="1"/>
          <p:nvPr/>
        </p:nvSpPr>
        <p:spPr>
          <a:xfrm>
            <a:off x="7620000" y="5143500"/>
            <a:ext cx="238125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950">
                <a:solidFill>
                  <a:srgbClr val="64748B"/>
                </a:solidFill>
                <a:latin typeface="Microsoft YaHei"/>
                <a:ea typeface="Microsoft YaHei"/>
              </a:rPr>
              <a:t>始终保留「不凑」选项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C3FDA03-92BC-4299-B712-55621F0A5897}"/>
              </a:ext>
            </a:extLst>
          </p:cNvPr>
          <p:cNvSpPr txBox="1"/>
          <p:nvPr/>
        </p:nvSpPr>
        <p:spPr>
          <a:xfrm>
            <a:off x="7620000" y="5334000"/>
            <a:ext cx="238125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950">
                <a:solidFill>
                  <a:srgbClr val="94A3B8"/>
                </a:solidFill>
                <a:latin typeface="Microsoft YaHei"/>
                <a:ea typeface="Microsoft YaHei"/>
              </a:rPr>
              <a:t>价格以结算页为准</a:t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D79296A4-5BDA-4493-BE56-705F1C4847EF}"/>
              </a:ext>
            </a:extLst>
          </p:cNvPr>
          <p:cNvSpPr/>
          <p:nvPr/>
        </p:nvSpPr>
        <p:spPr>
          <a:xfrm>
            <a:off x="838200" y="5334000"/>
            <a:ext cx="6096000" cy="43815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A2A1719-4620-4CED-BBA7-602DCF5A2C1C}"/>
              </a:ext>
            </a:extLst>
          </p:cNvPr>
          <p:cNvSpPr txBox="1"/>
          <p:nvPr/>
        </p:nvSpPr>
        <p:spPr>
          <a:xfrm>
            <a:off x="1028700" y="54483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1E40AF"/>
                </a:solidFill>
                <a:latin typeface="Microsoft YaHei"/>
                <a:ea typeface="Microsoft YaHei"/>
              </a:rPr>
              <a:t>净省 = 增量优惠 − 加购价 − 附加费；以结算价为准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9C43D1D3-05F8-4B79-A1F4-6BDA6168B094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A619713-B37C-46FB-9309-590EFA0BC8FA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102F81C-5564-4F31-ABE6-6C387C0B3862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04 / 算法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不是推荐列表，是带约束的实时求解器。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EBA3BDF-0EEA-4887-B13F-7587751C9D5A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在满减、券、库存、配送费约束下，最大化用户净省。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C41794A-BDC4-4BC0-98B5-8C86F927AC83}"/>
              </a:ext>
            </a:extLst>
          </p:cNvPr>
          <p:cNvSpPr/>
          <p:nvPr/>
        </p:nvSpPr>
        <p:spPr>
          <a:xfrm>
            <a:off x="838200" y="1981200"/>
            <a:ext cx="419100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ED78E84-AA17-4C8D-A043-06D85693E436}"/>
              </a:ext>
            </a:extLst>
          </p:cNvPr>
          <p:cNvSpPr txBox="1"/>
          <p:nvPr/>
        </p:nvSpPr>
        <p:spPr>
          <a:xfrm>
            <a:off x="1066800" y="2152650"/>
            <a:ext cx="3733800" cy="2095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问题定义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26322FD-7E77-421C-8D71-85B913DD0CFA}"/>
              </a:ext>
            </a:extLst>
          </p:cNvPr>
          <p:cNvSpPr txBox="1"/>
          <p:nvPr/>
        </p:nvSpPr>
        <p:spPr>
          <a:xfrm>
            <a:off x="1066800" y="2438400"/>
            <a:ext cx="37338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max  NetSaving(x)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ADFB804-2CC7-45AE-900C-0CB6A150DF30}"/>
              </a:ext>
            </a:extLst>
          </p:cNvPr>
          <p:cNvSpPr txBox="1"/>
          <p:nvPr/>
        </p:nvSpPr>
        <p:spPr>
          <a:xfrm>
            <a:off x="1066800" y="2762250"/>
            <a:ext cx="3733800" cy="2286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475569"/>
                </a:solidFill>
                <a:latin typeface="Arial"/>
                <a:ea typeface="Arial"/>
              </a:rPr>
              <a:t>= Pay(C₀) − Pay(C₀ ∪ x)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7F56C8-983C-4C6D-B3B4-5BB2FFD7441E}"/>
              </a:ext>
            </a:extLst>
          </p:cNvPr>
          <p:cNvSpPr txBox="1"/>
          <p:nvPr/>
        </p:nvSpPr>
        <p:spPr>
          <a:xfrm>
            <a:off x="1066800" y="3048000"/>
            <a:ext cx="3733800" cy="3810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s.t. 满减 / 券叠加 / 库存 / 配送费 / 件数 ≤ 4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2CF8239-DBFB-4332-854B-44FC78AC1E4E}"/>
              </a:ext>
            </a:extLst>
          </p:cNvPr>
          <p:cNvSpPr/>
          <p:nvPr/>
        </p:nvSpPr>
        <p:spPr>
          <a:xfrm>
            <a:off x="1066800" y="3476625"/>
            <a:ext cx="37338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B60C7A3-5385-44EE-B3CF-878197D65100}"/>
              </a:ext>
            </a:extLst>
          </p:cNvPr>
          <p:cNvSpPr txBox="1"/>
          <p:nvPr/>
        </p:nvSpPr>
        <p:spPr>
          <a:xfrm>
            <a:off x="1066800" y="3619500"/>
            <a:ext cx="3733800" cy="1238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候选剪枝：价格窗口内 ≤ 20 个 SKU</a:t>
            </a:r>
            <a:br/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组合求解：穷举 / DP，偏好可加权</a:t>
            </a:r>
            <a:br/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计价校验：结算沙箱 Dry-run</a:t>
            </a:r>
            <a:br/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超时降级：静态差额索引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687754A-DF07-441A-97E5-3F379445D485}"/>
              </a:ext>
            </a:extLst>
          </p:cNvPr>
          <p:cNvSpPr/>
          <p:nvPr/>
        </p:nvSpPr>
        <p:spPr>
          <a:xfrm>
            <a:off x="52959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247784A-FBB9-47DD-A4CB-35601711C335}"/>
              </a:ext>
            </a:extLst>
          </p:cNvPr>
          <p:cNvSpPr txBox="1"/>
          <p:nvPr/>
        </p:nvSpPr>
        <p:spPr>
          <a:xfrm>
            <a:off x="54292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713AF0C-9E79-40D1-B07E-326C20BFA01B}"/>
              </a:ext>
            </a:extLst>
          </p:cNvPr>
          <p:cNvSpPr txBox="1"/>
          <p:nvPr/>
        </p:nvSpPr>
        <p:spPr>
          <a:xfrm>
            <a:off x="54292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规则解析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61282F5-38A0-4CE1-B161-627D0800B908}"/>
              </a:ext>
            </a:extLst>
          </p:cNvPr>
          <p:cNvSpPr txBox="1"/>
          <p:nvPr/>
        </p:nvSpPr>
        <p:spPr>
          <a:xfrm>
            <a:off x="54292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解析满减、券、配送费与门槛。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B6776E9-AD42-4F7C-AB9C-384B1EA0915C}"/>
              </a:ext>
            </a:extLst>
          </p:cNvPr>
          <p:cNvSpPr/>
          <p:nvPr/>
        </p:nvSpPr>
        <p:spPr>
          <a:xfrm>
            <a:off x="67818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5C68967-4AC3-4471-8104-9B87261F64AF}"/>
              </a:ext>
            </a:extLst>
          </p:cNvPr>
          <p:cNvSpPr txBox="1"/>
          <p:nvPr/>
        </p:nvSpPr>
        <p:spPr>
          <a:xfrm>
            <a:off x="69151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10B6B16-C84C-452D-9588-BD1DA0C3559E}"/>
              </a:ext>
            </a:extLst>
          </p:cNvPr>
          <p:cNvSpPr txBox="1"/>
          <p:nvPr/>
        </p:nvSpPr>
        <p:spPr>
          <a:xfrm>
            <a:off x="69151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候选剪枝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1212BB3-C7C9-4250-8766-8A4C6FCEDC32}"/>
              </a:ext>
            </a:extLst>
          </p:cNvPr>
          <p:cNvSpPr txBox="1"/>
          <p:nvPr/>
        </p:nvSpPr>
        <p:spPr>
          <a:xfrm>
            <a:off x="69151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价格窗口 + 库存过滤，缩到 20 个。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5C32D5F-6B55-4FF0-B874-9E56F6607142}"/>
              </a:ext>
            </a:extLst>
          </p:cNvPr>
          <p:cNvSpPr/>
          <p:nvPr/>
        </p:nvSpPr>
        <p:spPr>
          <a:xfrm>
            <a:off x="82677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E73E2A2-32B2-4B52-837A-352CB35441B4}"/>
              </a:ext>
            </a:extLst>
          </p:cNvPr>
          <p:cNvSpPr txBox="1"/>
          <p:nvPr/>
        </p:nvSpPr>
        <p:spPr>
          <a:xfrm>
            <a:off x="84010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4CE62E0-BD6A-4C7B-BB2E-274687179FD9}"/>
              </a:ext>
            </a:extLst>
          </p:cNvPr>
          <p:cNvSpPr txBox="1"/>
          <p:nvPr/>
        </p:nvSpPr>
        <p:spPr>
          <a:xfrm>
            <a:off x="84010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优化求解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F78A437-9017-4AEB-A2B8-74799E23AC0F}"/>
              </a:ext>
            </a:extLst>
          </p:cNvPr>
          <p:cNvSpPr txBox="1"/>
          <p:nvPr/>
        </p:nvSpPr>
        <p:spPr>
          <a:xfrm>
            <a:off x="84010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DP / ILP 求组合，输出 Top 3。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17986F3-7140-44D2-BFD6-CF41CB4E1D3B}"/>
              </a:ext>
            </a:extLst>
          </p:cNvPr>
          <p:cNvSpPr/>
          <p:nvPr/>
        </p:nvSpPr>
        <p:spPr>
          <a:xfrm>
            <a:off x="97536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D523A09-2D4F-44FA-9200-455AE498282F}"/>
              </a:ext>
            </a:extLst>
          </p:cNvPr>
          <p:cNvSpPr txBox="1"/>
          <p:nvPr/>
        </p:nvSpPr>
        <p:spPr>
          <a:xfrm>
            <a:off x="98869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E0019-6308-4848-8423-0C83558CEB5F}"/>
              </a:ext>
            </a:extLst>
          </p:cNvPr>
          <p:cNvSpPr txBox="1"/>
          <p:nvPr/>
        </p:nvSpPr>
        <p:spPr>
          <a:xfrm>
            <a:off x="98869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解释渲染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F3DA3F0-FD19-4AE5-BED5-1A5B83573B5E}"/>
              </a:ext>
            </a:extLst>
          </p:cNvPr>
          <p:cNvSpPr txBox="1"/>
          <p:nvPr/>
        </p:nvSpPr>
        <p:spPr>
          <a:xfrm>
            <a:off x="98869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模板化净省说明，返回前端。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603C869-E632-4FA9-A76B-178E3FAFA9EB}"/>
              </a:ext>
            </a:extLst>
          </p:cNvPr>
          <p:cNvSpPr txBox="1"/>
          <p:nvPr/>
        </p:nvSpPr>
        <p:spPr>
          <a:xfrm>
            <a:off x="5295900" y="3810000"/>
            <a:ext cx="3810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延迟预算 · P99 &lt; 100ms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1980A645-D9F1-4690-A174-5F7EB2EDCE16}"/>
              </a:ext>
            </a:extLst>
          </p:cNvPr>
          <p:cNvSpPr/>
          <p:nvPr/>
        </p:nvSpPr>
        <p:spPr>
          <a:xfrm>
            <a:off x="5295900" y="4057650"/>
            <a:ext cx="952500" cy="209550"/>
          </a:xfrm>
          <a:prstGeom prst="rect">
            <a:avLst/>
          </a:prstGeom>
          <a:solidFill>
            <a:srgbClr val="93C5F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B9AEDD06-828C-48C6-863F-8C0674B742FF}"/>
              </a:ext>
            </a:extLst>
          </p:cNvPr>
          <p:cNvSpPr/>
          <p:nvPr/>
        </p:nvSpPr>
        <p:spPr>
          <a:xfrm>
            <a:off x="6248400" y="4057650"/>
            <a:ext cx="1590675" cy="209550"/>
          </a:xfrm>
          <a:prstGeom prst="rect">
            <a:avLst/>
          </a:prstGeom>
          <a:solidFill>
            <a:srgbClr val="60A5F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1C1E9C7-1BAD-488E-8004-BF5F539C75C8}"/>
              </a:ext>
            </a:extLst>
          </p:cNvPr>
          <p:cNvSpPr/>
          <p:nvPr/>
        </p:nvSpPr>
        <p:spPr>
          <a:xfrm>
            <a:off x="7839075" y="4057650"/>
            <a:ext cx="2219325" cy="209550"/>
          </a:xfrm>
          <a:prstGeom prst="rect">
            <a:avLst/>
          </a:prstGeom>
          <a:solidFill>
            <a:srgbClr val="3B82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6DA6CFA8-3EAF-40B1-B295-87F9F4077D6E}"/>
              </a:ext>
            </a:extLst>
          </p:cNvPr>
          <p:cNvSpPr/>
          <p:nvPr/>
        </p:nvSpPr>
        <p:spPr>
          <a:xfrm>
            <a:off x="10058400" y="4057650"/>
            <a:ext cx="1104900" cy="2095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C93764A-C48B-453D-B240-4085F9D197AC}"/>
              </a:ext>
            </a:extLst>
          </p:cNvPr>
          <p:cNvSpPr txBox="1"/>
          <p:nvPr/>
        </p:nvSpPr>
        <p:spPr>
          <a:xfrm>
            <a:off x="5295900" y="4324350"/>
            <a:ext cx="1143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规则 15ms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3F1ADA0-88EA-4BE3-A9B8-1A054F37FD38}"/>
              </a:ext>
            </a:extLst>
          </p:cNvPr>
          <p:cNvSpPr txBox="1"/>
          <p:nvPr/>
        </p:nvSpPr>
        <p:spPr>
          <a:xfrm>
            <a:off x="6438900" y="432435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候选 25ms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DA5E89DD-0E87-4670-A033-FC4F1D814488}"/>
              </a:ext>
            </a:extLst>
          </p:cNvPr>
          <p:cNvSpPr txBox="1"/>
          <p:nvPr/>
        </p:nvSpPr>
        <p:spPr>
          <a:xfrm>
            <a:off x="7839075" y="432435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求解 35ms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79ED93C-913A-461A-992C-3DB669349372}"/>
              </a:ext>
            </a:extLst>
          </p:cNvPr>
          <p:cNvSpPr txBox="1"/>
          <p:nvPr/>
        </p:nvSpPr>
        <p:spPr>
          <a:xfrm>
            <a:off x="9963150" y="4324350"/>
            <a:ext cx="120015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渲染 15ms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CDFCFA69-39B4-4D3C-8952-0837FDC059B8}"/>
              </a:ext>
            </a:extLst>
          </p:cNvPr>
          <p:cNvSpPr txBox="1"/>
          <p:nvPr/>
        </p:nvSpPr>
        <p:spPr>
          <a:xfrm>
            <a:off x="5295900" y="4591050"/>
            <a:ext cx="58674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10ms 缓冲；超时直接降级，不阻塞下单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254E28DD-5824-45FE-99DE-079B72702616}"/>
              </a:ext>
            </a:extLst>
          </p:cNvPr>
          <p:cNvSpPr/>
          <p:nvPr/>
        </p:nvSpPr>
        <p:spPr>
          <a:xfrm>
            <a:off x="838200" y="5238750"/>
            <a:ext cx="10458450" cy="5334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6325AC25-5102-4088-A6ED-253D5417859F}"/>
              </a:ext>
            </a:extLst>
          </p:cNvPr>
          <p:cNvSpPr txBox="1"/>
          <p:nvPr/>
        </p:nvSpPr>
        <p:spPr>
          <a:xfrm>
            <a:off x="1028700" y="5391150"/>
            <a:ext cx="1007745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1E40AF"/>
                </a:solidFill>
                <a:latin typeface="Microsoft YaHei"/>
                <a:ea typeface="Microsoft YaHei"/>
              </a:rPr>
              <a:t>报价 = 结算 100% 同源   ·   超时降级 · 不阻塞下单   ·   全链路可观测 · 可回滚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68B14D30-B5B5-4F28-A71A-4862283DB3AB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9F7B544-FECA-439F-A4E1-58E52B2DCA0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21FD766-8402-4DF1-895F-345FEED14B8E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05 / 壁垒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算法不是壁垒，闭环才是。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318529D-5360-489F-B144-90A721FAE4B4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规则接得准、数据转得动、用户信得过，三件事缺一不可。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34F43DB-315E-4EC3-BE2A-A3114BF0A89D}"/>
              </a:ext>
            </a:extLst>
          </p:cNvPr>
          <p:cNvSpPr/>
          <p:nvPr/>
        </p:nvSpPr>
        <p:spPr>
          <a:xfrm>
            <a:off x="838200" y="1981200"/>
            <a:ext cx="323850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B091C11-8BA2-4A4E-8DAF-B010EFC61663}"/>
              </a:ext>
            </a:extLst>
          </p:cNvPr>
          <p:cNvSpPr txBox="1"/>
          <p:nvPr/>
        </p:nvSpPr>
        <p:spPr>
          <a:xfrm>
            <a:off x="1104900" y="2152650"/>
            <a:ext cx="27051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7D8602-93F2-41A9-B7D9-B90EEAA92786}"/>
              </a:ext>
            </a:extLst>
          </p:cNvPr>
          <p:cNvSpPr txBox="1"/>
          <p:nvPr/>
        </p:nvSpPr>
        <p:spPr>
          <a:xfrm>
            <a:off x="1104900" y="24384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规则本体库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E30CDB-7A92-4DF3-8FA6-7DF239124575}"/>
              </a:ext>
            </a:extLst>
          </p:cNvPr>
          <p:cNvSpPr txBox="1"/>
          <p:nvPr/>
        </p:nvSpPr>
        <p:spPr>
          <a:xfrm>
            <a:off x="1104900" y="2819400"/>
            <a:ext cx="270510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Arial"/>
                <a:ea typeface="Arial"/>
              </a:rPr>
              <a:t>200+ 规则模板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A5DBE8-8F70-4DF7-9F16-712E7DBB648E}"/>
              </a:ext>
            </a:extLst>
          </p:cNvPr>
          <p:cNvSpPr txBox="1"/>
          <p:nvPr/>
        </p:nvSpPr>
        <p:spPr>
          <a:xfrm>
            <a:off x="1104900" y="3200400"/>
            <a:ext cx="270510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把满减、券、配送费结构化成可执行规则，跨平台复用。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DA4C89F-5315-42D2-8E5E-941EB3EE3292}"/>
              </a:ext>
            </a:extLst>
          </p:cNvPr>
          <p:cNvSpPr/>
          <p:nvPr/>
        </p:nvSpPr>
        <p:spPr>
          <a:xfrm>
            <a:off x="4305300" y="1981200"/>
            <a:ext cx="323850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41CA761-116D-4083-90EC-AAA599757210}"/>
              </a:ext>
            </a:extLst>
          </p:cNvPr>
          <p:cNvSpPr txBox="1"/>
          <p:nvPr/>
        </p:nvSpPr>
        <p:spPr>
          <a:xfrm>
            <a:off x="4572000" y="2152650"/>
            <a:ext cx="27051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128C931-1153-4937-933B-ECD5E3E937D7}"/>
              </a:ext>
            </a:extLst>
          </p:cNvPr>
          <p:cNvSpPr txBox="1"/>
          <p:nvPr/>
        </p:nvSpPr>
        <p:spPr>
          <a:xfrm>
            <a:off x="4572000" y="24384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同源报价引擎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24D850-0277-4342-97F5-DD9B9E9D5249}"/>
              </a:ext>
            </a:extLst>
          </p:cNvPr>
          <p:cNvSpPr txBox="1"/>
          <p:nvPr/>
        </p:nvSpPr>
        <p:spPr>
          <a:xfrm>
            <a:off x="4572000" y="2819400"/>
            <a:ext cx="270510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Arial"/>
                <a:ea typeface="Arial"/>
              </a:rPr>
              <a:t>100% 一致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5BD1A9F-4524-4BEB-B136-5F77C8157391}"/>
              </a:ext>
            </a:extLst>
          </p:cNvPr>
          <p:cNvSpPr txBox="1"/>
          <p:nvPr/>
        </p:nvSpPr>
        <p:spPr>
          <a:xfrm>
            <a:off x="4572000" y="3200400"/>
            <a:ext cx="270510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报价直接调用结算沙箱，差异 &gt; 0.01 元即告警。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DE0A2D3-4AD6-4805-BD55-56392D001371}"/>
              </a:ext>
            </a:extLst>
          </p:cNvPr>
          <p:cNvSpPr/>
          <p:nvPr/>
        </p:nvSpPr>
        <p:spPr>
          <a:xfrm>
            <a:off x="7772400" y="1981200"/>
            <a:ext cx="352425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5404B7A-EEE2-48C1-AE73-EB1768EDB858}"/>
              </a:ext>
            </a:extLst>
          </p:cNvPr>
          <p:cNvSpPr txBox="1"/>
          <p:nvPr/>
        </p:nvSpPr>
        <p:spPr>
          <a:xfrm>
            <a:off x="8039100" y="2152650"/>
            <a:ext cx="299085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706314B-EEB1-45EE-82B4-D244EDFFF2B8}"/>
              </a:ext>
            </a:extLst>
          </p:cNvPr>
          <p:cNvSpPr txBox="1"/>
          <p:nvPr/>
        </p:nvSpPr>
        <p:spPr>
          <a:xfrm>
            <a:off x="8039100" y="2438400"/>
            <a:ext cx="299085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劝退样本库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908C210-78D2-4EFE-A2F5-56463245EC46}"/>
              </a:ext>
            </a:extLst>
          </p:cNvPr>
          <p:cNvSpPr txBox="1"/>
          <p:nvPr/>
        </p:nvSpPr>
        <p:spPr>
          <a:xfrm>
            <a:off x="8039100" y="2819400"/>
            <a:ext cx="299085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Microsoft YaHei"/>
                <a:ea typeface="Microsoft YaHei"/>
              </a:rPr>
              <a:t>负反馈资产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A4A163E-21AD-42D5-9785-F7F11D88F3B2}"/>
              </a:ext>
            </a:extLst>
          </p:cNvPr>
          <p:cNvSpPr txBox="1"/>
          <p:nvPr/>
        </p:nvSpPr>
        <p:spPr>
          <a:xfrm>
            <a:off x="8039100" y="3200400"/>
            <a:ext cx="299085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记录什么不该推荐，形成难以复制的信任数据。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48EE0B7-F742-4C4E-8E1F-107A580C7439}"/>
              </a:ext>
            </a:extLst>
          </p:cNvPr>
          <p:cNvSpPr/>
          <p:nvPr/>
        </p:nvSpPr>
        <p:spPr>
          <a:xfrm>
            <a:off x="838200" y="4476750"/>
            <a:ext cx="10458450" cy="133350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D1BBF20-9591-4353-86EF-3B19FB7C256F}"/>
              </a:ext>
            </a:extLst>
          </p:cNvPr>
          <p:cNvSpPr txBox="1"/>
          <p:nvPr/>
        </p:nvSpPr>
        <p:spPr>
          <a:xfrm>
            <a:off x="1066800" y="4648200"/>
            <a:ext cx="28575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数据飞轮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727C3F0-B381-43AF-8165-65CA51C9B87C}"/>
              </a:ext>
            </a:extLst>
          </p:cNvPr>
          <p:cNvSpPr/>
          <p:nvPr/>
        </p:nvSpPr>
        <p:spPr>
          <a:xfrm>
            <a:off x="10668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342E31F-02D4-4C8B-A632-8CE2B45FC6C5}"/>
              </a:ext>
            </a:extLst>
          </p:cNvPr>
          <p:cNvSpPr txBox="1"/>
          <p:nvPr/>
        </p:nvSpPr>
        <p:spPr>
          <a:xfrm>
            <a:off x="10668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规则接入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ACB5A4E-4402-4574-8135-C549F20CE597}"/>
              </a:ext>
            </a:extLst>
          </p:cNvPr>
          <p:cNvSpPr txBox="1"/>
          <p:nvPr/>
        </p:nvSpPr>
        <p:spPr>
          <a:xfrm>
            <a:off x="30289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A02EE9EF-9FC8-4997-BD24-FF71A0CF4806}"/>
              </a:ext>
            </a:extLst>
          </p:cNvPr>
          <p:cNvSpPr/>
          <p:nvPr/>
        </p:nvSpPr>
        <p:spPr>
          <a:xfrm>
            <a:off x="36195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BE3F3F7-600A-46CB-B268-12D985719017}"/>
              </a:ext>
            </a:extLst>
          </p:cNvPr>
          <p:cNvSpPr txBox="1"/>
          <p:nvPr/>
        </p:nvSpPr>
        <p:spPr>
          <a:xfrm>
            <a:off x="36195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方案输出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CDEB2AC-4230-497A-BDB2-49E1F0759686}"/>
              </a:ext>
            </a:extLst>
          </p:cNvPr>
          <p:cNvSpPr txBox="1"/>
          <p:nvPr/>
        </p:nvSpPr>
        <p:spPr>
          <a:xfrm>
            <a:off x="55816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D4BC143-81C9-4D01-9134-8173A8E0FCFA}"/>
              </a:ext>
            </a:extLst>
          </p:cNvPr>
          <p:cNvSpPr/>
          <p:nvPr/>
        </p:nvSpPr>
        <p:spPr>
          <a:xfrm>
            <a:off x="61722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BB85853-95B2-47F2-A996-68DA575E42D6}"/>
              </a:ext>
            </a:extLst>
          </p:cNvPr>
          <p:cNvSpPr txBox="1"/>
          <p:nvPr/>
        </p:nvSpPr>
        <p:spPr>
          <a:xfrm>
            <a:off x="61722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用户反馈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A7D2194-7BB6-4957-9767-DB375A711F96}"/>
              </a:ext>
            </a:extLst>
          </p:cNvPr>
          <p:cNvSpPr txBox="1"/>
          <p:nvPr/>
        </p:nvSpPr>
        <p:spPr>
          <a:xfrm>
            <a:off x="81343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3C5F21EC-AABF-46B3-862F-A0810738BCD2}"/>
              </a:ext>
            </a:extLst>
          </p:cNvPr>
          <p:cNvSpPr/>
          <p:nvPr/>
        </p:nvSpPr>
        <p:spPr>
          <a:xfrm>
            <a:off x="87249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B0E88B9-5711-42BD-AD4C-A08B871E4E23}"/>
              </a:ext>
            </a:extLst>
          </p:cNvPr>
          <p:cNvSpPr txBox="1"/>
          <p:nvPr/>
        </p:nvSpPr>
        <p:spPr>
          <a:xfrm>
            <a:off x="87249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更好排序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8D05BD6-FB90-4986-A5CD-C902EE4A1B7D}"/>
              </a:ext>
            </a:extLst>
          </p:cNvPr>
          <p:cNvSpPr txBox="1"/>
          <p:nvPr/>
        </p:nvSpPr>
        <p:spPr>
          <a:xfrm>
            <a:off x="10687050" y="4991100"/>
            <a:ext cx="38100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↺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18BF634-81A9-41F3-A36E-02FF76C0DB01}"/>
              </a:ext>
            </a:extLst>
          </p:cNvPr>
          <p:cNvSpPr txBox="1"/>
          <p:nvPr/>
        </p:nvSpPr>
        <p:spPr>
          <a:xfrm>
            <a:off x="1066800" y="5505450"/>
            <a:ext cx="9525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v1.4 已实现：采纳与忽略按品类加权回到排序。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2678235-AA6A-480D-AF93-8C3996EF48C9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F50A20C-1316-4C52-90D7-CE71FA95925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A5D7CA-36B7-4B2E-BDF4-25B224BB44D9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06 / 竞争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现有方案，都不解决「净省」。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2624E49-4C3D-46B2-8EBA-8CA44006954C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要么没嵌进结算，要么不保证净省；右上角是空位。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55B5543-26B9-4828-82E8-1291EEB1AE01}"/>
              </a:ext>
            </a:extLst>
          </p:cNvPr>
          <p:cNvSpPr/>
          <p:nvPr/>
        </p:nvSpPr>
        <p:spPr>
          <a:xfrm>
            <a:off x="838200" y="1981200"/>
            <a:ext cx="5905500" cy="3429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90EBFDD-49AB-4FBB-807E-6595C0243445}"/>
              </a:ext>
            </a:extLst>
          </p:cNvPr>
          <p:cNvSpPr/>
          <p:nvPr/>
        </p:nvSpPr>
        <p:spPr>
          <a:xfrm>
            <a:off x="3790950" y="1981200"/>
            <a:ext cx="2952750" cy="17145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A20DEB5-73AC-49D8-8F22-086A868DC8C5}"/>
              </a:ext>
            </a:extLst>
          </p:cNvPr>
          <p:cNvSpPr/>
          <p:nvPr/>
        </p:nvSpPr>
        <p:spPr>
          <a:xfrm>
            <a:off x="838200" y="3695700"/>
            <a:ext cx="5905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DDAB464-59EE-4FA7-8928-B6380AA3AC16}"/>
              </a:ext>
            </a:extLst>
          </p:cNvPr>
          <p:cNvSpPr/>
          <p:nvPr/>
        </p:nvSpPr>
        <p:spPr>
          <a:xfrm>
            <a:off x="3790950" y="1981200"/>
            <a:ext cx="19050" cy="342900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BE0AED-B521-46D1-8878-62D89FF7F478}"/>
              </a:ext>
            </a:extLst>
          </p:cNvPr>
          <p:cNvSpPr txBox="1"/>
          <p:nvPr/>
        </p:nvSpPr>
        <p:spPr>
          <a:xfrm>
            <a:off x="1028700" y="209550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保证净省 ↑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325CC6-8C3A-4E07-B33D-31D4458042A6}"/>
              </a:ext>
            </a:extLst>
          </p:cNvPr>
          <p:cNvSpPr txBox="1"/>
          <p:nvPr/>
        </p:nvSpPr>
        <p:spPr>
          <a:xfrm>
            <a:off x="5143500" y="5143500"/>
            <a:ext cx="1428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嵌入结算 →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C62C31B-239D-4BC4-BDF5-37C30FEF577B}"/>
              </a:ext>
            </a:extLst>
          </p:cNvPr>
          <p:cNvSpPr txBox="1"/>
          <p:nvPr/>
        </p:nvSpPr>
        <p:spPr>
          <a:xfrm>
            <a:off x="1066800" y="2266950"/>
            <a:ext cx="2476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第三方返利 / 比价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807C41F-E02F-43F5-B30A-71D7811CB4B6}"/>
              </a:ext>
            </a:extLst>
          </p:cNvPr>
          <p:cNvSpPr txBox="1"/>
          <p:nvPr/>
        </p:nvSpPr>
        <p:spPr>
          <a:xfrm>
            <a:off x="1066800" y="255270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站外领券，链路长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5F25F3F-22AD-452E-98B7-0A823A141AD6}"/>
              </a:ext>
            </a:extLst>
          </p:cNvPr>
          <p:cNvSpPr txBox="1"/>
          <p:nvPr/>
        </p:nvSpPr>
        <p:spPr>
          <a:xfrm>
            <a:off x="4019550" y="2266950"/>
            <a:ext cx="24765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刚好 · 净省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FE89C0C-ED67-4412-AF68-F53985BF4723}"/>
              </a:ext>
            </a:extLst>
          </p:cNvPr>
          <p:cNvSpPr txBox="1"/>
          <p:nvPr/>
        </p:nvSpPr>
        <p:spPr>
          <a:xfrm>
            <a:off x="4019550" y="259080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1E40AF"/>
                </a:solidFill>
                <a:latin typeface="Microsoft YaHei"/>
                <a:ea typeface="Microsoft YaHei"/>
              </a:rPr>
              <a:t>嵌入 + 净省 + 可解释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44F6672-5A4F-4C7A-B2BE-7B34C1827938}"/>
              </a:ext>
            </a:extLst>
          </p:cNvPr>
          <p:cNvSpPr txBox="1"/>
          <p:nvPr/>
        </p:nvSpPr>
        <p:spPr>
          <a:xfrm>
            <a:off x="1066800" y="4076700"/>
            <a:ext cx="2476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AI 点餐助手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AF10DF9-7EBB-477B-964F-7CFF546F909D}"/>
              </a:ext>
            </a:extLst>
          </p:cNvPr>
          <p:cNvSpPr txBox="1"/>
          <p:nvPr/>
        </p:nvSpPr>
        <p:spPr>
          <a:xfrm>
            <a:off x="1066800" y="436245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对话强，交易内核弱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69F4BA2-19DE-4CC9-B5D3-A38971A106C7}"/>
              </a:ext>
            </a:extLst>
          </p:cNvPr>
          <p:cNvSpPr txBox="1"/>
          <p:nvPr/>
        </p:nvSpPr>
        <p:spPr>
          <a:xfrm>
            <a:off x="4019550" y="4076700"/>
            <a:ext cx="2476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平台凑单 / 商家工具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0AC1C60-95CA-4573-AFEC-3EF384CD3D98}"/>
              </a:ext>
            </a:extLst>
          </p:cNvPr>
          <p:cNvSpPr txBox="1"/>
          <p:nvPr/>
        </p:nvSpPr>
        <p:spPr>
          <a:xfrm>
            <a:off x="4019550" y="436245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有入口，但不保证净省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3902A2C-8FA3-470B-96D4-D5EDAA55D349}"/>
              </a:ext>
            </a:extLst>
          </p:cNvPr>
          <p:cNvSpPr txBox="1"/>
          <p:nvPr/>
        </p:nvSpPr>
        <p:spPr>
          <a:xfrm>
            <a:off x="7239000" y="2076450"/>
            <a:ext cx="38100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嵌入结算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043DCC4-CC84-499D-BA00-93655488A38A}"/>
              </a:ext>
            </a:extLst>
          </p:cNvPr>
          <p:cNvSpPr txBox="1"/>
          <p:nvPr/>
        </p:nvSpPr>
        <p:spPr>
          <a:xfrm>
            <a:off x="7239000" y="238125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只有购物车入口，才算决策发生的地方。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1ED03B9-AD9D-4F75-9F3F-B72F5D4AF53B}"/>
              </a:ext>
            </a:extLst>
          </p:cNvPr>
          <p:cNvSpPr/>
          <p:nvPr/>
        </p:nvSpPr>
        <p:spPr>
          <a:xfrm>
            <a:off x="7239000" y="2762250"/>
            <a:ext cx="3810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437365E-1D56-466A-9446-39BFC8D39C28}"/>
              </a:ext>
            </a:extLst>
          </p:cNvPr>
          <p:cNvSpPr txBox="1"/>
          <p:nvPr/>
        </p:nvSpPr>
        <p:spPr>
          <a:xfrm>
            <a:off x="7239000" y="3028950"/>
            <a:ext cx="38100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保证净省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986C4BE-0518-47EE-8C3C-C672009CEB69}"/>
              </a:ext>
            </a:extLst>
          </p:cNvPr>
          <p:cNvSpPr txBox="1"/>
          <p:nvPr/>
        </p:nvSpPr>
        <p:spPr>
          <a:xfrm>
            <a:off x="7239000" y="333375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不是更多选择，而是可验证的净省。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656B6BE3-640E-47A9-89D1-05A4DF55EB24}"/>
              </a:ext>
            </a:extLst>
          </p:cNvPr>
          <p:cNvSpPr/>
          <p:nvPr/>
        </p:nvSpPr>
        <p:spPr>
          <a:xfrm>
            <a:off x="7239000" y="3714750"/>
            <a:ext cx="3810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DA3B1EE-2039-440F-B278-65C99A34FB3B}"/>
              </a:ext>
            </a:extLst>
          </p:cNvPr>
          <p:cNvSpPr txBox="1"/>
          <p:nvPr/>
        </p:nvSpPr>
        <p:spPr>
          <a:xfrm>
            <a:off x="7239000" y="3981450"/>
            <a:ext cx="38100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可解释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F419CF6-7A44-4299-8EC6-14F2871CFDBC}"/>
              </a:ext>
            </a:extLst>
          </p:cNvPr>
          <p:cNvSpPr txBox="1"/>
          <p:nvPr/>
        </p:nvSpPr>
        <p:spPr>
          <a:xfrm>
            <a:off x="7239000" y="428625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每个数字都能在结算页对上。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6D066C0A-87D7-4027-B932-17AADDFAC474}"/>
              </a:ext>
            </a:extLst>
          </p:cNvPr>
          <p:cNvSpPr/>
          <p:nvPr/>
        </p:nvSpPr>
        <p:spPr>
          <a:xfrm>
            <a:off x="7239000" y="4667250"/>
            <a:ext cx="3810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F3E2A75-13A7-45E3-A71F-AAD4EE105553}"/>
              </a:ext>
            </a:extLst>
          </p:cNvPr>
          <p:cNvSpPr txBox="1"/>
          <p:nvPr/>
        </p:nvSpPr>
        <p:spPr>
          <a:xfrm>
            <a:off x="7239000" y="4895850"/>
            <a:ext cx="3810000" cy="4762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这不是又一个推荐列表，是交易决策。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EF07A9F-2DCE-47DB-A0EF-BB21FF2DFACF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5A67156-C98A-41FF-8B37-E6ACBC3C306D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EB9537-8BE1-4941-A0BB-52DFFCF30B65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07 / 落地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12 周，跑通一个城市。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0BA63C2-5AF7-47A7-8FEC-2E0411207646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一个城市、一个品类、一个购物车入口；先证明净省、增量和体验。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BC52B40-7CA5-429F-B03D-AAC290CA349E}"/>
              </a:ext>
            </a:extLst>
          </p:cNvPr>
          <p:cNvSpPr/>
          <p:nvPr/>
        </p:nvSpPr>
        <p:spPr>
          <a:xfrm>
            <a:off x="838200" y="1981200"/>
            <a:ext cx="2476500" cy="304800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5099E6-8472-44DB-A6DE-A5D398926DA7}"/>
              </a:ext>
            </a:extLst>
          </p:cNvPr>
          <p:cNvSpPr txBox="1"/>
          <p:nvPr/>
        </p:nvSpPr>
        <p:spPr>
          <a:xfrm>
            <a:off x="1066800" y="2247900"/>
            <a:ext cx="2019300" cy="975360"/>
          </a:xfrm>
        </p:spPr>
        <p:txBody>
          <a:bodyPr wrap="square" rtlCol="0" lIns="0" tIns="0" rIns="0" bIns="0" anchor="t"/>
          <a:lstStyle/>
          <a:p>
            <a:r>
              <a:rPr sz="6400" b="1">
                <a:solidFill>
                  <a:srgbClr val="FFFFFF"/>
                </a:solidFill>
                <a:latin typeface="Arial"/>
                <a:ea typeface="Arial"/>
              </a:rPr>
              <a:t>12周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36A8AD8-F051-4A7B-8EFA-00410C520516}"/>
              </a:ext>
            </a:extLst>
          </p:cNvPr>
          <p:cNvSpPr txBox="1"/>
          <p:nvPr/>
        </p:nvSpPr>
        <p:spPr>
          <a:xfrm>
            <a:off x="1066800" y="3238500"/>
            <a:ext cx="20193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跑通一个城市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8D02787-DBB8-46E5-B98D-C34AF6A40D03}"/>
              </a:ext>
            </a:extLst>
          </p:cNvPr>
          <p:cNvSpPr txBox="1"/>
          <p:nvPr/>
        </p:nvSpPr>
        <p:spPr>
          <a:xfrm>
            <a:off x="1066800" y="3524250"/>
            <a:ext cx="20193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1 城市 · 1 品类 · 1 入口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9992123-DF1A-4964-AA58-92E51600939D}"/>
              </a:ext>
            </a:extLst>
          </p:cNvPr>
          <p:cNvSpPr txBox="1"/>
          <p:nvPr/>
        </p:nvSpPr>
        <p:spPr>
          <a:xfrm>
            <a:off x="1066800" y="4286250"/>
            <a:ext cx="2019300" cy="4953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3C5FD"/>
                </a:solidFill>
                <a:latin typeface="Microsoft YaHei"/>
                <a:ea typeface="Microsoft YaHei"/>
              </a:rPr>
              <a:t>W1-W2 数据权限与计价接口必须到位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BE376D3-627A-48D8-BFC6-4ECA5D081EF4}"/>
              </a:ext>
            </a:extLst>
          </p:cNvPr>
          <p:cNvSpPr/>
          <p:nvPr/>
        </p:nvSpPr>
        <p:spPr>
          <a:xfrm>
            <a:off x="3714750" y="2857500"/>
            <a:ext cx="7429500" cy="19050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8FE9CCB-03D7-48BE-81DA-7CBDACC13A13}"/>
              </a:ext>
            </a:extLst>
          </p:cNvPr>
          <p:cNvSpPr/>
          <p:nvPr/>
        </p:nvSpPr>
        <p:spPr>
          <a:xfrm>
            <a:off x="38862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D883D0C-909B-4DE7-BA5E-961101B41074}"/>
              </a:ext>
            </a:extLst>
          </p:cNvPr>
          <p:cNvSpPr/>
          <p:nvPr/>
        </p:nvSpPr>
        <p:spPr>
          <a:xfrm>
            <a:off x="53721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BE60809-820C-4782-9CEE-A4294A7CA7A3}"/>
              </a:ext>
            </a:extLst>
          </p:cNvPr>
          <p:cNvSpPr/>
          <p:nvPr/>
        </p:nvSpPr>
        <p:spPr>
          <a:xfrm>
            <a:off x="68580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70C1301-D225-4620-B326-D80C50762D17}"/>
              </a:ext>
            </a:extLst>
          </p:cNvPr>
          <p:cNvSpPr/>
          <p:nvPr/>
        </p:nvSpPr>
        <p:spPr>
          <a:xfrm>
            <a:off x="83439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AB6010-0C2B-4C8D-808E-590E0863119F}"/>
              </a:ext>
            </a:extLst>
          </p:cNvPr>
          <p:cNvSpPr/>
          <p:nvPr/>
        </p:nvSpPr>
        <p:spPr>
          <a:xfrm>
            <a:off x="9829800" y="2790825"/>
            <a:ext cx="133350" cy="13335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64D7FE4-C419-4EF2-A472-7293FFAF9376}"/>
              </a:ext>
            </a:extLst>
          </p:cNvPr>
          <p:cNvSpPr txBox="1"/>
          <p:nvPr/>
        </p:nvSpPr>
        <p:spPr>
          <a:xfrm>
            <a:off x="38100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W1-3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F528B9F-25C4-4497-901C-EAAFB65019C3}"/>
              </a:ext>
            </a:extLst>
          </p:cNvPr>
          <p:cNvSpPr txBox="1"/>
          <p:nvPr/>
        </p:nvSpPr>
        <p:spPr>
          <a:xfrm>
            <a:off x="38100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数据 / 规则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E5C8EEC-C316-4DA2-BFE2-5A317A38DDF1}"/>
              </a:ext>
            </a:extLst>
          </p:cNvPr>
          <p:cNvSpPr txBox="1"/>
          <p:nvPr/>
        </p:nvSpPr>
        <p:spPr>
          <a:xfrm>
            <a:off x="38100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接菜单、优惠、库存；建计价模拟器。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C396DF8-9B30-40BF-A180-6CF52DEB7D92}"/>
              </a:ext>
            </a:extLst>
          </p:cNvPr>
          <p:cNvSpPr txBox="1"/>
          <p:nvPr/>
        </p:nvSpPr>
        <p:spPr>
          <a:xfrm>
            <a:off x="52959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W4-6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2B289D1-6F2D-4FF7-A3F8-FC191284B474}"/>
              </a:ext>
            </a:extLst>
          </p:cNvPr>
          <p:cNvSpPr txBox="1"/>
          <p:nvPr/>
        </p:nvSpPr>
        <p:spPr>
          <a:xfrm>
            <a:off x="52959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算法 MVP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56394CB-DF24-4D0B-B2ED-4A2F5399222F}"/>
              </a:ext>
            </a:extLst>
          </p:cNvPr>
          <p:cNvSpPr txBox="1"/>
          <p:nvPr/>
        </p:nvSpPr>
        <p:spPr>
          <a:xfrm>
            <a:off x="52959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候选剪枝 + 求解器；离线回放。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1E162D4-EB0F-4F90-91ED-C1CBAFAC7AC9}"/>
              </a:ext>
            </a:extLst>
          </p:cNvPr>
          <p:cNvSpPr txBox="1"/>
          <p:nvPr/>
        </p:nvSpPr>
        <p:spPr>
          <a:xfrm>
            <a:off x="67818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5C3C35B-4D8C-4B73-8046-DBFA978EB40E}"/>
              </a:ext>
            </a:extLst>
          </p:cNvPr>
          <p:cNvSpPr txBox="1"/>
          <p:nvPr/>
        </p:nvSpPr>
        <p:spPr>
          <a:xfrm>
            <a:off x="67818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影子模式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3E1AA61-AA95-4D19-8193-BAD0276022F9}"/>
              </a:ext>
            </a:extLst>
          </p:cNvPr>
          <p:cNvSpPr txBox="1"/>
          <p:nvPr/>
        </p:nvSpPr>
        <p:spPr>
          <a:xfrm>
            <a:off x="67818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不影响下单；逐单对账。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38998CD-E4A7-4311-8D6E-7742F0CABD40}"/>
              </a:ext>
            </a:extLst>
          </p:cNvPr>
          <p:cNvSpPr txBox="1"/>
          <p:nvPr/>
        </p:nvSpPr>
        <p:spPr>
          <a:xfrm>
            <a:off x="82677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W8-11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226FBF4-3F93-4537-84A7-F092C1BBABEB}"/>
              </a:ext>
            </a:extLst>
          </p:cNvPr>
          <p:cNvSpPr txBox="1"/>
          <p:nvPr/>
        </p:nvSpPr>
        <p:spPr>
          <a:xfrm>
            <a:off x="82677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A/B 试点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851CE8A-2B2F-4293-B481-DC95C19EC630}"/>
              </a:ext>
            </a:extLst>
          </p:cNvPr>
          <p:cNvSpPr txBox="1"/>
          <p:nvPr/>
        </p:nvSpPr>
        <p:spPr>
          <a:xfrm>
            <a:off x="82677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5% → 20% → 50%；看增量与护栏。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2B1F70B-3579-4462-BB38-12222C5A3DC7}"/>
              </a:ext>
            </a:extLst>
          </p:cNvPr>
          <p:cNvSpPr txBox="1"/>
          <p:nvPr/>
        </p:nvSpPr>
        <p:spPr>
          <a:xfrm>
            <a:off x="97536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W12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C0B2128-5EF3-4D4B-AF92-E9170F3218AB}"/>
              </a:ext>
            </a:extLst>
          </p:cNvPr>
          <p:cNvSpPr txBox="1"/>
          <p:nvPr/>
        </p:nvSpPr>
        <p:spPr>
          <a:xfrm>
            <a:off x="97536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复盘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02F014D-FD88-4849-AF2B-E1412B5CF5D2}"/>
              </a:ext>
            </a:extLst>
          </p:cNvPr>
          <p:cNvSpPr txBox="1"/>
          <p:nvPr/>
        </p:nvSpPr>
        <p:spPr>
          <a:xfrm>
            <a:off x="97536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决定扩城、扩品类或停止。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59616BB6-BDE7-4740-804D-7CC005D9FFC1}"/>
              </a:ext>
            </a:extLst>
          </p:cNvPr>
          <p:cNvSpPr/>
          <p:nvPr/>
        </p:nvSpPr>
        <p:spPr>
          <a:xfrm>
            <a:off x="838200" y="5219700"/>
            <a:ext cx="10439400" cy="6096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74BF872-2981-421E-B1EF-2A6C307373A3}"/>
              </a:ext>
            </a:extLst>
          </p:cNvPr>
          <p:cNvSpPr txBox="1"/>
          <p:nvPr/>
        </p:nvSpPr>
        <p:spPr>
          <a:xfrm>
            <a:off x="1066800" y="5334000"/>
            <a:ext cx="85725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1E40AF"/>
                </a:solidFill>
                <a:latin typeface="Microsoft YaHei"/>
                <a:ea typeface="Microsoft YaHei"/>
              </a:rPr>
              <a:t>灰度节奏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D057BCB4-9599-4207-A21C-6FF8CF8593C0}"/>
              </a:ext>
            </a:extLst>
          </p:cNvPr>
          <p:cNvSpPr/>
          <p:nvPr/>
        </p:nvSpPr>
        <p:spPr>
          <a:xfrm>
            <a:off x="20193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7E3C3CF-4EC2-4495-BD56-A547A333383D}"/>
              </a:ext>
            </a:extLst>
          </p:cNvPr>
          <p:cNvSpPr txBox="1"/>
          <p:nvPr/>
        </p:nvSpPr>
        <p:spPr>
          <a:xfrm>
            <a:off x="20193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  <a:ea typeface="Arial"/>
              </a:rPr>
              <a:t>5%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5C2CA060-B2A3-4D19-BC24-A3E6B6190EAB}"/>
              </a:ext>
            </a:extLst>
          </p:cNvPr>
          <p:cNvSpPr/>
          <p:nvPr/>
        </p:nvSpPr>
        <p:spPr>
          <a:xfrm>
            <a:off x="28575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7DEAE496-8FEA-4FB4-A25F-52C30F70FE6E}"/>
              </a:ext>
            </a:extLst>
          </p:cNvPr>
          <p:cNvSpPr txBox="1"/>
          <p:nvPr/>
        </p:nvSpPr>
        <p:spPr>
          <a:xfrm>
            <a:off x="28575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  <a:ea typeface="Arial"/>
              </a:rPr>
              <a:t>20%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9ECCE8AD-557F-4226-B59D-5DF678AA6E42}"/>
              </a:ext>
            </a:extLst>
          </p:cNvPr>
          <p:cNvSpPr/>
          <p:nvPr/>
        </p:nvSpPr>
        <p:spPr>
          <a:xfrm>
            <a:off x="36957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9F2CA555-78AD-42C1-B500-ED848642E67C}"/>
              </a:ext>
            </a:extLst>
          </p:cNvPr>
          <p:cNvSpPr txBox="1"/>
          <p:nvPr/>
        </p:nvSpPr>
        <p:spPr>
          <a:xfrm>
            <a:off x="36957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  <a:ea typeface="Arial"/>
              </a:rPr>
              <a:t>50%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53A034AA-7123-4499-9465-0EB8ABFF69DC}"/>
              </a:ext>
            </a:extLst>
          </p:cNvPr>
          <p:cNvSpPr/>
          <p:nvPr/>
        </p:nvSpPr>
        <p:spPr>
          <a:xfrm>
            <a:off x="45339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90C81D42-EEC4-4231-A527-BED2A0AFD56A}"/>
              </a:ext>
            </a:extLst>
          </p:cNvPr>
          <p:cNvSpPr txBox="1"/>
          <p:nvPr/>
        </p:nvSpPr>
        <p:spPr>
          <a:xfrm>
            <a:off x="45339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全量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5A516708-4309-4E5A-9E37-D1AAC14BC857}"/>
              </a:ext>
            </a:extLst>
          </p:cNvPr>
          <p:cNvSpPr txBox="1"/>
          <p:nvPr/>
        </p:nvSpPr>
        <p:spPr>
          <a:xfrm>
            <a:off x="5715000" y="5334000"/>
            <a:ext cx="53340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475569"/>
                </a:solidFill>
                <a:latin typeface="Microsoft YaHei"/>
                <a:ea typeface="Microsoft YaHei"/>
              </a:rPr>
              <a:t>关键依赖：数据权限 + 计价接口在 W1-W2 到位；否则试点顺延。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41779C05-B9B7-4DFB-AD75-FA1AD95107D2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4BF2AC2-24BB-449D-84FA-CD2D0945FD6C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279547-E0D1-4A4F-BA16-1494CB776FDC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08 / 价值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平台投入 1 元，拿回 1.8–5.2 元。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F70BF4F-28E1-455B-8B71-4A670420FF87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示例测算：日均 100 万单的平台，只算增量贡献毛利，不含留存与品牌。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E5158AE-814C-43C4-B76A-6AEDFC921DF1}"/>
              </a:ext>
            </a:extLst>
          </p:cNvPr>
          <p:cNvSpPr/>
          <p:nvPr/>
        </p:nvSpPr>
        <p:spPr>
          <a:xfrm>
            <a:off x="838200" y="1981200"/>
            <a:ext cx="3619500" cy="30480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8CDC67-559F-4AD4-B8AB-98F09BEDD4B8}"/>
              </a:ext>
            </a:extLst>
          </p:cNvPr>
          <p:cNvSpPr txBox="1"/>
          <p:nvPr/>
        </p:nvSpPr>
        <p:spPr>
          <a:xfrm>
            <a:off x="1066800" y="2247900"/>
            <a:ext cx="3162300" cy="731520"/>
          </a:xfrm>
        </p:spPr>
        <p:txBody>
          <a:bodyPr wrap="square" rtlCol="0" lIns="0" tIns="0" rIns="0" bIns="0" anchor="t"/>
          <a:lstStyle/>
          <a:p>
            <a:r>
              <a:rPr sz="4800" b="1">
                <a:solidFill>
                  <a:srgbClr val="2563EB"/>
                </a:solidFill>
                <a:latin typeface="Arial"/>
                <a:ea typeface="Arial"/>
              </a:rPr>
              <a:t>1.8–5.2×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5B9561-8912-4635-A768-E041DAEA273E}"/>
              </a:ext>
            </a:extLst>
          </p:cNvPr>
          <p:cNvSpPr txBox="1"/>
          <p:nvPr/>
        </p:nvSpPr>
        <p:spPr>
          <a:xfrm>
            <a:off x="1066800" y="3143250"/>
            <a:ext cx="31623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E40AF"/>
                </a:solidFill>
                <a:latin typeface="Microsoft YaHei"/>
                <a:ea typeface="Microsoft YaHei"/>
              </a:rPr>
              <a:t>平台 ROI 区间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B6326C3-43C4-4670-897E-F79EBC761E9F}"/>
              </a:ext>
            </a:extLst>
          </p:cNvPr>
          <p:cNvSpPr txBox="1"/>
          <p:nvPr/>
        </p:nvSpPr>
        <p:spPr>
          <a:xfrm>
            <a:off x="1066800" y="3429000"/>
            <a:ext cx="31623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单点 3.8× 不作为承诺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294A6E3-DB39-4592-8AA2-99AEE2FAF033}"/>
              </a:ext>
            </a:extLst>
          </p:cNvPr>
          <p:cNvSpPr/>
          <p:nvPr/>
        </p:nvSpPr>
        <p:spPr>
          <a:xfrm>
            <a:off x="1066800" y="3762375"/>
            <a:ext cx="3009900" cy="19050"/>
          </a:xfrm>
          <a:prstGeom prst="rect">
            <a:avLst/>
          </a:prstGeom>
          <a:solidFill>
            <a:srgbClr val="BFDBF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88A149-718D-4D73-99C0-F46F77BAE2C9}"/>
              </a:ext>
            </a:extLst>
          </p:cNvPr>
          <p:cNvSpPr txBox="1"/>
          <p:nvPr/>
        </p:nvSpPr>
        <p:spPr>
          <a:xfrm>
            <a:off x="1066800" y="3924300"/>
            <a:ext cx="3009900" cy="3810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475569"/>
                </a:solidFill>
                <a:latin typeface="Microsoft YaHei"/>
                <a:ea typeface="Microsoft YaHei"/>
              </a:rPr>
              <a:t>只对「本来会放弃的订单」计增量。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FD9A804-3BAC-4AEB-B193-F09AA5D26A22}"/>
              </a:ext>
            </a:extLst>
          </p:cNvPr>
          <p:cNvSpPr txBox="1"/>
          <p:nvPr/>
        </p:nvSpPr>
        <p:spPr>
          <a:xfrm>
            <a:off x="4762500" y="2038350"/>
            <a:ext cx="8572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情景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0FE7CEB-C6A9-45A9-8E8C-D54172155B01}"/>
              </a:ext>
            </a:extLst>
          </p:cNvPr>
          <p:cNvSpPr txBox="1"/>
          <p:nvPr/>
        </p:nvSpPr>
        <p:spPr>
          <a:xfrm>
            <a:off x="5715000" y="2038350"/>
            <a:ext cx="8572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覆盖率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1ED37F9-5C00-4CE4-B0CD-9F29193033A1}"/>
              </a:ext>
            </a:extLst>
          </p:cNvPr>
          <p:cNvSpPr txBox="1"/>
          <p:nvPr/>
        </p:nvSpPr>
        <p:spPr>
          <a:xfrm>
            <a:off x="6667500" y="2038350"/>
            <a:ext cx="8572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接受率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3DEB032-8890-44F5-BAEA-D167D92C80F4}"/>
              </a:ext>
            </a:extLst>
          </p:cNvPr>
          <p:cNvSpPr txBox="1"/>
          <p:nvPr/>
        </p:nvSpPr>
        <p:spPr>
          <a:xfrm>
            <a:off x="7715250" y="20383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ROI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B19C859-1E70-4419-A3B7-61C958BCFC81}"/>
              </a:ext>
            </a:extLst>
          </p:cNvPr>
          <p:cNvSpPr/>
          <p:nvPr/>
        </p:nvSpPr>
        <p:spPr>
          <a:xfrm>
            <a:off x="4762500" y="228600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C8799F7-1CBD-4BBC-84AA-69DE3774C552}"/>
              </a:ext>
            </a:extLst>
          </p:cNvPr>
          <p:cNvSpPr txBox="1"/>
          <p:nvPr/>
        </p:nvSpPr>
        <p:spPr>
          <a:xfrm>
            <a:off x="4762500" y="24003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保守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E94A70D-096A-44DB-8AD4-73A2B8A7BCB1}"/>
              </a:ext>
            </a:extLst>
          </p:cNvPr>
          <p:cNvSpPr txBox="1"/>
          <p:nvPr/>
        </p:nvSpPr>
        <p:spPr>
          <a:xfrm>
            <a:off x="5715000" y="24003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50%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B67B0BA-86EB-4572-BD91-33A8016BF5A7}"/>
              </a:ext>
            </a:extLst>
          </p:cNvPr>
          <p:cNvSpPr txBox="1"/>
          <p:nvPr/>
        </p:nvSpPr>
        <p:spPr>
          <a:xfrm>
            <a:off x="6667500" y="24003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15%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BDCABAB-A9C1-4ABE-848A-275A6D9C0D0D}"/>
              </a:ext>
            </a:extLst>
          </p:cNvPr>
          <p:cNvSpPr txBox="1"/>
          <p:nvPr/>
        </p:nvSpPr>
        <p:spPr>
          <a:xfrm>
            <a:off x="7715250" y="240030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1.8×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C8FCAC9-F4E6-42CB-8EFB-BC978A14F7BD}"/>
              </a:ext>
            </a:extLst>
          </p:cNvPr>
          <p:cNvSpPr/>
          <p:nvPr/>
        </p:nvSpPr>
        <p:spPr>
          <a:xfrm>
            <a:off x="4762500" y="278130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ECCA841-6B39-4F34-BE27-2C9C1F39D856}"/>
              </a:ext>
            </a:extLst>
          </p:cNvPr>
          <p:cNvSpPr txBox="1"/>
          <p:nvPr/>
        </p:nvSpPr>
        <p:spPr>
          <a:xfrm>
            <a:off x="4762500" y="287655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基准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7BB96C9-D906-4A6B-9123-60CFA8A62017}"/>
              </a:ext>
            </a:extLst>
          </p:cNvPr>
          <p:cNvSpPr txBox="1"/>
          <p:nvPr/>
        </p:nvSpPr>
        <p:spPr>
          <a:xfrm>
            <a:off x="5715000" y="287655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70%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A151404-B508-4DE6-A86A-D1196276FE34}"/>
              </a:ext>
            </a:extLst>
          </p:cNvPr>
          <p:cNvSpPr txBox="1"/>
          <p:nvPr/>
        </p:nvSpPr>
        <p:spPr>
          <a:xfrm>
            <a:off x="6667500" y="287655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20%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F342209-C5D1-4EDE-82E4-D2FC73C1B6DF}"/>
              </a:ext>
            </a:extLst>
          </p:cNvPr>
          <p:cNvSpPr txBox="1"/>
          <p:nvPr/>
        </p:nvSpPr>
        <p:spPr>
          <a:xfrm>
            <a:off x="7715250" y="287655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3.8×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45B99B04-C808-4D90-8ECA-29D41B23EEE7}"/>
              </a:ext>
            </a:extLst>
          </p:cNvPr>
          <p:cNvSpPr/>
          <p:nvPr/>
        </p:nvSpPr>
        <p:spPr>
          <a:xfrm>
            <a:off x="4762500" y="325755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8027C48-F61A-4803-A8C1-4D22F1F31074}"/>
              </a:ext>
            </a:extLst>
          </p:cNvPr>
          <p:cNvSpPr txBox="1"/>
          <p:nvPr/>
        </p:nvSpPr>
        <p:spPr>
          <a:xfrm>
            <a:off x="4762500" y="33528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乐观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4D8B339-98A3-4958-9CA0-78ED6CB2B047}"/>
              </a:ext>
            </a:extLst>
          </p:cNvPr>
          <p:cNvSpPr txBox="1"/>
          <p:nvPr/>
        </p:nvSpPr>
        <p:spPr>
          <a:xfrm>
            <a:off x="5715000" y="33528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85%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3A3B095-717A-450D-A237-B0C6B442465C}"/>
              </a:ext>
            </a:extLst>
          </p:cNvPr>
          <p:cNvSpPr txBox="1"/>
          <p:nvPr/>
        </p:nvSpPr>
        <p:spPr>
          <a:xfrm>
            <a:off x="6667500" y="33528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25%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6471EB7-B550-493A-8DA2-F4D289454D3C}"/>
              </a:ext>
            </a:extLst>
          </p:cNvPr>
          <p:cNvSpPr txBox="1"/>
          <p:nvPr/>
        </p:nvSpPr>
        <p:spPr>
          <a:xfrm>
            <a:off x="7715250" y="335280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5.2×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FBA191AD-9326-45BD-94E2-FED33FC3B6EC}"/>
              </a:ext>
            </a:extLst>
          </p:cNvPr>
          <p:cNvSpPr/>
          <p:nvPr/>
        </p:nvSpPr>
        <p:spPr>
          <a:xfrm>
            <a:off x="4762500" y="373380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6E44EEE3-6400-4B99-805B-A254E0C55C38}"/>
              </a:ext>
            </a:extLst>
          </p:cNvPr>
          <p:cNvSpPr/>
          <p:nvPr/>
        </p:nvSpPr>
        <p:spPr>
          <a:xfrm>
            <a:off x="4762500" y="4000500"/>
            <a:ext cx="1905000" cy="857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F6DCFCF-308D-41CB-95A9-5DD46AA8408E}"/>
              </a:ext>
            </a:extLst>
          </p:cNvPr>
          <p:cNvSpPr txBox="1"/>
          <p:nvPr/>
        </p:nvSpPr>
        <p:spPr>
          <a:xfrm>
            <a:off x="4914900" y="4133850"/>
            <a:ext cx="16002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Arial"/>
                <a:ea typeface="Arial"/>
              </a:rPr>
              <a:t>4,200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998E504-73BB-4462-80E5-8400BDFE6767}"/>
              </a:ext>
            </a:extLst>
          </p:cNvPr>
          <p:cNvSpPr txBox="1"/>
          <p:nvPr/>
        </p:nvSpPr>
        <p:spPr>
          <a:xfrm>
            <a:off x="4914900" y="4495800"/>
            <a:ext cx="16002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增量订单 / 日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ACAF1BF1-7780-4B0D-9677-DF8FBB2276E6}"/>
              </a:ext>
            </a:extLst>
          </p:cNvPr>
          <p:cNvSpPr/>
          <p:nvPr/>
        </p:nvSpPr>
        <p:spPr>
          <a:xfrm>
            <a:off x="6858000" y="4000500"/>
            <a:ext cx="1905000" cy="857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EF50A775-0E9F-482E-93CB-EB460DE87B9F}"/>
              </a:ext>
            </a:extLst>
          </p:cNvPr>
          <p:cNvSpPr txBox="1"/>
          <p:nvPr/>
        </p:nvSpPr>
        <p:spPr>
          <a:xfrm>
            <a:off x="7010400" y="4133850"/>
            <a:ext cx="16002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Arial"/>
                <a:ea typeface="Arial"/>
              </a:rPr>
              <a:t>383 万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1FCBB521-2D67-45AF-9AE5-E7283218254E}"/>
              </a:ext>
            </a:extLst>
          </p:cNvPr>
          <p:cNvSpPr txBox="1"/>
          <p:nvPr/>
        </p:nvSpPr>
        <p:spPr>
          <a:xfrm>
            <a:off x="7010400" y="4495800"/>
            <a:ext cx="16002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增量贡献毛利 / 年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279D7A5A-CE9B-4BD7-AD88-97A5495DA87E}"/>
              </a:ext>
            </a:extLst>
          </p:cNvPr>
          <p:cNvSpPr/>
          <p:nvPr/>
        </p:nvSpPr>
        <p:spPr>
          <a:xfrm>
            <a:off x="8953500" y="4000500"/>
            <a:ext cx="1905000" cy="857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E41A5C64-2C80-4024-B5B5-3801DC900C1F}"/>
              </a:ext>
            </a:extLst>
          </p:cNvPr>
          <p:cNvSpPr txBox="1"/>
          <p:nvPr/>
        </p:nvSpPr>
        <p:spPr>
          <a:xfrm>
            <a:off x="9105900" y="4133850"/>
            <a:ext cx="16002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Arial"/>
                <a:ea typeface="Arial"/>
              </a:rPr>
              <a:t>1,533 万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2410294E-5C33-4527-B5A0-8496BB5E16E9}"/>
              </a:ext>
            </a:extLst>
          </p:cNvPr>
          <p:cNvSpPr txBox="1"/>
          <p:nvPr/>
        </p:nvSpPr>
        <p:spPr>
          <a:xfrm>
            <a:off x="9105900" y="4495800"/>
            <a:ext cx="16002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用户净省 / 年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DEA7335E-6823-4F06-B80B-91DC671343BB}"/>
              </a:ext>
            </a:extLst>
          </p:cNvPr>
          <p:cNvSpPr txBox="1"/>
          <p:nvPr/>
        </p:nvSpPr>
        <p:spPr>
          <a:xfrm>
            <a:off x="838200" y="5286375"/>
            <a:ext cx="10287000" cy="4191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口径：差一点订单 15% × 覆盖率 × 接受率 × 原本会放弃 20% × 单均贡献毛利 2.5 元；服务费 100 万元/年。所有参数待试点校准。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17312D3E-AE22-44A0-AB05-81E16FA501FE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B8777C5-DDBB-45D0-9BE6-85EDEACC95B5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CC7EF10-A8BD-4E94-B7F9-AF944E88E784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09 / 商业模式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向平台收费，不向用户收费。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4CD2C1-2BDD-4D6F-9054-8D064A023449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平台是买单方，用户是使用者；先试点，再 SaaS，最后按效果分成。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CA59951-9CEF-416F-8B95-AB0F299DA3A2}"/>
              </a:ext>
            </a:extLst>
          </p:cNvPr>
          <p:cNvSpPr/>
          <p:nvPr/>
        </p:nvSpPr>
        <p:spPr>
          <a:xfrm>
            <a:off x="838200" y="3619500"/>
            <a:ext cx="2857500" cy="180975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2D562FA-9637-4A56-AB85-A90CADAB1FFB}"/>
              </a:ext>
            </a:extLst>
          </p:cNvPr>
          <p:cNvSpPr txBox="1"/>
          <p:nvPr/>
        </p:nvSpPr>
        <p:spPr>
          <a:xfrm>
            <a:off x="1066800" y="3810000"/>
            <a:ext cx="24003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5599535-FC2B-4866-B965-44D02AE6E5E7}"/>
              </a:ext>
            </a:extLst>
          </p:cNvPr>
          <p:cNvSpPr txBox="1"/>
          <p:nvPr/>
        </p:nvSpPr>
        <p:spPr>
          <a:xfrm>
            <a:off x="1066800" y="4095750"/>
            <a:ext cx="24003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试点项目费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307FB4-04FA-4DDF-B6E3-9E133D6ED9F7}"/>
              </a:ext>
            </a:extLst>
          </p:cNvPr>
          <p:cNvSpPr txBox="1"/>
          <p:nvPr/>
        </p:nvSpPr>
        <p:spPr>
          <a:xfrm>
            <a:off x="1066800" y="4476750"/>
            <a:ext cx="2400300" cy="476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12 周联合试点，按成本或固定费用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9A38AD6-CFF7-4E36-BB03-2CFC32C490AB}"/>
              </a:ext>
            </a:extLst>
          </p:cNvPr>
          <p:cNvSpPr txBox="1"/>
          <p:nvPr/>
        </p:nvSpPr>
        <p:spPr>
          <a:xfrm>
            <a:off x="1066800" y="5048250"/>
            <a:ext cx="24003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验证价值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10C4EE1-D8EA-47CA-8E9B-6B4B300020BE}"/>
              </a:ext>
            </a:extLst>
          </p:cNvPr>
          <p:cNvSpPr/>
          <p:nvPr/>
        </p:nvSpPr>
        <p:spPr>
          <a:xfrm>
            <a:off x="4000500" y="3048000"/>
            <a:ext cx="2857500" cy="2381250"/>
          </a:xfrm>
          <a:prstGeom prst="rect">
            <a:avLst/>
          </a:prstGeom>
          <a:solidFill>
            <a:srgbClr val="DBEAF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658B198-6534-4341-B237-F29B021F452B}"/>
              </a:ext>
            </a:extLst>
          </p:cNvPr>
          <p:cNvSpPr txBox="1"/>
          <p:nvPr/>
        </p:nvSpPr>
        <p:spPr>
          <a:xfrm>
            <a:off x="4229100" y="3238500"/>
            <a:ext cx="24003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9A1FBA5-B287-44A7-B154-390DFB3F2A45}"/>
              </a:ext>
            </a:extLst>
          </p:cNvPr>
          <p:cNvSpPr txBox="1"/>
          <p:nvPr/>
        </p:nvSpPr>
        <p:spPr>
          <a:xfrm>
            <a:off x="4229100" y="3524250"/>
            <a:ext cx="24003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SaaS / API 年费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D24FCA8-FA84-4734-8775-1FDD2D276B97}"/>
              </a:ext>
            </a:extLst>
          </p:cNvPr>
          <p:cNvSpPr txBox="1"/>
          <p:nvPr/>
        </p:nvSpPr>
        <p:spPr>
          <a:xfrm>
            <a:off x="4229100" y="3905250"/>
            <a:ext cx="2400300" cy="476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按平台、城市、调用量收费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FC51123-6D11-4071-A90E-9A48F330188A}"/>
              </a:ext>
            </a:extLst>
          </p:cNvPr>
          <p:cNvSpPr txBox="1"/>
          <p:nvPr/>
        </p:nvSpPr>
        <p:spPr>
          <a:xfrm>
            <a:off x="4229100" y="5048250"/>
            <a:ext cx="24003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1E40AF"/>
                </a:solidFill>
                <a:latin typeface="Microsoft YaHei"/>
                <a:ea typeface="Microsoft YaHei"/>
              </a:rPr>
              <a:t>规模化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6823A82-1284-4268-9EB0-510F3EC9D255}"/>
              </a:ext>
            </a:extLst>
          </p:cNvPr>
          <p:cNvSpPr/>
          <p:nvPr/>
        </p:nvSpPr>
        <p:spPr>
          <a:xfrm>
            <a:off x="7162800" y="2381250"/>
            <a:ext cx="3810000" cy="304800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D6B3E01-4762-427C-8378-8FC5EA51C35F}"/>
              </a:ext>
            </a:extLst>
          </p:cNvPr>
          <p:cNvSpPr txBox="1"/>
          <p:nvPr/>
        </p:nvSpPr>
        <p:spPr>
          <a:xfrm>
            <a:off x="7429500" y="2571750"/>
            <a:ext cx="32766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93C5FD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C75626-0D9B-4778-95AC-8DD37F5A3B4A}"/>
              </a:ext>
            </a:extLst>
          </p:cNvPr>
          <p:cNvSpPr txBox="1"/>
          <p:nvPr/>
        </p:nvSpPr>
        <p:spPr>
          <a:xfrm>
            <a:off x="7429500" y="2857500"/>
            <a:ext cx="32766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效果分成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38BB4D5-AC26-4697-83CD-12FD67BABCC1}"/>
              </a:ext>
            </a:extLst>
          </p:cNvPr>
          <p:cNvSpPr txBox="1"/>
          <p:nvPr/>
        </p:nvSpPr>
        <p:spPr>
          <a:xfrm>
            <a:off x="7429500" y="3238500"/>
            <a:ext cx="3276600" cy="571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CBD5E1"/>
                </a:solidFill>
                <a:latin typeface="Microsoft YaHei"/>
                <a:ea typeface="Microsoft YaHei"/>
              </a:rPr>
              <a:t>仅对「本来会放弃的订单」的增量毛利分成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7B8F5F6-DC34-4142-9AB0-8261AB6C4DB4}"/>
              </a:ext>
            </a:extLst>
          </p:cNvPr>
          <p:cNvSpPr txBox="1"/>
          <p:nvPr/>
        </p:nvSpPr>
        <p:spPr>
          <a:xfrm>
            <a:off x="7429500" y="5048250"/>
            <a:ext cx="32766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93C5FD"/>
                </a:solidFill>
                <a:latin typeface="Microsoft YaHei"/>
                <a:ea typeface="Microsoft YaHei"/>
              </a:rPr>
              <a:t>与平台共赢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071059E-410B-4C75-8803-5BBC5CA5A85A}"/>
              </a:ext>
            </a:extLst>
          </p:cNvPr>
          <p:cNvSpPr txBox="1"/>
          <p:nvPr/>
        </p:nvSpPr>
        <p:spPr>
          <a:xfrm>
            <a:off x="838200" y="5572125"/>
            <a:ext cx="5715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单次调用成本 &lt; ¥0.01 · 毛利率目标 70%+（试点后校准）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4BF8DE9-2246-4CF2-8D08-916B6442E611}"/>
              </a:ext>
            </a:extLst>
          </p:cNvPr>
          <p:cNvSpPr txBox="1"/>
          <p:nvPr/>
        </p:nvSpPr>
        <p:spPr>
          <a:xfrm>
            <a:off x="838200" y="5810250"/>
            <a:ext cx="10287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</a:rPr>
              <a:t>扩展路径：外卖 → 商超 / 买药 / 到店 → 银行权益平台 → 商家 SaaS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CDDEBF3-3BA4-4B1A-9316-AEF69F0C0D7B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5E3A0CF-70A9-4962-B988-6254AF58BA06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46C0EE-2F2D-49A0-9980-6E36344C64C9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10 / 团队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三类人，缺一不可。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263C1B-F53F-44A7-B4C0-09B558CF7F05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不是堆履历，是证明这三件事有人能搞定。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7B76F4D-66FF-4DE5-9FAC-AFFD9EDB4C9D}"/>
              </a:ext>
            </a:extLst>
          </p:cNvPr>
          <p:cNvSpPr/>
          <p:nvPr/>
        </p:nvSpPr>
        <p:spPr>
          <a:xfrm>
            <a:off x="838200" y="1981200"/>
            <a:ext cx="323850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E1760A-247D-4511-8E35-2762F8015BB1}"/>
              </a:ext>
            </a:extLst>
          </p:cNvPr>
          <p:cNvSpPr txBox="1"/>
          <p:nvPr/>
        </p:nvSpPr>
        <p:spPr>
          <a:xfrm>
            <a:off x="1104900" y="2171700"/>
            <a:ext cx="27051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23AE86-61EF-431A-9C6C-E94A4BE042F1}"/>
              </a:ext>
            </a:extLst>
          </p:cNvPr>
          <p:cNvSpPr txBox="1"/>
          <p:nvPr/>
        </p:nvSpPr>
        <p:spPr>
          <a:xfrm>
            <a:off x="1104900" y="28575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算法 / 运筹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26FB4B4-3067-4D65-87E9-62F2A3BD6B14}"/>
              </a:ext>
            </a:extLst>
          </p:cNvPr>
          <p:cNvSpPr txBox="1"/>
          <p:nvPr/>
        </p:nvSpPr>
        <p:spPr>
          <a:xfrm>
            <a:off x="1104900" y="3181350"/>
            <a:ext cx="27051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059669"/>
                </a:solidFill>
                <a:latin typeface="Microsoft YaHei"/>
                <a:ea typeface="Microsoft YaHei"/>
              </a:rPr>
              <a:t>把凑单算准、算快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10B2474-A3BC-4D86-85AF-7B2778C30BAC}"/>
              </a:ext>
            </a:extLst>
          </p:cNvPr>
          <p:cNvSpPr txBox="1"/>
          <p:nvPr/>
        </p:nvSpPr>
        <p:spPr>
          <a:xfrm>
            <a:off x="1104900" y="3571875"/>
            <a:ext cx="2705100" cy="12382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背包 / 整数规划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券组合优化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排序与评估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离线模拟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ACA1D98-3BAB-4E52-829C-B17745E8DB34}"/>
              </a:ext>
            </a:extLst>
          </p:cNvPr>
          <p:cNvSpPr/>
          <p:nvPr/>
        </p:nvSpPr>
        <p:spPr>
          <a:xfrm>
            <a:off x="4305300" y="1981200"/>
            <a:ext cx="323850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C580A97-54FB-47EA-B2DB-579DDD8953A3}"/>
              </a:ext>
            </a:extLst>
          </p:cNvPr>
          <p:cNvSpPr txBox="1"/>
          <p:nvPr/>
        </p:nvSpPr>
        <p:spPr>
          <a:xfrm>
            <a:off x="4572000" y="2171700"/>
            <a:ext cx="27051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5E84341-D69D-42EE-90B1-08420C31E34F}"/>
              </a:ext>
            </a:extLst>
          </p:cNvPr>
          <p:cNvSpPr txBox="1"/>
          <p:nvPr/>
        </p:nvSpPr>
        <p:spPr>
          <a:xfrm>
            <a:off x="4572000" y="28575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工程 / 平台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89F9CF6-834F-4261-97FB-91CB21CDD115}"/>
              </a:ext>
            </a:extLst>
          </p:cNvPr>
          <p:cNvSpPr txBox="1"/>
          <p:nvPr/>
        </p:nvSpPr>
        <p:spPr>
          <a:xfrm>
            <a:off x="4572000" y="3181350"/>
            <a:ext cx="27051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059669"/>
                </a:solidFill>
                <a:latin typeface="Microsoft YaHei"/>
                <a:ea typeface="Microsoft YaHei"/>
              </a:rPr>
              <a:t>接进结算，扛住峰值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F05F12E-FA8C-464C-9FEA-09BFBACF71C3}"/>
              </a:ext>
            </a:extLst>
          </p:cNvPr>
          <p:cNvSpPr txBox="1"/>
          <p:nvPr/>
        </p:nvSpPr>
        <p:spPr>
          <a:xfrm>
            <a:off x="4572000" y="3571875"/>
            <a:ext cx="2705100" cy="12382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计价同源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p99 &lt; 100ms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灰度 / 回滚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峰值稳定性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77004CD-B0D3-45EC-9538-DF8037F5944D}"/>
              </a:ext>
            </a:extLst>
          </p:cNvPr>
          <p:cNvSpPr/>
          <p:nvPr/>
        </p:nvSpPr>
        <p:spPr>
          <a:xfrm>
            <a:off x="7772400" y="1981200"/>
            <a:ext cx="352425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A2483E6-4FBE-457C-A9B8-14C9F2C10C32}"/>
              </a:ext>
            </a:extLst>
          </p:cNvPr>
          <p:cNvSpPr txBox="1"/>
          <p:nvPr/>
        </p:nvSpPr>
        <p:spPr>
          <a:xfrm>
            <a:off x="8039100" y="2171700"/>
            <a:ext cx="299085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406CF40-6A10-4AF8-8313-A6B1439448D9}"/>
              </a:ext>
            </a:extLst>
          </p:cNvPr>
          <p:cNvSpPr txBox="1"/>
          <p:nvPr/>
        </p:nvSpPr>
        <p:spPr>
          <a:xfrm>
            <a:off x="8039100" y="2857500"/>
            <a:ext cx="299085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产品 / 本地生活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8A8B79D-641F-4BF9-A924-7E7E050D6E1C}"/>
              </a:ext>
            </a:extLst>
          </p:cNvPr>
          <p:cNvSpPr txBox="1"/>
          <p:nvPr/>
        </p:nvSpPr>
        <p:spPr>
          <a:xfrm>
            <a:off x="8039100" y="3181350"/>
            <a:ext cx="299085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059669"/>
                </a:solidFill>
                <a:latin typeface="Microsoft YaHei"/>
                <a:ea typeface="Microsoft YaHei"/>
              </a:rPr>
              <a:t>把试点跑起来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98126F3-3171-4EB9-A4F7-F2CB4153D3D4}"/>
              </a:ext>
            </a:extLst>
          </p:cNvPr>
          <p:cNvSpPr txBox="1"/>
          <p:nvPr/>
        </p:nvSpPr>
        <p:spPr>
          <a:xfrm>
            <a:off x="8039100" y="3571875"/>
            <a:ext cx="2990850" cy="12382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用户洞察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商家运营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实验设计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试点落地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63DBC535-AE57-4531-86C4-6F00BDA6AED4}"/>
              </a:ext>
            </a:extLst>
          </p:cNvPr>
          <p:cNvSpPr/>
          <p:nvPr/>
        </p:nvSpPr>
        <p:spPr>
          <a:xfrm>
            <a:off x="838200" y="5219700"/>
            <a:ext cx="10458450" cy="6096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072ECC6-585D-4322-9A7A-43DCC20024B7}"/>
              </a:ext>
            </a:extLst>
          </p:cNvPr>
          <p:cNvSpPr txBox="1"/>
          <p:nvPr/>
        </p:nvSpPr>
        <p:spPr>
          <a:xfrm>
            <a:off x="1066800" y="5334000"/>
            <a:ext cx="100774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475569"/>
                </a:solidFill>
                <a:latin typeface="Microsoft YaHei"/>
                <a:ea typeface="Microsoft YaHei"/>
              </a:rPr>
              <a:t>外部支持：平台优惠规则专家 + 法务 / 合规顾问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0B04B37-2334-4469-925D-1783F8D62DFD}"/>
              </a:ext>
            </a:extLst>
          </p:cNvPr>
          <p:cNvSpPr txBox="1"/>
          <p:nvPr/>
        </p:nvSpPr>
        <p:spPr>
          <a:xfrm>
            <a:off x="1066800" y="5562600"/>
            <a:ext cx="1007745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团队可以小，但这三件事必须有人负责。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7912544-BBB0-43CD-97CA-3EA4BA2EB95A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hape 3">
            <a:extLst>
              <a:ext uri="{FF2B5EF4-FFF2-40B4-BE49-F238E27FC236}">
                <a16:creationId xmlns:a16="http://schemas.microsoft.com/office/drawing/2014/main" id="{69F7B544-FECA-439F-A4E1-58E52B2DCA0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21FD766-8402-4DF1-895F-345FEED14B8E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11 / 原型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不是计划书，是能跑的系统。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318529D-5360-489F-B144-90A721FAE4B4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v1.4 已交付：算法、推荐、实时计算，全部可现场演示。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34F43DB-315E-4EC3-BE2A-A3114BF0A89D}"/>
              </a:ext>
            </a:extLst>
          </p:cNvPr>
          <p:cNvSpPr/>
          <p:nvPr/>
        </p:nvSpPr>
        <p:spPr>
          <a:xfrm>
            <a:off x="838200" y="1981200"/>
            <a:ext cx="323850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B091C11-8BA2-4A4E-8DAF-B010EFC61663}"/>
              </a:ext>
            </a:extLst>
          </p:cNvPr>
          <p:cNvSpPr txBox="1"/>
          <p:nvPr/>
        </p:nvSpPr>
        <p:spPr>
          <a:xfrm>
            <a:off x="1104900" y="2152650"/>
            <a:ext cx="27051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7D8602-93F2-41A9-B7D9-B90EEAA92786}"/>
              </a:ext>
            </a:extLst>
          </p:cNvPr>
          <p:cNvSpPr txBox="1"/>
          <p:nvPr/>
        </p:nvSpPr>
        <p:spPr>
          <a:xfrm>
            <a:off x="1104900" y="24384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运筹优化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E30CDB-7A92-4DF3-8FA6-7DF239124575}"/>
              </a:ext>
            </a:extLst>
          </p:cNvPr>
          <p:cNvSpPr txBox="1"/>
          <p:nvPr/>
        </p:nvSpPr>
        <p:spPr>
          <a:xfrm>
            <a:off x="1104900" y="2819400"/>
            <a:ext cx="270510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Arial"/>
                <a:ea typeface="Arial"/>
              </a:rPr>
              <a:t>0–4 件穷举求解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A5DBE8-8F70-4DF7-9F16-712E7DBB648E}"/>
              </a:ext>
            </a:extLst>
          </p:cNvPr>
          <p:cNvSpPr txBox="1"/>
          <p:nvPr/>
        </p:nvSpPr>
        <p:spPr>
          <a:xfrm>
            <a:off x="1104900" y="3200400"/>
            <a:ext cx="270510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满减/券/限时价/配送/包装全计价，约束内穷举最优。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DA4C89F-5315-42D2-8E5E-941EB3EE3292}"/>
              </a:ext>
            </a:extLst>
          </p:cNvPr>
          <p:cNvSpPr/>
          <p:nvPr/>
        </p:nvSpPr>
        <p:spPr>
          <a:xfrm>
            <a:off x="4305300" y="1981200"/>
            <a:ext cx="323850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41CA761-116D-4083-90EC-AAA599757210}"/>
              </a:ext>
            </a:extLst>
          </p:cNvPr>
          <p:cNvSpPr txBox="1"/>
          <p:nvPr/>
        </p:nvSpPr>
        <p:spPr>
          <a:xfrm>
            <a:off x="4572000" y="2152650"/>
            <a:ext cx="27051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128C931-1153-4937-933B-ECD5E3E937D7}"/>
              </a:ext>
            </a:extLst>
          </p:cNvPr>
          <p:cNvSpPr txBox="1"/>
          <p:nvPr/>
        </p:nvSpPr>
        <p:spPr>
          <a:xfrm>
            <a:off x="4572000" y="24384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推荐算法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24D850-0277-4342-97F5-DD9B9E9D5249}"/>
              </a:ext>
            </a:extLst>
          </p:cNvPr>
          <p:cNvSpPr txBox="1"/>
          <p:nvPr/>
        </p:nvSpPr>
        <p:spPr>
          <a:xfrm>
            <a:off x="4572000" y="2819400"/>
            <a:ext cx="270510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Arial"/>
                <a:ea typeface="Arial"/>
              </a:rPr>
              <a:t>品类偏好加权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5BD1A9F-4524-4BEB-B136-5F77C8157391}"/>
              </a:ext>
            </a:extLst>
          </p:cNvPr>
          <p:cNvSpPr txBox="1"/>
          <p:nvPr/>
        </p:nvSpPr>
        <p:spPr>
          <a:xfrm>
            <a:off x="4572000" y="3200400"/>
            <a:ext cx="270510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按本机采纳/忽略历史加权排序，方案与金额不变。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DE0A2D3-4AD6-4805-BD55-56392D001371}"/>
              </a:ext>
            </a:extLst>
          </p:cNvPr>
          <p:cNvSpPr/>
          <p:nvPr/>
        </p:nvSpPr>
        <p:spPr>
          <a:xfrm>
            <a:off x="7772400" y="1981200"/>
            <a:ext cx="352425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5404B7A-EEE2-48C1-AE73-EB1768EDB858}"/>
              </a:ext>
            </a:extLst>
          </p:cNvPr>
          <p:cNvSpPr txBox="1"/>
          <p:nvPr/>
        </p:nvSpPr>
        <p:spPr>
          <a:xfrm>
            <a:off x="8039100" y="2152650"/>
            <a:ext cx="299085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706314B-EEB1-45EE-82B4-D244EDFFF2B8}"/>
              </a:ext>
            </a:extLst>
          </p:cNvPr>
          <p:cNvSpPr txBox="1"/>
          <p:nvPr/>
        </p:nvSpPr>
        <p:spPr>
          <a:xfrm>
            <a:off x="8039100" y="2438400"/>
            <a:ext cx="299085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实时计算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908C210-78D2-4EFE-A2F5-56463245EC46}"/>
              </a:ext>
            </a:extLst>
          </p:cNvPr>
          <p:cNvSpPr txBox="1"/>
          <p:nvPr/>
        </p:nvSpPr>
        <p:spPr>
          <a:xfrm>
            <a:off x="8039100" y="2819400"/>
            <a:ext cx="299085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Microsoft YaHei"/>
                <a:ea typeface="Microsoft YaHei"/>
              </a:rPr>
              <a:t>毫秒响应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A4A163E-21AD-42D5-9785-F7F11D88F3B2}"/>
              </a:ext>
            </a:extLst>
          </p:cNvPr>
          <p:cNvSpPr txBox="1"/>
          <p:nvPr/>
        </p:nvSpPr>
        <p:spPr>
          <a:xfrm>
            <a:off x="8039100" y="3200400"/>
            <a:ext cx="299085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每次求解实时展示耗时，P99 窗口可观测。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48EE0B7-F742-4C4E-8E1F-107A580C7439}"/>
              </a:ext>
            </a:extLst>
          </p:cNvPr>
          <p:cNvSpPr/>
          <p:nvPr/>
        </p:nvSpPr>
        <p:spPr>
          <a:xfrm>
            <a:off x="838200" y="4476750"/>
            <a:ext cx="10458450" cy="133350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D1BBF20-9591-4353-86EF-3B19FB7C256F}"/>
              </a:ext>
            </a:extLst>
          </p:cNvPr>
          <p:cNvSpPr txBox="1"/>
          <p:nvPr/>
        </p:nvSpPr>
        <p:spPr>
          <a:xfrm>
            <a:off x="1066800" y="4648200"/>
            <a:ext cx="28575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交付验证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727C3F0-B381-43AF-8165-65CA51C9B87C}"/>
              </a:ext>
            </a:extLst>
          </p:cNvPr>
          <p:cNvSpPr/>
          <p:nvPr/>
        </p:nvSpPr>
        <p:spPr>
          <a:xfrm>
            <a:off x="10668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342E31F-02D4-4C8B-A632-8CE2B45FC6C5}"/>
              </a:ext>
            </a:extLst>
          </p:cNvPr>
          <p:cNvSpPr txBox="1"/>
          <p:nvPr/>
        </p:nvSpPr>
        <p:spPr>
          <a:xfrm>
            <a:off x="10668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单元测试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ACB5A4E-4402-4574-8135-C549F20CE597}"/>
              </a:ext>
            </a:extLst>
          </p:cNvPr>
          <p:cNvSpPr txBox="1"/>
          <p:nvPr/>
        </p:nvSpPr>
        <p:spPr>
          <a:xfrm>
            <a:off x="30289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A02EE9EF-9FC8-4997-BD24-FF71A0CF4806}"/>
              </a:ext>
            </a:extLst>
          </p:cNvPr>
          <p:cNvSpPr/>
          <p:nvPr/>
        </p:nvSpPr>
        <p:spPr>
          <a:xfrm>
            <a:off x="36195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BE3F3F7-600A-46CB-B268-12D985719017}"/>
              </a:ext>
            </a:extLst>
          </p:cNvPr>
          <p:cNvSpPr txBox="1"/>
          <p:nvPr/>
        </p:nvSpPr>
        <p:spPr>
          <a:xfrm>
            <a:off x="36195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接口集成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CDEB2AC-4230-497A-BDB2-49E1F0759686}"/>
              </a:ext>
            </a:extLst>
          </p:cNvPr>
          <p:cNvSpPr txBox="1"/>
          <p:nvPr/>
        </p:nvSpPr>
        <p:spPr>
          <a:xfrm>
            <a:off x="55816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D4BC143-81C9-4D01-9134-8173A8E0FCFA}"/>
              </a:ext>
            </a:extLst>
          </p:cNvPr>
          <p:cNvSpPr/>
          <p:nvPr/>
        </p:nvSpPr>
        <p:spPr>
          <a:xfrm>
            <a:off x="61722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BB85853-95B2-47F2-A996-68DA575E42D6}"/>
              </a:ext>
            </a:extLst>
          </p:cNvPr>
          <p:cNvSpPr txBox="1"/>
          <p:nvPr/>
        </p:nvSpPr>
        <p:spPr>
          <a:xfrm>
            <a:off x="61722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合成场景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A7D2194-7BB6-4957-9767-DB375A711F96}"/>
              </a:ext>
            </a:extLst>
          </p:cNvPr>
          <p:cNvSpPr txBox="1"/>
          <p:nvPr/>
        </p:nvSpPr>
        <p:spPr>
          <a:xfrm>
            <a:off x="81343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3C5F21EC-AABF-46B3-862F-A0810738BCD2}"/>
              </a:ext>
            </a:extLst>
          </p:cNvPr>
          <p:cNvSpPr/>
          <p:nvPr/>
        </p:nvSpPr>
        <p:spPr>
          <a:xfrm>
            <a:off x="87249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B0E88B9-5711-42BD-AD4C-A08B871E4E23}"/>
              </a:ext>
            </a:extLst>
          </p:cNvPr>
          <p:cNvSpPr txBox="1"/>
          <p:nvPr/>
        </p:nvSpPr>
        <p:spPr>
          <a:xfrm>
            <a:off x="87249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本机演示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8D05BD6-FB90-4986-A5CD-C902EE4A1B7D}"/>
              </a:ext>
            </a:extLst>
          </p:cNvPr>
          <p:cNvSpPr txBox="1"/>
          <p:nvPr/>
        </p:nvSpPr>
        <p:spPr>
          <a:xfrm>
            <a:off x="10687050" y="4991100"/>
            <a:ext cx="38100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↺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18BF634-81A9-41F3-A36E-02FF76C0DB01}"/>
              </a:ext>
            </a:extLst>
          </p:cNvPr>
          <p:cNvSpPr txBox="1"/>
          <p:nvPr/>
        </p:nvSpPr>
        <p:spPr>
          <a:xfrm>
            <a:off x="1066800" y="5505450"/>
            <a:ext cx="9525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64 项测试、26 组集成、262 场景零违规。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2678235-AA6A-480D-AF93-8C3996EF48C9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F06FF2E-4B40-4E57-B78B-931EBA0B8834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8A7B56E-29B8-4E27-B65C-4ED0A9CCA2B7}"/>
              </a:ext>
            </a:extLst>
          </p:cNvPr>
          <p:cNvSpPr/>
          <p:nvPr/>
        </p:nvSpPr>
        <p:spPr>
          <a:xfrm>
            <a:off x="838200" y="762000"/>
            <a:ext cx="38100" cy="19050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A50646D-C465-4028-9344-B7762A9AC58A}"/>
              </a:ext>
            </a:extLst>
          </p:cNvPr>
          <p:cNvSpPr txBox="1"/>
          <p:nvPr/>
        </p:nvSpPr>
        <p:spPr>
          <a:xfrm>
            <a:off x="971550" y="76200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12 / 下一步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D5C540E-8D5D-45B5-9D0F-B52CF1CF9597}"/>
              </a:ext>
            </a:extLst>
          </p:cNvPr>
          <p:cNvSpPr txBox="1"/>
          <p:nvPr/>
        </p:nvSpPr>
        <p:spPr>
          <a:xfrm>
            <a:off x="838200" y="1238250"/>
            <a:ext cx="5715000" cy="142875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0F172A"/>
                </a:solidFill>
                <a:latin typeface="Microsoft YaHei"/>
                <a:ea typeface="Microsoft YaHei"/>
              </a:rPr>
              <a:t>给一个入口，</a:t>
            </a:r>
            <a:br/>
            <a:r>
              <a:rPr sz="4000" b="1">
                <a:solidFill>
                  <a:srgbClr val="0F172A"/>
                </a:solidFill>
                <a:latin typeface="Microsoft YaHei"/>
                <a:ea typeface="Microsoft YaHei"/>
              </a:rPr>
              <a:t>12 周还你三个答案。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B3315B-3B0C-4A47-AD23-B462884DB686}"/>
              </a:ext>
            </a:extLst>
          </p:cNvPr>
          <p:cNvSpPr txBox="1"/>
          <p:nvPr/>
        </p:nvSpPr>
        <p:spPr>
          <a:xfrm>
            <a:off x="838200" y="2952750"/>
            <a:ext cx="5715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12E824-2BEB-46C8-8888-1836C80A54DD}"/>
              </a:ext>
            </a:extLst>
          </p:cNvPr>
          <p:cNvSpPr txBox="1"/>
          <p:nvPr/>
        </p:nvSpPr>
        <p:spPr>
          <a:xfrm>
            <a:off x="838200" y="344805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E28BC3-35BC-4D1C-89FC-A2E6F1C17906}"/>
              </a:ext>
            </a:extLst>
          </p:cNvPr>
          <p:cNvSpPr txBox="1"/>
          <p:nvPr/>
        </p:nvSpPr>
        <p:spPr>
          <a:xfrm>
            <a:off x="838200" y="3762375"/>
            <a:ext cx="5905500" cy="2286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334155"/>
                </a:solidFill>
                <a:latin typeface="Microsoft YaHei"/>
                <a:ea typeface="Microsoft YaHei"/>
              </a:rPr>
              <a:t>30 天准备  →  W1 启动  →  W8 A/B  →  W12 复盘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2A8D63A-8608-4DE4-A668-EC31218D8B29}"/>
              </a:ext>
            </a:extLst>
          </p:cNvPr>
          <p:cNvSpPr txBox="1"/>
          <p:nvPr/>
        </p:nvSpPr>
        <p:spPr>
          <a:xfrm>
            <a:off x="838200" y="4286250"/>
            <a:ext cx="5715000" cy="571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只需要一个购物车入口、一个城市、一个愿意一起跑 12 周的平台伙伴。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E67C474-F7B3-4FFE-A284-2F88B3E6E9BF}"/>
              </a:ext>
            </a:extLst>
          </p:cNvPr>
          <p:cNvSpPr txBox="1"/>
          <p:nvPr/>
        </p:nvSpPr>
        <p:spPr>
          <a:xfrm>
            <a:off x="838200" y="6096000"/>
            <a:ext cx="38100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刚好 · 净省凑单 · 2026.10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035FD92-8F06-4445-AEE5-A5F31D28C087}"/>
              </a:ext>
            </a:extLst>
          </p:cNvPr>
          <p:cNvSpPr/>
          <p:nvPr/>
        </p:nvSpPr>
        <p:spPr>
          <a:xfrm>
            <a:off x="7239000" y="914400"/>
            <a:ext cx="4191000" cy="495300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6E96BF3-B050-4F6F-A600-0F059DADA498}"/>
              </a:ext>
            </a:extLst>
          </p:cNvPr>
          <p:cNvSpPr txBox="1"/>
          <p:nvPr/>
        </p:nvSpPr>
        <p:spPr>
          <a:xfrm>
            <a:off x="7620000" y="1238250"/>
            <a:ext cx="952500" cy="1219200"/>
          </a:xfrm>
        </p:spPr>
        <p:txBody>
          <a:bodyPr wrap="square" rtlCol="0" lIns="0" tIns="0" rIns="0" bIns="0" anchor="t"/>
          <a:lstStyle/>
          <a:p>
            <a:r>
              <a:rPr sz="8000" b="1">
                <a:solidFill>
                  <a:srgbClr val="60A5FA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25B560A-AB6A-495D-B3C9-8B6E445FE375}"/>
              </a:ext>
            </a:extLst>
          </p:cNvPr>
          <p:cNvSpPr txBox="1"/>
          <p:nvPr/>
        </p:nvSpPr>
        <p:spPr>
          <a:xfrm>
            <a:off x="8667750" y="1714500"/>
            <a:ext cx="1905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个答案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9ADC93F-E277-42F8-97A8-9C6DF35373BC}"/>
              </a:ext>
            </a:extLst>
          </p:cNvPr>
          <p:cNvSpPr/>
          <p:nvPr/>
        </p:nvSpPr>
        <p:spPr>
          <a:xfrm>
            <a:off x="7620000" y="2476500"/>
            <a:ext cx="3429000" cy="19050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2A6F9AF-2281-4F32-BC72-95C3E66652F7}"/>
              </a:ext>
            </a:extLst>
          </p:cNvPr>
          <p:cNvSpPr txBox="1"/>
          <p:nvPr/>
        </p:nvSpPr>
        <p:spPr>
          <a:xfrm>
            <a:off x="7620000" y="2667000"/>
            <a:ext cx="3429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01  用户真的净省？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406D32C-167F-49AD-8AF4-CE866746CF79}"/>
              </a:ext>
            </a:extLst>
          </p:cNvPr>
          <p:cNvSpPr txBox="1"/>
          <p:nvPr/>
        </p:nvSpPr>
        <p:spPr>
          <a:xfrm>
            <a:off x="7620000" y="2952750"/>
            <a:ext cx="34290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净省 = 增量优惠 − 加购价 − 附加费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66D95E5-21A8-442E-B993-C27ABFA760F4}"/>
              </a:ext>
            </a:extLst>
          </p:cNvPr>
          <p:cNvSpPr/>
          <p:nvPr/>
        </p:nvSpPr>
        <p:spPr>
          <a:xfrm>
            <a:off x="7620000" y="3333750"/>
            <a:ext cx="3429000" cy="19050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85A48FE-55D4-4886-A7E3-BCDB7F9118E5}"/>
              </a:ext>
            </a:extLst>
          </p:cNvPr>
          <p:cNvSpPr txBox="1"/>
          <p:nvPr/>
        </p:nvSpPr>
        <p:spPr>
          <a:xfrm>
            <a:off x="7620000" y="3524250"/>
            <a:ext cx="3429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02  订单真的增量？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3D0EAA6-29E6-4773-AC50-772C0980ACA1}"/>
              </a:ext>
            </a:extLst>
          </p:cNvPr>
          <p:cNvSpPr txBox="1"/>
          <p:nvPr/>
        </p:nvSpPr>
        <p:spPr>
          <a:xfrm>
            <a:off x="7620000" y="3810000"/>
            <a:ext cx="34290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目标人群转化 +1–2 个百分点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1B0B686-874D-44FC-9F9A-C1A89A48F178}"/>
              </a:ext>
            </a:extLst>
          </p:cNvPr>
          <p:cNvSpPr/>
          <p:nvPr/>
        </p:nvSpPr>
        <p:spPr>
          <a:xfrm>
            <a:off x="7620000" y="4191000"/>
            <a:ext cx="3429000" cy="19050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BA222DF-165E-4369-903C-DC85DBE0693D}"/>
              </a:ext>
            </a:extLst>
          </p:cNvPr>
          <p:cNvSpPr txBox="1"/>
          <p:nvPr/>
        </p:nvSpPr>
        <p:spPr>
          <a:xfrm>
            <a:off x="7620000" y="4381500"/>
            <a:ext cx="3429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03  体验真的不伤？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501A95A-DB11-4A94-8177-1EC692337486}"/>
              </a:ext>
            </a:extLst>
          </p:cNvPr>
          <p:cNvSpPr txBox="1"/>
          <p:nvPr/>
        </p:nvSpPr>
        <p:spPr>
          <a:xfrm>
            <a:off x="7620000" y="4667250"/>
            <a:ext cx="34290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退款 / 差评不升，p99 &lt; 100ms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4C2F4D0-25B4-44D4-ABC1-8D738F09A286}"/>
              </a:ext>
            </a:extLst>
          </p:cNvPr>
          <p:cNvSpPr txBox="1"/>
          <p:nvPr/>
        </p:nvSpPr>
        <p:spPr>
          <a:xfrm>
            <a:off x="7620000" y="5238750"/>
            <a:ext cx="3429000" cy="1905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3C5FD"/>
                </a:solidFill>
                <a:latin typeface="Microsoft YaHei"/>
                <a:ea typeface="Microsoft YaHei"/>
              </a:rPr>
              <a:t>先影子，再灰度，再 A/B。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292791B-E5E4-438A-8D3F-B1B02CCBADB3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