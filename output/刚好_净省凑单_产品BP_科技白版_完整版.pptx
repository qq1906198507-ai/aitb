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4f99a9aa6f4c7d" /><Relationship Type="http://schemas.openxmlformats.org/officeDocument/2006/relationships/extended-properties" Target="/docProps/app.xml" Id="R294b980f0c4d4925" /><Relationship Type="http://schemas.openxmlformats.org/officeDocument/2006/relationships/officeDocument" Target="/ppt/presentation.xml" Id="R4651c45729e8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008a2edd7442b1"/>
  </p:sldMasterIdLst>
  <p:notesMasterIdLst>
    <p:notesMasterId xmlns:r="http://schemas.openxmlformats.org/officeDocument/2006/relationships" r:id="Rae4dc200e4104941"/>
  </p:notesMasterIdLst>
  <p:sldIdLst>
    <p:sldId xmlns:r="http://schemas.openxmlformats.org/officeDocument/2006/relationships" id="256" r:id="Rd21225b6ef664117"/>
    <p:sldId xmlns:r="http://schemas.openxmlformats.org/officeDocument/2006/relationships" id="257" r:id="R79a4a2f302324bde"/>
    <p:sldId xmlns:r="http://schemas.openxmlformats.org/officeDocument/2006/relationships" id="258" r:id="R1a3d900186f84d4a"/>
    <p:sldId xmlns:r="http://schemas.openxmlformats.org/officeDocument/2006/relationships" id="259" r:id="R0cb09ec2af4941b2"/>
    <p:sldId xmlns:r="http://schemas.openxmlformats.org/officeDocument/2006/relationships" id="260" r:id="R9dcc8a45ee204885"/>
    <p:sldId xmlns:r="http://schemas.openxmlformats.org/officeDocument/2006/relationships" id="261" r:id="R05137a1733194836"/>
    <p:sldId xmlns:r="http://schemas.openxmlformats.org/officeDocument/2006/relationships" id="262" r:id="R2c965dcc878a4a0b"/>
    <p:sldId xmlns:r="http://schemas.openxmlformats.org/officeDocument/2006/relationships" id="263" r:id="R61c7c8657a134ca5"/>
    <p:sldId xmlns:r="http://schemas.openxmlformats.org/officeDocument/2006/relationships" id="264" r:id="R534bb079795946ac"/>
    <p:sldId xmlns:r="http://schemas.openxmlformats.org/officeDocument/2006/relationships" id="265" r:id="Rdbca88bd3ede410d"/>
    <p:sldId xmlns:r="http://schemas.openxmlformats.org/officeDocument/2006/relationships" id="266" r:id="R6a8a72bf89cc4b34"/>
    <p:sldId xmlns:r="http://schemas.openxmlformats.org/officeDocument/2006/relationships" id="267" r:id="Rd99683008bb142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4af8d37e2944d9" /><Relationship Type="http://schemas.openxmlformats.org/officeDocument/2006/relationships/slideMaster" Target="/ppt/slideMasters/slideMaster1.xml" Id="R0e008a2edd7442b1" /><Relationship Type="http://schemas.openxmlformats.org/officeDocument/2006/relationships/notesMaster" Target="/ppt/notesMasters/notesMaster1.xml" Id="Rae4dc200e4104941" /><Relationship Type="http://schemas.openxmlformats.org/officeDocument/2006/relationships/presProps" Target="/ppt/presProps.xml" Id="R69c3766b78044a1f" /><Relationship Type="http://schemas.openxmlformats.org/officeDocument/2006/relationships/tableStyles" Target="/ppt/tableStyles.xml" Id="R5a0a3c3a436743e7" /><Relationship Type="http://schemas.openxmlformats.org/officeDocument/2006/relationships/slide" Target="/ppt/slides/slide1.xml" Id="Rd21225b6ef664117" /><Relationship Type="http://schemas.openxmlformats.org/officeDocument/2006/relationships/slide" Target="/ppt/slides/slide2.xml" Id="R79a4a2f302324bde" /><Relationship Type="http://schemas.openxmlformats.org/officeDocument/2006/relationships/slide" Target="/ppt/slides/slide3.xml" Id="R1a3d900186f84d4a" /><Relationship Type="http://schemas.openxmlformats.org/officeDocument/2006/relationships/slide" Target="/ppt/slides/slide4.xml" Id="R0cb09ec2af4941b2" /><Relationship Type="http://schemas.openxmlformats.org/officeDocument/2006/relationships/slide" Target="/ppt/slides/slide5.xml" Id="R9dcc8a45ee204885" /><Relationship Type="http://schemas.openxmlformats.org/officeDocument/2006/relationships/slide" Target="/ppt/slides/slide6.xml" Id="R05137a1733194836" /><Relationship Type="http://schemas.openxmlformats.org/officeDocument/2006/relationships/slide" Target="/ppt/slides/slide7.xml" Id="R2c965dcc878a4a0b" /><Relationship Type="http://schemas.openxmlformats.org/officeDocument/2006/relationships/slide" Target="/ppt/slides/slide8.xml" Id="R61c7c8657a134ca5" /><Relationship Type="http://schemas.openxmlformats.org/officeDocument/2006/relationships/slide" Target="/ppt/slides/slide9.xml" Id="R534bb079795946ac" /><Relationship Type="http://schemas.openxmlformats.org/officeDocument/2006/relationships/slide" Target="/ppt/slides/slide10.xml" Id="Rdbca88bd3ede410d" /><Relationship Type="http://schemas.openxmlformats.org/officeDocument/2006/relationships/slide" Target="/ppt/slides/slide11.xml" Id="R6a8a72bf89cc4b34" /><Relationship Type="http://schemas.openxmlformats.org/officeDocument/2006/relationships/slide" Target="/ppt/slides/slide12.xml" Id="Rd99683008bb142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a95e99b4549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f567cccfbf490f" /><Relationship Type="http://schemas.openxmlformats.org/officeDocument/2006/relationships/notesMaster" Target="/ppt/notesMasters/notesMaster1.xml" Id="R1d38c81dc5524c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06b50dbd74b40" /><Relationship Type="http://schemas.openxmlformats.org/officeDocument/2006/relationships/notesMaster" Target="/ppt/notesMasters/notesMaster1.xml" Id="R4d421696fc3d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eab7daccf4f58" /><Relationship Type="http://schemas.openxmlformats.org/officeDocument/2006/relationships/notesMaster" Target="/ppt/notesMasters/notesMaster1.xml" Id="R5fcadbba08e1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ea4c555004ba4" /><Relationship Type="http://schemas.openxmlformats.org/officeDocument/2006/relationships/notesMaster" Target="/ppt/notesMasters/notesMaster1.xml" Id="R91e7424c52ef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65bf5ab4204d66" /><Relationship Type="http://schemas.openxmlformats.org/officeDocument/2006/relationships/notesMaster" Target="/ppt/notesMasters/notesMaster1.xml" Id="Ra025b4081fdd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47969f8ca84be1" /><Relationship Type="http://schemas.openxmlformats.org/officeDocument/2006/relationships/notesMaster" Target="/ppt/notesMasters/notesMaster1.xml" Id="R7abf3629bc1d4c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2b647616254c96" /><Relationship Type="http://schemas.openxmlformats.org/officeDocument/2006/relationships/notesMaster" Target="/ppt/notesMasters/notesMaster1.xml" Id="Re0ec070ed7a944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32cd6a9e24933" /><Relationship Type="http://schemas.openxmlformats.org/officeDocument/2006/relationships/notesMaster" Target="/ppt/notesMasters/notesMaster1.xml" Id="Re489fd0f2e8e48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978086e4d34014" /><Relationship Type="http://schemas.openxmlformats.org/officeDocument/2006/relationships/notesMaster" Target="/ppt/notesMasters/notesMaster1.xml" Id="R66aac024a6e74c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b68732b82a4ced" /><Relationship Type="http://schemas.openxmlformats.org/officeDocument/2006/relationships/notesMaster" Target="/ppt/notesMasters/notesMaster1.xml" Id="R515d73e5345840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3781cbed294379" /><Relationship Type="http://schemas.openxmlformats.org/officeDocument/2006/relationships/notesMaster" Target="/ppt/notesMasters/notesMaster1.xml" Id="R6d9c61b49fd641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46420dcff34416" /><Relationship Type="http://schemas.openxmlformats.org/officeDocument/2006/relationships/notesMaster" Target="/ppt/notesMasters/notesMaster1.xml" Id="Rf01c0dfdb4e2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产品从外卖购物车切入。2元来自第4页的假设算例，不代表实测均值或对每笔订单的承诺。净省按加购前后同一计价口径的实付差额核验。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材料来源：用户提供的《刚好_净省凑单_产品BP_路演精修版.pptx》第1页；《刚好_净省凑单_产品BP.pptx》对应内容。所有性能、覆盖、转化指标按计划目标理解，场景计算按示例假设理解。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情景示例假设增量优惠5元、加购商品及新增费用合计15元，所以净省为负10元。平台与商家影响属于待访谈和试点验证的问题假设。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材料来源：用户提供的《刚好_净省凑单_产品BP_路演精修版.pptx》第2页；《刚好_净省凑单_产品BP.pptx》对应内容。所有性能、覆盖、转化指标按计划目标理解，场景计算按示例假设理解。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3秒是拟定的用户理解和选择体验目标，不是已经测得的交互时长；技术页的100ms则是引擎响应P99目标，两者口径不同。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材料来源：用户提供的《刚好_净省凑单_产品BP_路演精修版.pptx》第3页；《刚好_净省凑单_产品BP.pptx》对应内容。所有性能、覆盖、转化指标按计划目标理解，场景计算按示例假设理解。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例假设：原购物车32元，满38元减8元；此前无其他优惠，包装及配送等附加费用不变。加购6元后实付38−8=30元，净省2元；加购7元后实付39−8=31元，净省1元。保持原单实付32元，是用户的退出选项，不能在该算例中称为更划算。一般定义为原单实付减加购后实付，展开式是增量优惠减加购商品价减新增附加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材料来源：用户提供的《刚好_净省凑单_产品BP_路演精修版.pptx》第4页；《刚好_净省凑单_产品BP.pptx》对应内容。所有性能、覆盖、转化指标按计划目标理解，场景计算按示例假设理解。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方案为拟实现的架构。P99小于100ms为待压测的服务响应目标，不包含用户阅读、网络环境和下单过程。规则、价格与库存须接入授权的同源计价接口。LLM可以用于辅助说明，交易计价与优化结果不依赖生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材料来源：用户提供的《刚好_净省凑单_产品BP_路演精修版.pptx》第5页；《刚好_净省凑单_产品BP.pptx》对应内容。所有性能、覆盖、转化指标按计划目标理解，场景计算按示例假设理解。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本页是能力建设规划。数据反馈是否改善排序、信任与复用率，需要试点验证；没有历史经营数据支持已形成壁垒的判断。后续品类拓展同样以规则与接口可接入为前提。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材料来源：用户提供的《刚好_净省凑单_产品BP_路演精修版.pptx》第6页；《刚好_净省凑单_产品BP.pptx》对应内容。所有性能、覆盖、转化指标按计划目标理解，场景计算按示例假设理解。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这是对能力维度的概念性分解，不是对任何具体竞品功能的实测比较，也不证明市场存在无人覆盖的空位。需要补充同类产品调研与平台访谈，核实进入壁垒及合作意愿。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材料来源：用户提供的《刚好_净省凑单_产品BP_路演精修版.pptx》第7页；《刚好_净省凑单_产品BP.pptx》对应内容。所有性能、覆盖、转化指标按计划目标理解，场景计算按示例假设理解。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指标都是计划验收目标，尚无实绩证据。覆盖率的分母为符合试点资格的目标购物车；转化提升1–2个百分点是该目标购物车人群内的A/B绝对转化率差，最终以基线、样本量和置信区间确定。W8–11只选快餐或奶茶其中一个品类。按门槛逐级扩大流量，数据权限和同源计价接口为前置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材料来源：用户提供的《刚好_净省凑单_产品BP_路演精修版.pptx》第8页；《刚好_净省凑单_产品BP.pptx》对应内容。所有性能、覆盖、转化指标按计划目标理解，场景计算按示例假设理解。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模型：100万×15%×70%×20%=2.1万采纳单/日；再乘20%得到4200增量单/日；年增量贡献毛利4200×2.5×365=383.25万元；用户年净省2.1万×2×365=1533万元；年费100万元。收益费用比383.25/100=3.8325倍，扣除年费后净收益283.25万元，净ROI为283.25%。该模型隐含目标订单口径增量2.8个百分点、覆盖订单口径4个百分点、全基准规模口径0.42个百分点。它是独立的情景测算，不用于声称已经达到第8页1–2个百分点的A/B目标。目标订单规模须在接入后使用真实购物车漏斗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材料来源：用户提供的《刚好_净省凑单_产品BP_路演精修版.pptx》第9页；《刚好_净省凑单_产品BP.pptx》对应内容。所有性能、覆盖、转化指标按计划目标理解，场景计算按示例假设理解。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收费路径和后续拓展为商业计划，尚无签约或收入数据。试点费覆盖接入和验证；年费可以按平台、城市与调用规模分层；效果分成需要先与合作平台约定归因、退款冲回和计费口径。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材料来源：用户提供的《刚好_净省凑单_产品BP_路演精修版.pptx》第10页；《刚好_净省凑单_产品BP.pptx》对应内容。所有性能、覆盖、转化指标按计划目标理解，场景计算按示例假设理解。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本页为拟定职责与所需能力，不能据此推断已有对应团队成员或履历。正式参赛或路演前应补充真实姓名、角色、可核验经历及与项目有关的成果。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材料来源：用户提供的《刚好_净省凑单_产品BP_路演精修版.pptx》第11页；《刚好_净省凑单_产品BP.pptx》对应内容。所有性能、覆盖、转化指标按计划目标理解，场景计算按示例假设理解。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合作前先落实数据权限、计价接口和试点城市品类，准备期计划30天，之后启动12周试点。验收围绕净省核验、增量转化与体验护栏，所有阈值需与平台按基线和实验设计确认。此处1–2个百分点为目标购物车内A/B绝对转化率差，不与第9页独立测算情景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材料来源：用户提供的《刚好_净省凑单_产品BP_路演精修版.pptx》第12页；《刚好_净省凑单_产品BP.pptx》对应内容。所有性能、覆盖、转化指标按计划目标理解，场景计算按示例假设理解。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5cedb13184a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4800f270f74f32" /><Relationship Type="http://schemas.openxmlformats.org/officeDocument/2006/relationships/slideLayout" Target="/ppt/slideLayouts/slideLayout1.xml" Id="R5272d50d771046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72d50d771046d2"/>
  </p:sldLayoutIdLst>
</p:sldMaster>
</file>

<file path=ppt/slide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061f90fac4694" /><Relationship Type="http://schemas.openxmlformats.org/officeDocument/2006/relationships/notesSlide" Target="/ppt/notesSlides/notesSlide1.xml" Id="R59ab4c07bac54a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c3dc9c6de4083" /><Relationship Type="http://schemas.openxmlformats.org/officeDocument/2006/relationships/notesSlide" Target="/ppt/notesSlides/notesSlide2.xml" Id="Re2dc17693cf444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cf1f980e741ea" /><Relationship Type="http://schemas.openxmlformats.org/officeDocument/2006/relationships/notesSlide" Target="/ppt/notesSlides/notesSlide3.xml" Id="R8806e598c8a049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c7ef32e8e426f" /><Relationship Type="http://schemas.openxmlformats.org/officeDocument/2006/relationships/notesSlide" Target="/ppt/notesSlides/notesSlide4.xml" Id="Rc32f988eb16546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744e54dcf48e1" /><Relationship Type="http://schemas.openxmlformats.org/officeDocument/2006/relationships/notesSlide" Target="/ppt/notesSlides/notesSlide5.xml" Id="Rd8b39adb8f95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ffd5de76e4354" /><Relationship Type="http://schemas.openxmlformats.org/officeDocument/2006/relationships/notesSlide" Target="/ppt/notesSlides/notesSlide6.xml" Id="R9add136ec36f46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6678cb47d4b0e" /><Relationship Type="http://schemas.openxmlformats.org/officeDocument/2006/relationships/notesSlide" Target="/ppt/notesSlides/notesSlide7.xml" Id="Rabeec3a35ab34e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a456eb75444ee" /><Relationship Type="http://schemas.openxmlformats.org/officeDocument/2006/relationships/notesSlide" Target="/ppt/notesSlides/notesSlide8.xml" Id="R2c326a75f88b47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bb3cc54e49f1" /><Relationship Type="http://schemas.openxmlformats.org/officeDocument/2006/relationships/notesSlide" Target="/ppt/notesSlides/notesSlide9.xml" Id="Rd2e7b30970b542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866cd9be64f46" /><Relationship Type="http://schemas.openxmlformats.org/officeDocument/2006/relationships/notesSlide" Target="/ppt/notesSlides/notesSlide10.xml" Id="R25e1cae859b74a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77d7feb44d7c" /><Relationship Type="http://schemas.openxmlformats.org/officeDocument/2006/relationships/notesSlide" Target="/ppt/notesSlides/notesSlide11.xml" Id="R4962b27af56240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ad9e064747b2" /><Relationship Type="http://schemas.openxmlformats.org/officeDocument/2006/relationships/notesSlide" Target="/ppt/notesSlides/notesSlide12.xml" Id="R8bb3a6fc73cd41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85D00C37-E4A5-42D0-9A05-0EEBC584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BEEDF2EF-CA96-4253-BF7B-25BC7EFB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28750"/>
            <a:ext cx="3048000" cy="3048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79C38EF3-316D-4EE3-898A-253BF815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05375"/>
            <a:ext cx="2171700" cy="4381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2CA292-8C3F-4912-8DA0-A37FDAF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609600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普陀创新挑战赛  赛道 2 / 产品 BP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3E73530-1E8F-44E4-A831-C3F06549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590550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刚好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9A85C4B-3FAA-414D-80D1-4D49F9D8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905500" cy="876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净省凑单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ABE1817-AFFC-4F49-B84A-049F15AD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9055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不劝你多买，只帮你少花。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38E5757-7BEA-4F8B-AC3B-1C247398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00075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购物车结算前的净省决策服务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672344C-228D-4C7B-9902-0BCB4F1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6096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把“凑不凑”变成可解释的选择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C04C8D-2CEC-47F2-ABFE-16D805EE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4191000" cy="12954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¥2.0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C47410F-4A37-47E3-B84D-F7447AFB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714750"/>
            <a:ext cx="3905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示例单笔净省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2D2B623-966F-4663-BAB7-88648035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62075"/>
            <a:ext cx="41910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合算再加购，每笔可核验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6F42D900-9BED-4358-B383-4A4910C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3714750" cy="800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净省 = 原购物车实付</a:t>
            </a:r>
          </a:p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          − 加购后实付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EA2AFD-18A2-442C-9926-97E3E9A2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38900"/>
            <a:ext cx="59055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商业计划书  2026.10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8DB0A16-03D0-412D-AA9C-C17276D4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17740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2903B733-CC71-45D0-914C-C3203855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A9D7A95F-E235-4DD1-BA77-8F0A5CC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19450"/>
            <a:ext cx="6477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3A2484F-76B4-4FBA-BFAD-EA96AE4C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24350"/>
            <a:ext cx="6477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9BD09C5-66F0-4443-A305-5EDE3693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 / 痛点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4BCDA62-7C83-49EB-B9E9-130ECD5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00125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凑单可能让实付更高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2BE6EE2-4058-4940-9575-DC43073C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0125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优惠门槛带来额外判断，用户需要知道加购后究竟少付多少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67FEBFD-E2E8-4BC7-858D-653BADF5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667000" cy="1123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−10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C166E3-A7C8-46BF-9693-6940576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2571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元 / 情景示例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1FB0ABB-68B1-47E4-A793-70AFE450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9146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为省 5 元，加购 15 元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0A6DC6-FA75-4E5F-BF1F-01EFC433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29146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实付反而增加 10 元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D74CFC-2843-4528-90FF-735CB12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1143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33EFF39-1FF0-444A-A228-4954DF3A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5334000" cy="762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难以比较优惠与加购成本，</a:t>
            </a:r>
          </a:p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容易买回非必要商品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7246D49-64A7-4FB0-9612-E17DA4F1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81375"/>
            <a:ext cx="1143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1170DF24-AC14-493C-B41D-5E546699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81375"/>
            <a:ext cx="5334000" cy="762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临界门槛可能带来弃单，</a:t>
            </a:r>
          </a:p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补贴效果需要实验验证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BFA936-DA51-4DA4-BB1F-54FFB15C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86275"/>
            <a:ext cx="1143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095064B-26FE-4937-BABE-04306D8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86275"/>
            <a:ext cx="53340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非必要加购可能增加退款与备货压力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C6BA04D-8735-42D6-881D-6742FBC9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477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产品切入点：把商品推荐与实际省钱分开计算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99BBEAC-B697-473B-A624-D681FCCD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336208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C970023-C55D-4F2A-BBC1-B6778DE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9525" cy="2857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02FE1DB9-64BA-453D-AD33-78A5C822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66950"/>
            <a:ext cx="9525" cy="2857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E824D7A5-473B-4198-A1BD-73A79F1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2952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2766839-EF31-4E5D-8FC9-9F95B8F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 / 机会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98DCFCA8-0ED2-47A5-A5B5-D05677F4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购物车结算前的决策机会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522F7E8-8750-4AFC-85C2-1DA233A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围绕既有价格与优惠规则，帮助用户快速比较实付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2228B33-B3EC-41EA-BD0A-89CBF000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4775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02F8692-FC10-4AB6-AE7F-51F82B8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优惠叠加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0820B5E-FFDE-4E9F-9F2A-17CA351B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190750" cy="1238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满减、优惠券与费用规则同时出现，人工比较成本较高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047747-2DF5-45DB-B6C4-59077190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04775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F461AC0-0060-4288-8212-FFFFD454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48000"/>
            <a:ext cx="2190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交易效率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CCDAF2C-2CFF-4C8F-A8CC-DC1B2E6F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76625"/>
            <a:ext cx="2190750" cy="1238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平台可用A/B实验验证购物车转化与补贴效率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5B9502-8CEE-48A3-A600-A7BDB68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04775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3A7F1445-F8F0-4BB3-B349-2EE6E42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190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价格透明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20F38AC-D2AF-4801-8A25-906C76DD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2190750" cy="1238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净省来源、加购成本与费用变化需要一并解释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BC3AB6B-02FF-4507-A652-40B3844C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2190750" cy="95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3 秒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402C1BF-E823-427A-8FD8-35DAD2B7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76625"/>
            <a:ext cx="2190750" cy="571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用户决策体验目标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073753A-2D97-4B8E-86D8-43D5473E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62425"/>
            <a:ext cx="219075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展示少量方案</a:t>
            </a:r>
          </a:p>
          <a:p xmlns:a="http://schemas.openxmlformats.org/drawingml/2006/main">
            <a:pPr algn="ctr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清楚说明净省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908BA94-3049-4D17-8FAA-025C6E1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在结算前回答：加什么、少付多少、是否值得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539BD70-2318-4B74-A2D2-8C4A62A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559976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DF181726-84D2-49DF-8984-29C7721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3619500" cy="5029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125ABC37-BA39-430F-8CDC-4627E62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33500"/>
            <a:ext cx="3086100" cy="449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99A694F6-DAB0-4F7A-8DE7-30922CAD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2667000" cy="22669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1511D8AA-3E02-4C42-B8A1-D3780A3D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57350"/>
            <a:ext cx="914400" cy="247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ECBBFD65-A4A3-4519-AF8C-9B6FAEAF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438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8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9CF8EC99-30AA-4BB6-9BB5-EDFA4553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81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9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D7FD36EE-06A5-4623-8DDB-67E47B89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5810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C61AB33-82B5-4AB1-89F0-4AF3C84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 / 产品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DB18B451-0203-4342-B044-7C06AF74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76275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三类决策，最多三个答案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4A3D23-B09D-44E6-8564-D164D998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477000" cy="571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按实付与偏好排序，保留不加购的选择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1583060-7782-45FB-A9A7-A1795C2B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905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按购物车情况提供方案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55F8786-9603-4BFC-8F41-E5F8B760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7228727-DAC2-40D2-B5D5-2BE21B29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2476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最省钱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DEEA32EC-5745-44D5-8C28-19DAD066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5429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满足门槛，优先比较最低实付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95B2EB-B028-477B-88C6-8E80205C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85725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FA23BF4-83AD-4D63-AD92-A7BD2FE2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2476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更合偏好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DB0D18E7-849D-4633-942F-9631623B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95725"/>
            <a:ext cx="4572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优先常点或偏好品类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05D2910-B443-4109-80FD-BA9C4DF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85725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80FFF3B-2761-4709-8DF0-33D77F9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2857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不凑更划算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A5EF783-12CC-4850-B354-D05C3343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48225"/>
            <a:ext cx="5429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正净省方案缺失时，建议保持原单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4040DBD-8A99-4D17-89D0-9373681B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672465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净省 = 原购物车实付 − 加购后实付</a:t>
            </a:r>
          </a:p>
          <a:p xmlns:a="http://schemas.openxmlformats.org/drawingml/2006/main">
            <a: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含新增包装费、配送费等费用变化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FCC4C6D-FBB9-4BD9-8F18-7B61D29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714500" cy="3333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购物车算例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98FB36AE-06C0-492D-93CA-62BA6AD6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76400"/>
            <a:ext cx="1190625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满38减8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0276CE8-CE4B-4875-A66A-BB828DC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809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招牌牛肉饭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4FE0C97-0DA4-4481-AA91-BBF24ADE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666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¥24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7868772-2CA2-4180-92F2-DAFE1C96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809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冰美式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0CEEF08B-77DE-4F0B-BD7E-B80597C7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666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¥8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BD2C19-7963-48B6-AB0C-9C102276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1762125" cy="304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原单实付 ¥32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A6F268A-F1FB-4620-A140-2561F79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524125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差 6 元，可减 8 元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E696B869-0BDB-476F-BE68-FD5A942E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2524125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2 个可选加购方案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EED37AA-F3AA-4762-8AE9-EB21D65D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00525"/>
            <a:ext cx="2524125" cy="571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加购 ¥6，实付 ¥30</a:t>
            </a:r>
          </a:p>
          <a:p xmlns:a="http://schemas.openxmlformats.org/drawingml/2006/main">
            <a: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净省 ¥2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B1A27A3-5D29-4A08-97A7-BA057D37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257175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加购 ¥7，实付 ¥31，净省 ¥1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3E13B04-DC35-4C02-A6E0-D1741196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2571750" cy="304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保持原购物车：实付 ¥32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B1D9AB1-138B-4B3B-AB5E-62C4AAC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417933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654559CD-6B08-4256-B9BD-521C3FDB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571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E797E6F5-4DA1-4177-A85F-C429C04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9810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F8C784C4-95F8-4968-B6F5-2A66E623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14BB5315-F399-4844-98A1-68A67CA8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hape 7">
            <a:extLst xmlns:a="http://schemas.openxmlformats.org/drawingml/2006/main">
              <a:ext uri="{FF2B5EF4-FFF2-40B4-BE49-F238E27FC236}">
                <a16:creationId xmlns:a16="http://schemas.microsoft.com/office/drawing/2014/main" id="{73BF766B-A3E5-4055-A789-B424B347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hape 8">
            <a:extLst xmlns:a="http://schemas.openxmlformats.org/drawingml/2006/main">
              <a:ext uri="{FF2B5EF4-FFF2-40B4-BE49-F238E27FC236}">
                <a16:creationId xmlns:a16="http://schemas.microsoft.com/office/drawing/2014/main" id="{034565B6-1E3C-4479-A854-AA95615F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Straight Connector 9">
            <a:extLst xmlns:a="http://schemas.openxmlformats.org/drawingml/2006/main">
              <a:ext uri="{FF2B5EF4-FFF2-40B4-BE49-F238E27FC236}">
                <a16:creationId xmlns:a16="http://schemas.microsoft.com/office/drawing/2014/main" id="{4403573B-821E-4327-A9C0-680B82A5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9525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D11FBD-4273-4ED5-A1FC-BDDA1DE7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04 / 技术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546B924-CC0C-4ED8-8E3E-490F1894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带约束的实时净省优化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1A349B-02A9-4CBE-8FE6-BDEBB158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620000" cy="571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将优惠、库存与用户限制纳入同一求解过程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29C66F-009E-4074-A966-6F15C00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95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候选推荐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A491C9-EF16-44B1-9545-DA674543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476750" cy="876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提供偏好或热销候选商品，</a:t>
            </a:r>
          </a:p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仍需进一步核验实际优惠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A669D1A7-09D3-4ADD-BFDA-54570A96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190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净省优化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44EF13E-FAC4-4E21-9F26-E88D5DD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333625" cy="95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在规则约束内</a:t>
            </a:r>
          </a:p>
          <a:p xmlns:a="http://schemas.openxmlformats.org/drawingml/2006/main">
            <a: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比较实付并解释方案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3FE40F7-CBE0-41EB-9F31-970B7F3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381250" cy="857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&lt;100ms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7FBA6AE-864F-49C2-B7DD-FE009A2B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2381250" cy="571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P99 响应目标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9E6303-47AC-441E-BA3B-E758F11A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762500"/>
            <a:ext cx="209550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433590C-3315-4004-9C0C-01D47316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00650"/>
            <a:ext cx="23622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满减、券、库存、配送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83669996-0BAC-43A0-A858-01556887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62500"/>
            <a:ext cx="209550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候选生成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8C9307E0-79F1-4CFD-A798-D39BF3AB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5200650"/>
            <a:ext cx="23622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去重、忌口、价格带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CC7A49B-D4A9-4B64-B86B-58DB40E8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762500"/>
            <a:ext cx="209550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优化器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FF8AD5C-6385-4A90-931B-A275BA6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200650"/>
            <a:ext cx="23622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背包、整数规划、组合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11D8317F-9EFF-4C44-895A-A754E743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62500"/>
            <a:ext cx="209550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排序与解释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0BF64D8-9BEC-4CAD-B9EE-BC343BF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00650"/>
            <a:ext cx="23622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偏好、净省、浪费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108AB44-09CB-4095-A06B-00C301A8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6680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架构要求：报价与结算使用同一计价源，超时降级，算不准不展示</a:t>
            </a:r>
          </a:p>
          <a:p xmlns:a="http://schemas.openxmlformats.org/drawingml/2006/main">
            <a:pPr algn="l">
              <a:def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LLM 不进入交易主链路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F7BC6FC-EDCD-4302-8D23-45DFB5EA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963263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570F669A-207C-413B-8EC5-C5BCAE6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182BDA24-5E69-4CA1-BDF9-850359E2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908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62F2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75DC09A5-40FC-45C8-8B17-3292936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4381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DDD83AD-80F0-494F-A817-E3FC567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05 / 壁垒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A9E7551-773E-4DB9-939A-DE62413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规则与反馈形成长期积累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D5E3C8C-814B-406C-9DF4-FFAFFDFA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476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持续接入规则、记录交易反馈，并用真实结果校准方案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217C5DF-4179-4417-AB8B-8E2CCBEF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38575"/>
            <a:ext cx="2095500" cy="438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反馈闭环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5884A1-D295-45E5-B496-60A8F126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05300"/>
            <a:ext cx="1809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持续校准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8C4BD4-B675-438C-8D0F-4205FA46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95500"/>
            <a:ext cx="2381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规则接入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7900729-E592-491C-8CBD-40151653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781425"/>
            <a:ext cx="1714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方案输出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ACEB3ED-A545-4EE6-ACBB-ADA7E1A9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76925"/>
            <a:ext cx="2381250" cy="342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用户反馈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6D3BA74-E4A3-435C-8FD0-ED11AA49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781425"/>
            <a:ext cx="1619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排序更新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04593E1-E396-4501-B26E-DBBEDBC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09825"/>
            <a:ext cx="238125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满减、券、库存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5E07A83D-0167-4B9E-975E-C4D68F2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114800"/>
            <a:ext cx="1714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候选方案与净省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D5FE06-F08A-48ED-BC82-43603BBF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91250"/>
            <a:ext cx="238125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接受、拒绝、退款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76950CB-8BE1-45A5-94E4-B563EBDE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4800"/>
            <a:ext cx="1714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偏好、浪费、转化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D8E870-BF31-410F-BC1A-671D1F6B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333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 / 规则能力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9602BC-B79B-473A-90DE-4FF103FD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5814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适配不同平台优惠与费用规则，</a:t>
            </a:r>
          </a:p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持续核验计价一致性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CD755B5-D4DA-4B8C-BEB1-16F36FC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333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 / 反馈数据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274BE9-8F5A-4D80-8F6D-49F1DC12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35814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记录曝光、采纳、成交与退款，</a:t>
            </a:r>
          </a:p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为排序和评估提供依据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495CFA7-5B20-4FE9-82CD-5401F73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333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 / 用户信任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06B1FB52-047E-4D5C-876C-82D93E5D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35814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明确展示净省与退出选项，</a:t>
            </a:r>
          </a:p>
          <a:p xmlns:a="http://schemas.openxmlformats.org/drawingml/2006/main">
            <a: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用复用率检验长期价值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8BE3D65-239E-4477-AEF5-14E64BC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334500" cy="247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规划：外卖验证后，再评估商超、买菜与到店场景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BF6336-2DF8-4808-AC63-DB010A76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7966416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9F02712E-1BD2-4A05-A332-B5A6FBD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000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97D59B40-34E7-4D1E-9386-B26F6E03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05050"/>
            <a:ext cx="3000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2B5A15D2-E593-4B23-B997-DE09B799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05050"/>
            <a:ext cx="9525" cy="3390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6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55B90D3D-4A16-43EF-8BB6-F2ED495D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0007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7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959C58A0-07C9-47F1-8CE9-8246590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91075"/>
            <a:ext cx="4000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8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8B964EC3-8A3C-4838-8BE3-48AFD596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24500"/>
            <a:ext cx="4000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96CBE81-7588-4074-87D7-82D8C64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06 / 差异化定位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7AA25A-5588-48AE-8937-90AB139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结算前的净省决策定位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2BC3EDE-EC41-48C1-915F-84172FA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按能力维度划分的定位假设，具体竞品能力仍需调研核实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8E2241D-28C7-4B10-AE40-A5A16B0F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71450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实付决策支持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E2A63F-63C0-46E6-88EE-714D5A0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857875"/>
            <a:ext cx="2381250" cy="304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结算链路接入程度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C7FB4C-7D25-455D-A408-7A93E83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524125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价格与优惠信息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C83B60F-2B3E-40EF-969A-F8D49417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4765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发现优惠，比较价格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1331636-C21A-4FBB-AC65-8139AE2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2524125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刚好拟提供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ADCEC1F-7514-4C53-B8B8-4BD8AFE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2524125" cy="762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同源计价，展示净省方案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F1A4DF-32D3-49BE-A599-B89C7611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2524125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偏好与选品支持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31585B4-D1E8-40AE-B4D0-CF51A77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筛选用户想买的商品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8FC75B1-BCC4-4876-AA1E-9DBDBD74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2524125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加购与推荐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1528CC6-E10C-4B1E-AA16-07257733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2524125" cy="666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在交易链路提供候选商品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4219BE-2DC8-4D4B-AFCD-5C5536D0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66950"/>
            <a:ext cx="4000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拟建立的能力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22E0C1EF-38BF-4D2A-8DAD-C80B063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000500" cy="1333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结算内计算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实付可核验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原因可解释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4A34FB4-1E3B-436E-98A4-21D38A2D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4000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嵌入结算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0D8A17-CB8A-48A3-A8DA-62D5C1ED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4000500" cy="3333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在购物车阶段计算方案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ACFA9F9-3EDC-44B2-A4C2-8264BB32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4000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核验净省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70F8618C-7BF5-4A3F-A1E0-FEC4AB22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4000500" cy="33337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仅展示可核验的正净省方案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53E6ED9-C0D5-442C-BCF0-980D6EFE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62600"/>
            <a:ext cx="4000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解释原因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F643875-A06F-4CB1-AA4C-7049543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15025"/>
            <a:ext cx="4000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列明优惠、加购价和费用变化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7BEAF923-A4E8-4464-958F-78A1A92A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315075"/>
            <a:ext cx="4000500" cy="247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定位示意，非已验证市场结论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10F197BE-3148-426C-96F9-27A5F8FD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484166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28877E8F-D310-48A2-B70E-DEBC60B9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81250" cy="2571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E31D5AA2-C8B6-4A5C-8133-89F0CDC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73342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FF388A06-83F3-4983-B005-1A1B47CB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9DBD831C-D4BE-4A3F-8C00-DB27CF6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hape 7">
            <a:extLst xmlns:a="http://schemas.openxmlformats.org/drawingml/2006/main">
              <a:ext uri="{FF2B5EF4-FFF2-40B4-BE49-F238E27FC236}">
                <a16:creationId xmlns:a16="http://schemas.microsoft.com/office/drawing/2014/main" id="{DEBAC668-878F-4B94-800D-18B8BD3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hape 8">
            <a:extLst xmlns:a="http://schemas.openxmlformats.org/drawingml/2006/main">
              <a:ext uri="{FF2B5EF4-FFF2-40B4-BE49-F238E27FC236}">
                <a16:creationId xmlns:a16="http://schemas.microsoft.com/office/drawing/2014/main" id="{9156534B-87C5-49E9-AD0C-239A70A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Shape 9">
            <a:extLst xmlns:a="http://schemas.openxmlformats.org/drawingml/2006/main">
              <a:ext uri="{FF2B5EF4-FFF2-40B4-BE49-F238E27FC236}">
                <a16:creationId xmlns:a16="http://schemas.microsoft.com/office/drawing/2014/main" id="{D0BDCD07-9759-40B4-AEA4-D86E928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hape 10">
            <a:extLst xmlns:a="http://schemas.openxmlformats.org/drawingml/2006/main">
              <a:ext uri="{FF2B5EF4-FFF2-40B4-BE49-F238E27FC236}">
                <a16:creationId xmlns:a16="http://schemas.microsoft.com/office/drawing/2014/main" id="{ECC4536C-99BC-43CC-8FBB-143445F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819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334F671-3182-4638-924A-0F4831EB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07 / 试点计划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9890BE8-A6B2-4AEA-91C7-6519A34D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12 周单城市试点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FD70C8D3-B1BE-414A-AED1-27EDF6F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953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1 个城市、1 个品类、1 个购物车入口，验证净省、增量与体验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9B883AF-0773-4DD4-8FB2-13284177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095500" cy="1047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12 周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FC6C73-2001-4634-9FED-F97A45AB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809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试点计划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43816AB-3B14-47ED-87BE-4A53DFB6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1905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快餐或奶茶，择一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578C33D-3406-4769-BC6B-254078D7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W1–3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8E4011A-8316-4D97-AC9E-184FC01C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1524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数据与规则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BC57EAD9-B394-4D86-BF3C-18B3B19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152400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菜单、优惠、库存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建立计价模拟器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FC6347-8CCE-4118-8F2F-46D5B3A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14825"/>
            <a:ext cx="15621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目标：一致率100%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469CEED-2B40-4AB7-A9A9-E754660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W4–6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176B70C-AAC1-4453-BEB7-3EB931D6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524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算法 MVP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A1BF5E-ACD4-4C95-82A3-2591E12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05200"/>
            <a:ext cx="152400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候选、优化与排序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加入超时兜底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5AA160-9572-4AF7-866D-65858C6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14825"/>
            <a:ext cx="15621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目标：覆盖70%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P99&lt;100ms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59C0B2B-DA64-4F6C-B15D-3ED7643A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97EEAB3-0095-496C-B7A7-48B4836C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524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影子模式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9D5D75D-D7EA-4BB9-BC78-C6D3524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152400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只记录、不展示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与真实结算对比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605AB38-5F91-4525-BDEE-9076C9E8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15621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验收：无资损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无下单阻塞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42CB958-BD88-4EC5-A0E9-6535B83C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W8–11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4C6B22D-4F2C-49BA-9831-4C44D54E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524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A/B试点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365A2F7-F598-40BC-9A4B-534ED77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152400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单城市单品类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覆盖午高峰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6439BE4-E087-47DC-B265-3342B789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14825"/>
            <a:ext cx="15621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目标：转化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+1–2个百分点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C246968A-6CFB-4C9E-BDE1-05B72F99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W12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4157B5-78E7-41B1-A5DB-2051A97F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0"/>
            <a:ext cx="1524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复盘决策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B9EE2E6B-9800-4752-B7A7-79B9B9F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05200"/>
            <a:ext cx="1524000" cy="723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实验报告与测算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评估推广条件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95997F13-7CDA-4578-B08F-BCF10A6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14825"/>
            <a:ext cx="1562100" cy="685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达标后决定扩量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CB9A262-C907-46B1-975A-B169CB14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142875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逐级灰度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E5E65D4A-CD6C-4566-BB42-9BBEB0B8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485775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5%、20%、50%、全量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522BB51-0328-4574-9FB2-1DCAF6D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34025"/>
            <a:ext cx="4572000" cy="628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关键依赖：数据权限与计价接口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须在 W1–W2 到位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0D482FE5-2AB6-493B-9706-AD8A403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203189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7D9DED89-C358-470C-8098-0CAC03B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29000" cy="209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70189F30-162F-4F7C-B626-02E6993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9525" cy="1219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A2433A0C-2E44-40E0-8422-1E3D49A3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52950"/>
            <a:ext cx="9525" cy="12192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7197F28E-2254-4E6C-9D74-EC1FA0E2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85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E9B83A7C-4413-4498-B89F-C785861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08 / 示例测算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80B86A1-153D-434E-A9D5-09F5DBD2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示例收益与费用比为 3.8 倍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8FEFC82-F738-4731-93E2-88DEEE1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以下为独立假设情景，不代表试点实绩或经营预测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889776-7E52-450B-A992-C02819D0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952750" cy="1190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3.8×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236F14-702C-4141-B26A-4E0A791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29527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收益 / 费用比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E361404-7015-4990-921E-BF8F5F4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3048000" cy="304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年增量贡献毛利 / 年服务费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978AC4-3ED8-4CA2-AC82-6880B3D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6286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年增量贡献毛利约 383 万元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8A34E5BD-D73A-4644-8901-26390076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81300"/>
            <a:ext cx="6477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扣除 100 万元年费，示例净收益约 283 万元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9DFD30F-7C05-45D2-BF35-BAC16319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6534150" cy="10001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基准规模100万单/日，目标订单15%，覆盖70%，采纳20%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采纳中增量20%，单均贡献毛利2.5元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服务费假设100万元/年，按365天年化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892DF1-38A3-435C-A967-2FF41C7C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66700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4,200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D1CEBAE-CC1E-4051-94E0-F7A6D4F4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667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增量订单 / 日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8901026-B61A-4DA5-A46C-0469B3A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266700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2.1万采纳单 × 20%增量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A048E7A-F0C7-492A-A3D2-DD4513D4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91050"/>
            <a:ext cx="285750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383 万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307C910-F17E-4280-8FE3-671E7095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2857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增量贡献毛利 / 年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2599DE-4418-4192-A281-BE52458F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53100"/>
            <a:ext cx="285750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4,200单 × 2.5元 × 365天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D0FB33-0109-45FB-A545-152C0E90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2857500" cy="781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1,533 万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0802B04-142C-46AC-A263-1F06DFBA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2857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用户净省 / 年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50CD2459-884C-4ED3-A1E3-7E90236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53100"/>
            <a:ext cx="2857500" cy="2857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2元 × 2.1万单 × 365天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D71F8AC-1348-4A40-B808-359094A8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81725"/>
            <a:ext cx="10287000" cy="266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收益费用比未扣除服务费；本页情景与 A/B 转化验收目标独立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63ACB3E-C29F-45EB-A8D7-F0778F3B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495516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FFAEF3AE-90E8-48DC-AE72-0ADED550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006108D3-3B93-4771-8A59-74A5AD3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Shape 5">
            <a:extLst xmlns:a="http://schemas.openxmlformats.org/drawingml/2006/main">
              <a:ext uri="{FF2B5EF4-FFF2-40B4-BE49-F238E27FC236}">
                <a16:creationId xmlns:a16="http://schemas.microsoft.com/office/drawing/2014/main" id="{28DA1791-2A0B-4369-A0B7-9B2D4F90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3810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9207FE80-0F74-4A49-BC9D-1E4DA7E1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489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8C65E82-6893-45A0-9D93-BB0098F6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09 / 商业模式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F46E404-45CB-4F33-9AF5-D0CBEC13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平台付费，用户免费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E845E76-788D-4746-AA01-60930EA7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B2B2C 模式：先联合试点，再按使用规模或增量效果收费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19BBC9-CBB2-4F4C-A667-FEEB0CA8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拟定收费路径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892B5F-1BD2-457D-941F-5713E346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95250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9F68961-3CF2-49BD-A2D0-B50512FF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2860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试点项目费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8FED4DC-D4FB-4684-9404-FF739DD9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286000" cy="590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12 周联合试点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按成本或固定费用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1F82519C-8595-4BFF-9718-1464F1E1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286000" cy="3048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验证产品价值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24EE078A-EFCA-4739-AC34-8711080E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48050"/>
            <a:ext cx="95250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BF3BBF-9904-4022-A1CB-7CB5FE1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29050"/>
            <a:ext cx="2476500" cy="4191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SaaS / API 年费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F0D4152-15E8-4662-9C56-379674E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10050"/>
            <a:ext cx="238125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按平台、城市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或调用量收费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65B428A-03BD-40CC-AE7E-F1A2712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43475"/>
            <a:ext cx="2381250" cy="342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扩大服务规模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A37AE-8312-44D5-80A1-E03D6603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14300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B0BB988-D0BD-4EBD-A2F5-D43ACE8E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3048000" cy="476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效果分成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5277CFA-4E36-4EAD-95E7-FAD860A9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3238500" cy="8953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按可归因的增量完成订单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或补贴效率改善协商分成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3A960AB-DE2A-47E4-9233-38A651B3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72000"/>
            <a:ext cx="3048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长期合作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D2787B07-CFCF-4B14-9541-EA6B36D0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91100"/>
            <a:ext cx="3238500" cy="628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在双方认可的归因与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计费规则下结算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F53B7C76-E610-48D3-80FD-00BAA94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6680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拓展规划：外卖验证后，再评估商超、买药、到店及权益平台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9C698FA-9D74-42A2-8597-33C417E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858185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8FBD29C-1E8E-4454-982B-103F9699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9525" cy="3048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48E73FCE-0367-439E-A6C2-D694CBEC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9525" cy="3048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B6C939C0-D5F6-4E5D-8546-F5CB148B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5774441-6B97-42FB-AD55-4D9BAD7F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005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10 / 团队规划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28DCEC5-AB20-4A6A-A887-FB8B23E5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477500" cy="609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团队能力与拟定分工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4C37204-2DF3-42DD-B19C-D547CEC4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6680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由算法、工程与产品运营负责人共同推进试点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C8CB05E-469C-409E-944D-54CBDEDE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905000" cy="95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7F68046-96E3-4041-A19B-EAEA563C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8575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算法 / 运筹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816D875-937F-4D38-AEFC-D47C99E6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857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把凑单算准、算快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0B40F06-D87D-4661-82F0-48186CF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857500" cy="1200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背包与整数规划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券组合优化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排序与评估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离线模拟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A1A2912-202D-4213-95CB-BDBCE70D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1905000" cy="95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B96078-1D3A-467B-ACE4-994A6523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285750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工程 / 平台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1D85C8E-5262-4726-A761-F7B12C1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285750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接入结算，保障稳定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1B4698F-7304-4C45-A530-3C6B3818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2857500" cy="1200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计价同源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响应与峰值压测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灰度与回滚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线上观测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7C7EE06-7D81-41F1-AEF2-BAE7AF6D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1905000" cy="9525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D5F8B0-D03C-48EA-B8D5-497DC2B6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14325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产品 / 本地生活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4FD72DD-360A-41ED-A4C8-75E7FFAF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3143250" cy="381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组织试点并评估结果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24C64A6-E344-44E9-8F6F-7712A85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67200"/>
            <a:ext cx="2857500" cy="1200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用户洞察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商家运营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试点落地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4DC6513-170C-44B0-8654-32758B28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外部支持规划：平台优惠规则专家、法务与合规顾问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FB2B325-9417-49E9-8427-63662B5F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981075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拟组建团队，负责人在试点立项时确定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A0B9DA-1679-445D-BA4B-83C69FF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7896785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73B78441-EEBF-4D27-85BF-3D31B4D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4191000" cy="5276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FB656501-488F-4C9A-AE8B-5E2BAB0F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86125"/>
            <a:ext cx="3238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5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7FDBF75B-A8F2-4CA3-BB18-16C371AD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43425"/>
            <a:ext cx="32385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D4E0EF"/>
          </a:solidFill>
          <a:ln xmlns:a="http://schemas.openxmlformats.org/drawingml/2006/main" w="9525">
            <a:solidFill>
              <a:srgbClr val="D4E0EF"/>
            </a:solidFill>
            <a:prstDash val="solid"/>
          </a:ln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65EEFE9-03C8-43D2-9F3F-68625F45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3810000" cy="2095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11 / 联合试点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C5F6620-2913-48DA-A7E8-006AD3AB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6191250" cy="1571625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一个购物车入口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启动 12 周联合试点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978DE15-0D57-4734-9F30-9623BB0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6096000" cy="476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不劝你多买，只帮你少花。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E0B7E37-0E37-424A-8C3A-A4A2071B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1524000" cy="3619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启动节奏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6961894-4A37-4A6A-9A6F-F64D361F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7225"/>
            <a:ext cx="6000750" cy="8572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30 天接入准备，W1 启动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W8 开始 A/B，W12 复盘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D6C0FE-5831-4462-BD75-9CBAE371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6096000" cy="762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合作需求：授权数据与计价接口，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单城市、单品类及购物车试点入口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6528117C-471B-424E-A475-78FB45FE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952500" cy="11430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2362F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C8A068B1-9ECD-4459-9709-56B66AEE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95425"/>
            <a:ext cx="2190750" cy="4572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项验收问题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A10BC4E5-54F7-4439-B2E6-C24C3907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3333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01  用户净省是否兑现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549DF1BE-80CA-4632-ACFB-9DBB508F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95575"/>
            <a:ext cx="3333750" cy="5143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按原单与新方案的实付差核验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6B3BE62-3DEA-482B-889D-52DDF984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09950"/>
            <a:ext cx="3333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02  是否带来增量订单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FE1B0BF-B9A2-4C9B-9A06-376E0C2B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333750" cy="628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A/B目标：目标购物车人群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转化提升 1–2 个百分点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0B771042-A941-4D18-B865-EDA3119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57725"/>
            <a:ext cx="3333750" cy="4000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45"/>
                </a:solidFill>
                <a:latin typeface="Microsoft YaHei"/>
                <a:ea typeface="Microsoft YaHei"/>
                <a:cs typeface="Microsoft YaHei"/>
              </a:rPr>
              <a:t>03  体验是否受到影响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20D9D56-A05F-4565-A50D-261E081B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95875"/>
            <a:ext cx="3333750" cy="6477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护栏：退款率、差评率不升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984"/>
                </a:solidFill>
                <a:latin typeface="Microsoft YaHei"/>
                <a:ea typeface="Microsoft YaHei"/>
                <a:cs typeface="Microsoft YaHei"/>
              </a:rPr>
              <a:t>响应目标：P99 &lt; 100ms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000221A4-5137-43E6-849A-10F6CD1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3810000" cy="247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产品 BP  2026.10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FB3CD8-8C44-46A3-9C11-8AF7AEFE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77000"/>
            <a:ext cx="1809750" cy="2476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刚好  净省凑单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DE541B65-F54D-400B-93F3-F42D37D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38900"/>
            <a:ext cx="838200" cy="2286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294AA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767782736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2026-10-19T13:03:27.3760000Z</dcterms:created>
  <dcterms:modified xsi:type="dcterms:W3CDTF">2026-10-19T13:03:27.3760000Z</dcterms:modified>
</coreProperties>
</file>