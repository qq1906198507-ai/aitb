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spPr>
            <a:solidFill>
              <a:srgbClr val="9CC5B6"/>
            </a:solidFill>
            <a:effectLst/>
          </c:spPr>
          <c:invertIfNegative val="0"/>
          <c:dLbls>
            <c:numFmt formatCode="0.0&quot;×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E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C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保守 50%/15%</c:v>
                  </c:pt>
                  <c:pt idx="1">
                    <c:v>基准 70%/20%</c:v>
                  </c:pt>
                  <c:pt idx="2">
                    <c:v>乐观 85%/25%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1.8</c:v>
                </c:pt>
                <c:pt idx="1">
                  <c:v>3.8</c:v>
                </c:pt>
                <c:pt idx="2">
                  <c:v>5.2</c:v>
                </c:pt>
              </c:numCache>
            </c:numRef>
          </c:val>
        </c:ser>
        <c:dLbls>
          <c:numFmt formatCode="0.0&quot;×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2E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C6F68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22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普陀创新挑战赛 · 赛道 2 / 产品 BP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41732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2514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不劝你多买，只帮你少花。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3200400"/>
            <a:ext cx="6035040" cy="0"/>
          </a:xfrm>
          <a:prstGeom prst="line">
            <a:avLst/>
          </a:prstGeom>
          <a:noFill/>
          <a:ln w="12700">
            <a:solidFill>
              <a:srgbClr val="3A524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02920" y="336499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外卖购物车结算前的带约束实时决策服务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53949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v1.5 原型已交付</a:t>
            </a:r>
            <a:pPr indent="0" marL="0">
              <a:buNone/>
            </a:pPr>
            <a:r>
              <a:rPr lang="en-US" sz="125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演示中心 / 看板 / 任务评估，可现场运行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26680" y="1417320"/>
            <a:ext cx="3959352" cy="3794760"/>
          </a:xfrm>
          <a:prstGeom prst="roundRect">
            <a:avLst>
              <a:gd name="adj" fmla="val 1687"/>
            </a:avLst>
          </a:prstGeom>
          <a:solidFill>
            <a:srgbClr val="1C332A"/>
          </a:solidFill>
          <a:ln/>
        </p:spPr>
      </p:sp>
      <p:sp>
        <p:nvSpPr>
          <p:cNvPr id="9" name="Text 7"/>
          <p:cNvSpPr/>
          <p:nvPr/>
        </p:nvSpPr>
        <p:spPr>
          <a:xfrm>
            <a:off x="8092440" y="1737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核心指标与价值承诺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92440" y="21031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¥2.0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092440" y="30632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单均净省金额 · 结算真实兑现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3520440"/>
            <a:ext cx="3227832" cy="0"/>
          </a:xfrm>
          <a:prstGeom prst="line">
            <a:avLst/>
          </a:prstGeom>
          <a:noFill/>
          <a:ln w="12700">
            <a:solidFill>
              <a:srgbClr val="3A5248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8092440" y="36576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净省 = 增量优惠 − 加购价 − 附加费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报价与结算 100% 同源 · P99 &lt; 100ms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5989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A52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带约束实时决策 · 净省可验证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痛点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凑单不是省钱，是三输。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1183112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用户以为在省钱，平台以为在促活，商家却在承担无效加购与退款风险。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566160" cy="3017520"/>
          </a:xfrm>
          <a:prstGeom prst="roundRect">
            <a:avLst>
              <a:gd name="adj" fmla="val 2121"/>
            </a:avLst>
          </a:prstGeom>
          <a:solidFill>
            <a:srgbClr val="EAF3E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用户端：负和博弈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5420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−¥10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为省 5 元满减，被迫多凑 15 元不需要的冷门单品；比价 5 分钟，吃完往往后悔。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5112" y="1920240"/>
            <a:ext cx="3566160" cy="3017520"/>
          </a:xfrm>
          <a:prstGeom prst="roundRect">
            <a:avLst>
              <a:gd name="adj" fmla="val 2121"/>
            </a:avLst>
          </a:prstGeom>
          <a:solidFill>
            <a:srgbClr val="EAF3EE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平台端：流失隐患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99432" y="25420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599432" y="3429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结算前因「差几元达标」造成的购物车放弃率；补贴发了，但没促成交易。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47304" y="1920240"/>
            <a:ext cx="3566160" cy="3017520"/>
          </a:xfrm>
          <a:prstGeom prst="roundRect">
            <a:avLst>
              <a:gd name="adj" fmla="val 2121"/>
            </a:avLst>
          </a:prstGeom>
          <a:solidFill>
            <a:srgbClr val="EAF3EE"/>
          </a:solidFill>
          <a:ln/>
        </p:spPr>
      </p:sp>
      <p:sp>
        <p:nvSpPr>
          <p:cNvPr id="15" name="Text 13"/>
          <p:cNvSpPr/>
          <p:nvPr/>
        </p:nvSpPr>
        <p:spPr>
          <a:xfrm>
            <a:off x="8421624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商家端：运营负担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21624" y="25420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421624" y="3429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无效加购引发部分退款或差评，打包和备货节奏被打乱；满减折扣换来低质量客单。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5257800"/>
            <a:ext cx="11183112" cy="566928"/>
          </a:xfrm>
          <a:prstGeom prst="roundRect">
            <a:avLst>
              <a:gd name="adj" fmla="val 11290"/>
            </a:avLst>
          </a:prstGeom>
          <a:solidFill>
            <a:srgbClr val="12211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257800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根因：</a:t>
            </a:r>
            <a:pPr indent="0" marL="0">
              <a:buNone/>
            </a:pPr>
            <a:r>
              <a:rPr lang="en-US" sz="1400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现有凑单工具是商品推荐，不是决策服务。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CE6E1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 · 产品 BP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13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机会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优惠越复杂，决策越值钱。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1183112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平台不再只拼补贴，用户也不想再多点几家。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931920" cy="3200400"/>
          </a:xfrm>
          <a:prstGeom prst="roundRect">
            <a:avLst>
              <a:gd name="adj" fmla="val 2000"/>
            </a:avLst>
          </a:prstGeom>
          <a:solidFill>
            <a:srgbClr val="12211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2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3s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结算前决策窗口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840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从「多点几家」变成「帮我决定」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4434840"/>
            <a:ext cx="3383280" cy="0"/>
          </a:xfrm>
          <a:prstGeom prst="line">
            <a:avLst/>
          </a:prstGeom>
          <a:noFill/>
          <a:ln w="12700">
            <a:solidFill>
              <a:srgbClr val="3A5248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77240" y="4572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用户只愿意为凑单多花 3 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20574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20574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优惠叠加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40680" y="240487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满减、券、配送费、会员权益同时出现，用户算不清。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92040" y="2862072"/>
            <a:ext cx="6492240" cy="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892040" y="31089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40680" y="31089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效率竞争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40680" y="34564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平台从拼补贴转向拼转化率、客单价与补贴效率。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92040" y="3913632"/>
            <a:ext cx="6492240" cy="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892040" y="41605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0680" y="41605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信任稀缺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40680" y="45079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用户对诱导凑单越来越敏感，透明、理性成为差异化。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5257800"/>
            <a:ext cx="11183112" cy="566928"/>
          </a:xfrm>
          <a:prstGeom prst="roundRect">
            <a:avLst>
              <a:gd name="adj" fmla="val 11290"/>
            </a:avLst>
          </a:prstGeom>
          <a:solidFill>
            <a:srgbClr val="EAF3EE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257800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机会定义：</a:t>
            </a:r>
            <a:pPr indent="0" marL="0">
              <a:buNone/>
            </a:pPr>
            <a:r>
              <a:rPr lang="en-US" sz="140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不是再做一个推荐入口，而是在结算前替用户完成一次净省计算。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CE6E1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 · 产品 BP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产品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三个方案，一句净省。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1183112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不改变商家定价，只帮用户算清楚：加什么、省多少、值不值。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9842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9848" y="19659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最省钱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69848" y="2331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刚好过门槛，实付最低。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5394960" cy="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02920" y="29535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69848" y="293522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最想要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69848" y="33009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优先常点 / 偏好品类，不硬塞。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758184"/>
            <a:ext cx="5394960" cy="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02920" y="392277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69848" y="390448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不凑更划算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69848" y="42702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加购成本高于增量优惠时，明确劝退。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502920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按净省排序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始终保留「不凑」选项 · 价格以结算页为准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37960" y="182880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88900" dist="25400" dir="5400000">
              <a:srgbClr val="1A2E27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2057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 · 美味外卖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23957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招牌牛肉饭</a:t>
            </a:r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¥26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0" y="26700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冰美式</a:t>
            </a:r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¥6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0" y="3035808"/>
            <a:ext cx="4480560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858000" y="3127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9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再差 ¥6 可减 ¥8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720840" y="3447288"/>
            <a:ext cx="4754880" cy="566928"/>
          </a:xfrm>
          <a:prstGeom prst="roundRect">
            <a:avLst>
              <a:gd name="adj" fmla="val 11290"/>
            </a:avLst>
          </a:prstGeom>
          <a:solidFill>
            <a:srgbClr val="EAF3EE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352958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最省钱 · 加小菜 ¥6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464040" y="352958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实付 ¥30 · 净省 ¥2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03720" y="41879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最想要 · 加豆干 ¥7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464040" y="418795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实付 ¥31 · 净省 ¥1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903720" y="484632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不凑更划算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464040" y="484632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直接结算 ¥32，不加购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858000" y="5596128"/>
            <a:ext cx="4480560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6858000" y="566928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净省 = 增量优惠 − 加购价 − 附加费；以结算价为准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CE6E1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 · 产品 BP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13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算法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不是推荐列表，是带约束的实时求解器。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1183112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在满减、券、库存、配送费约束下，最大化用户净省；按偏好可加权排序。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4937760" cy="1965960"/>
          </a:xfrm>
          <a:prstGeom prst="roundRect">
            <a:avLst>
              <a:gd name="adj" fmla="val 3256"/>
            </a:avLst>
          </a:prstGeom>
          <a:solidFill>
            <a:srgbClr val="12211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214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39572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 NetSaving(x)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8163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Pay(C₀) − Pay(C₀ ∪ x)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2186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s.t. 满减 / 券叠加 / 库存 / 配送费 / 件数 ≤ 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1605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候选剪枝：价格窗口内 ≤ 20 个 SKU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组合求解：穷举 / DP，偏好可加权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计价校验：结算沙箱 Dry-run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超时降级：预算内截断（v1.5 已实现）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0" y="1920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19088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规则解析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863840" y="1947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解析满减、券、配送费与门槛。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432304"/>
            <a:ext cx="5715000" cy="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943600" y="26334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633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候选剪枝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863840" y="2660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价格窗口 + 库存过滤，缩到 20 个。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3145536"/>
            <a:ext cx="5715000" cy="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943600" y="33467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19088" y="33467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优化求解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863840" y="3374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 / ILP 求组合，输出 Top 3。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3858768"/>
            <a:ext cx="5715000" cy="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943600" y="405993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19088" y="40599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解释渲染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863840" y="40873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模板化净省说明，返回前端。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4892040"/>
            <a:ext cx="5742432" cy="1143000"/>
          </a:xfrm>
          <a:prstGeom prst="roundRect">
            <a:avLst>
              <a:gd name="adj" fmla="val 5600"/>
            </a:avLst>
          </a:prstGeom>
          <a:solidFill>
            <a:srgbClr val="EAF3EE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50474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延迟预算 · P99 &lt; 100ms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503920" y="5047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 · 超时降级，不阻塞下单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17920" y="5440680"/>
            <a:ext cx="658368" cy="310896"/>
          </a:xfrm>
          <a:prstGeom prst="rect">
            <a:avLst/>
          </a:prstGeom>
          <a:solidFill>
            <a:srgbClr val="0E7C5B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576986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 15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31152" y="5440680"/>
            <a:ext cx="1014984" cy="310896"/>
          </a:xfrm>
          <a:prstGeom prst="rect">
            <a:avLst/>
          </a:prstGeom>
          <a:solidFill>
            <a:srgbClr val="2E9A78"/>
          </a:solidFill>
          <a:ln/>
        </p:spPr>
      </p:sp>
      <p:sp>
        <p:nvSpPr>
          <p:cNvPr id="33" name="Text 31"/>
          <p:cNvSpPr/>
          <p:nvPr/>
        </p:nvSpPr>
        <p:spPr>
          <a:xfrm>
            <a:off x="6931152" y="5769864"/>
            <a:ext cx="101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 25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01000" y="5440680"/>
            <a:ext cx="1371600" cy="310896"/>
          </a:xfrm>
          <a:prstGeom prst="rect">
            <a:avLst/>
          </a:prstGeom>
          <a:solidFill>
            <a:srgbClr val="0A5A43"/>
          </a:solidFill>
          <a:ln/>
        </p:spPr>
      </p:sp>
      <p:sp>
        <p:nvSpPr>
          <p:cNvPr id="35" name="Text 33"/>
          <p:cNvSpPr/>
          <p:nvPr/>
        </p:nvSpPr>
        <p:spPr>
          <a:xfrm>
            <a:off x="8001000" y="57698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 35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427464" y="5440680"/>
            <a:ext cx="658368" cy="310896"/>
          </a:xfrm>
          <a:prstGeom prst="rect">
            <a:avLst/>
          </a:prstGeom>
          <a:solidFill>
            <a:srgbClr val="2E9A78"/>
          </a:solidFill>
          <a:ln/>
        </p:spPr>
      </p:sp>
      <p:sp>
        <p:nvSpPr>
          <p:cNvPr id="37" name="Text 35"/>
          <p:cNvSpPr/>
          <p:nvPr/>
        </p:nvSpPr>
        <p:spPr>
          <a:xfrm>
            <a:off x="9427464" y="576986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 15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140696" y="5440680"/>
            <a:ext cx="475488" cy="310896"/>
          </a:xfrm>
          <a:prstGeom prst="rect">
            <a:avLst/>
          </a:prstGeom>
          <a:solidFill>
            <a:srgbClr val="BFDDD1"/>
          </a:solidFill>
          <a:ln/>
        </p:spPr>
      </p:sp>
      <p:sp>
        <p:nvSpPr>
          <p:cNvPr id="39" name="Text 37"/>
          <p:cNvSpPr/>
          <p:nvPr/>
        </p:nvSpPr>
        <p:spPr>
          <a:xfrm>
            <a:off x="10140696" y="576986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缓冲 10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610819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 = 结算 100% 同源   ·   超时降级不阻塞下单   ·   全链路可观测、可回滚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CE6E1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 · 产品 BP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13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壁垒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算法不是壁垒，闭环才是。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1183112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规则接得准、数据转得动、用户信得过，三件事缺一不可。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EAF3E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214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4505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规则本体库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77240" y="28163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200+ 规则模板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把满减、券、配送费结构化成可执行规则，跨平台复用。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5112" y="192024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EAF3EE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1214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9432" y="24505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同源报价引擎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599432" y="28163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一致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599432" y="3291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报价直接调用结算沙箱，差异 &gt; 0.01 元即告警。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47304" y="192024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EAF3EE"/>
          </a:solidFill>
          <a:ln/>
        </p:spPr>
      </p:sp>
      <p:sp>
        <p:nvSpPr>
          <p:cNvPr id="17" name="Text 15"/>
          <p:cNvSpPr/>
          <p:nvPr/>
        </p:nvSpPr>
        <p:spPr>
          <a:xfrm>
            <a:off x="8421624" y="21214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1624" y="24505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劝退样本库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21624" y="28163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负反馈资产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421624" y="3291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记录什么不该推荐，形成难以复制的信任数据。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526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数据飞轮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4892040"/>
            <a:ext cx="2148840" cy="566928"/>
          </a:xfrm>
          <a:prstGeom prst="roundRect">
            <a:avLst>
              <a:gd name="adj" fmla="val 11290"/>
            </a:avLst>
          </a:prstGeom>
          <a:solidFill>
            <a:srgbClr val="EAF3EE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89204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规则接入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679192" y="48920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246120" y="4892040"/>
            <a:ext cx="2148840" cy="566928"/>
          </a:xfrm>
          <a:prstGeom prst="roundRect">
            <a:avLst>
              <a:gd name="adj" fmla="val 11290"/>
            </a:avLst>
          </a:prstGeom>
          <a:solidFill>
            <a:srgbClr val="EAF3EE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489204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方案输出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22392" y="48920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989320" y="4892040"/>
            <a:ext cx="2148840" cy="566928"/>
          </a:xfrm>
          <a:prstGeom prst="roundRect">
            <a:avLst>
              <a:gd name="adj" fmla="val 11290"/>
            </a:avLst>
          </a:prstGeom>
          <a:solidFill>
            <a:srgbClr val="EAF3EE"/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489204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165592" y="48920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732520" y="4892040"/>
            <a:ext cx="2148840" cy="566928"/>
          </a:xfrm>
          <a:prstGeom prst="roundRect">
            <a:avLst>
              <a:gd name="adj" fmla="val 11290"/>
            </a:avLst>
          </a:prstGeom>
          <a:solidFill>
            <a:srgbClr val="EAF3EE"/>
          </a:solidFill>
          <a:ln/>
        </p:spPr>
      </p:sp>
      <p:sp>
        <p:nvSpPr>
          <p:cNvPr id="32" name="Text 30"/>
          <p:cNvSpPr/>
          <p:nvPr/>
        </p:nvSpPr>
        <p:spPr>
          <a:xfrm>
            <a:off x="8732520" y="489204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更好排序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835640" y="48920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02920" y="5715000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每一次接受 / 拒绝 / 退款，都会回到规则与排序。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CE6E1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 · 产品 BP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13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竞争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现有方案，都不解决「净省」。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1183112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要么没嵌进结算，要么不保证净省；右上角是空位。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5577840"/>
            <a:ext cx="5577840" cy="0"/>
          </a:xfrm>
          <a:prstGeom prst="line">
            <a:avLst/>
          </a:prstGeom>
          <a:noFill/>
          <a:ln w="19050">
            <a:solidFill>
              <a:srgbClr val="9AAB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011680"/>
            <a:ext cx="0" cy="3566160"/>
          </a:xfrm>
          <a:prstGeom prst="line">
            <a:avLst/>
          </a:prstGeom>
          <a:noFill/>
          <a:ln w="19050">
            <a:solidFill>
              <a:srgbClr val="9AAB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007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保证净省 ↑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0" y="56692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嵌入结算 →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554480" y="4297680"/>
            <a:ext cx="274320" cy="274320"/>
          </a:xfrm>
          <a:prstGeom prst="ellipse">
            <a:avLst/>
          </a:prstGeom>
          <a:solidFill>
            <a:srgbClr val="B9C6C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6085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第三方返利 / 比价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749040" y="3749040"/>
            <a:ext cx="274320" cy="274320"/>
          </a:xfrm>
          <a:prstGeom prst="ellipse">
            <a:avLst/>
          </a:prstGeom>
          <a:solidFill>
            <a:srgbClr val="B9C6C0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40599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点餐助手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20640" y="5029200"/>
            <a:ext cx="274320" cy="274320"/>
          </a:xfrm>
          <a:prstGeom prst="ellipse">
            <a:avLst/>
          </a:prstGeom>
          <a:solidFill>
            <a:srgbClr val="B9C6C0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53400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平台凑单 / 商家工具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80560" y="2331720"/>
            <a:ext cx="2286000" cy="841248"/>
          </a:xfrm>
          <a:prstGeom prst="roundRect">
            <a:avLst>
              <a:gd name="adj" fmla="val 7609"/>
            </a:avLst>
          </a:prstGeom>
          <a:solidFill>
            <a:srgbClr val="0E7C5B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2395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E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 + 净省 + 可解释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0" y="21031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嵌入结算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949440" y="24505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只有购物车入口，才算决策发生的地方。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49440" y="2852928"/>
            <a:ext cx="4663440" cy="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6949440" y="30175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保证净省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949440" y="33649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不是更多选择，而是可验证的净省。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49440" y="3767328"/>
            <a:ext cx="4663440" cy="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949440" y="39319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6949440" y="42793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每个数字都能在结算页对上。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949440" y="5029200"/>
            <a:ext cx="4736592" cy="640080"/>
          </a:xfrm>
          <a:prstGeom prst="roundRect">
            <a:avLst>
              <a:gd name="adj" fmla="val 10000"/>
            </a:avLst>
          </a:prstGeom>
          <a:solidFill>
            <a:srgbClr val="12211B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50292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这不是又一个推荐列表，是交易决策。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CE6E1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 · 产品 BP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13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落地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周，跑通一个城市。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1183112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一个城市、一个品类、一个购物车入口；先证明净省、增量和体验。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7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indent="0" marL="0">
              <a:buNone/>
            </a:pPr>
            <a:r>
              <a:rPr lang="en-US" sz="22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周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跑通一个城市 · 1 城市 · 1 品类 · 1 入口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922776"/>
            <a:ext cx="10881360" cy="0"/>
          </a:xfrm>
          <a:prstGeom prst="line">
            <a:avLst/>
          </a:prstGeom>
          <a:noFill/>
          <a:ln w="25400">
            <a:solidFill>
              <a:srgbClr val="C9D8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" y="3831336"/>
            <a:ext cx="182880" cy="182880"/>
          </a:xfrm>
          <a:prstGeom prst="ellipse">
            <a:avLst/>
          </a:prstGeom>
          <a:solidFill>
            <a:srgbClr val="0E7C5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41071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W1-3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17880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/ 规则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450799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接菜单、优惠、库存；建计价模拟器。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34056" y="3831336"/>
            <a:ext cx="182880" cy="182880"/>
          </a:xfrm>
          <a:prstGeom prst="ellipse">
            <a:avLst/>
          </a:prstGeom>
          <a:solidFill>
            <a:srgbClr val="0E7C5B"/>
          </a:solidFill>
          <a:ln/>
        </p:spPr>
      </p:sp>
      <p:sp>
        <p:nvSpPr>
          <p:cNvPr id="14" name="Text 12"/>
          <p:cNvSpPr/>
          <p:nvPr/>
        </p:nvSpPr>
        <p:spPr>
          <a:xfrm>
            <a:off x="2679192" y="341071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W4-6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79192" y="417880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 MVP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79192" y="450799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候选剪枝 + 求解器；离线回放。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10328" y="3831336"/>
            <a:ext cx="182880" cy="182880"/>
          </a:xfrm>
          <a:prstGeom prst="ellipse">
            <a:avLst/>
          </a:prstGeom>
          <a:solidFill>
            <a:srgbClr val="0E7C5B"/>
          </a:solidFill>
          <a:ln/>
        </p:spPr>
      </p:sp>
      <p:sp>
        <p:nvSpPr>
          <p:cNvPr id="18" name="Text 16"/>
          <p:cNvSpPr/>
          <p:nvPr/>
        </p:nvSpPr>
        <p:spPr>
          <a:xfrm>
            <a:off x="4855464" y="341071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55464" y="417880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影子模式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55464" y="450799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不影响下单；逐单对账。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086600" y="3831336"/>
            <a:ext cx="182880" cy="182880"/>
          </a:xfrm>
          <a:prstGeom prst="ellipse">
            <a:avLst/>
          </a:prstGeom>
          <a:solidFill>
            <a:srgbClr val="0E7C5B"/>
          </a:solidFill>
          <a:ln/>
        </p:spPr>
      </p:sp>
      <p:sp>
        <p:nvSpPr>
          <p:cNvPr id="22" name="Text 20"/>
          <p:cNvSpPr/>
          <p:nvPr/>
        </p:nvSpPr>
        <p:spPr>
          <a:xfrm>
            <a:off x="7031736" y="341071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W8-11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31736" y="417880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 试点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31736" y="450799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 → 20% → 50%；看增量与护栏。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262872" y="3831336"/>
            <a:ext cx="182880" cy="18288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6" name="Text 24"/>
          <p:cNvSpPr/>
          <p:nvPr/>
        </p:nvSpPr>
        <p:spPr>
          <a:xfrm>
            <a:off x="9208008" y="341071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08008" y="417880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08008" y="450799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决定扩城、扩品类或停止。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5349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灰度节奏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874520" y="5321808"/>
            <a:ext cx="1051560" cy="365760"/>
          </a:xfrm>
          <a:prstGeom prst="roundRect">
            <a:avLst>
              <a:gd name="adj" fmla="val 17500"/>
            </a:avLst>
          </a:prstGeom>
          <a:solidFill>
            <a:srgbClr val="EAF3EE"/>
          </a:solidFill>
          <a:ln/>
        </p:spPr>
      </p:sp>
      <p:sp>
        <p:nvSpPr>
          <p:cNvPr id="31" name="Text 29"/>
          <p:cNvSpPr/>
          <p:nvPr/>
        </p:nvSpPr>
        <p:spPr>
          <a:xfrm>
            <a:off x="1874520" y="53218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944368" y="5321808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291840" y="5321808"/>
            <a:ext cx="1051560" cy="365760"/>
          </a:xfrm>
          <a:prstGeom prst="roundRect">
            <a:avLst>
              <a:gd name="adj" fmla="val 17500"/>
            </a:avLst>
          </a:prstGeom>
          <a:solidFill>
            <a:srgbClr val="EAF3EE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0" y="53218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361688" y="5321808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709160" y="5321808"/>
            <a:ext cx="1051560" cy="365760"/>
          </a:xfrm>
          <a:prstGeom prst="roundRect">
            <a:avLst>
              <a:gd name="adj" fmla="val 17500"/>
            </a:avLst>
          </a:prstGeom>
          <a:solidFill>
            <a:srgbClr val="EAF3EE"/>
          </a:solidFill>
          <a:ln/>
        </p:spPr>
      </p:sp>
      <p:sp>
        <p:nvSpPr>
          <p:cNvPr id="37" name="Text 35"/>
          <p:cNvSpPr/>
          <p:nvPr/>
        </p:nvSpPr>
        <p:spPr>
          <a:xfrm>
            <a:off x="4709160" y="53218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50%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779008" y="5321808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126480" y="5321808"/>
            <a:ext cx="1051560" cy="365760"/>
          </a:xfrm>
          <a:prstGeom prst="roundRect">
            <a:avLst>
              <a:gd name="adj" fmla="val 17500"/>
            </a:avLst>
          </a:prstGeom>
          <a:solidFill>
            <a:srgbClr val="0E7C5B"/>
          </a:solidFill>
          <a:ln/>
        </p:spPr>
      </p:sp>
      <p:sp>
        <p:nvSpPr>
          <p:cNvPr id="40" name="Text 38"/>
          <p:cNvSpPr/>
          <p:nvPr/>
        </p:nvSpPr>
        <p:spPr>
          <a:xfrm>
            <a:off x="6126480" y="53218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02920" y="5897880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关键依赖：数据权限 + 计价接口在 W1-W2 到位；否则试点顺延。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CE6E1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 · 产品 BP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13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价值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平台投入 1 元，拿回 1.8–5.2 元。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1183112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示例测算：日均 100 万单的平台，只算增量贡献毛利，不含留存与品牌。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E7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1.8–5.2</a:t>
            </a:r>
            <a:pPr indent="0" marL="0">
              <a:buNone/>
            </a:pPr>
            <a:r>
              <a:rPr lang="en-US" sz="2600" b="1" dirty="0">
                <a:solidFill>
                  <a:srgbClr val="0E7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 ROI 区间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9626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单点 3.8× 不作为承诺 · 只对「本来会放弃的订单」计增量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3611880"/>
          <a:ext cx="51206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60167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 = 覆盖率 / 接受率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0" y="1965960"/>
            <a:ext cx="5285232" cy="1051560"/>
          </a:xfrm>
          <a:prstGeom prst="roundRect">
            <a:avLst>
              <a:gd name="adj" fmla="val 6087"/>
            </a:avLst>
          </a:prstGeom>
          <a:solidFill>
            <a:srgbClr val="EAF3EE"/>
          </a:solidFill>
          <a:ln/>
        </p:spPr>
      </p:sp>
      <p:sp>
        <p:nvSpPr>
          <p:cNvPr id="12" name="Text 9"/>
          <p:cNvSpPr/>
          <p:nvPr/>
        </p:nvSpPr>
        <p:spPr>
          <a:xfrm>
            <a:off x="6720840" y="209397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5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720840" y="26426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增量订单 / 日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0" y="3264408"/>
            <a:ext cx="5285232" cy="1051560"/>
          </a:xfrm>
          <a:prstGeom prst="roundRect">
            <a:avLst>
              <a:gd name="adj" fmla="val 6087"/>
            </a:avLst>
          </a:prstGeom>
          <a:solidFill>
            <a:srgbClr val="EAF3EE"/>
          </a:solidFill>
          <a:ln/>
        </p:spPr>
      </p:sp>
      <p:sp>
        <p:nvSpPr>
          <p:cNvPr id="15" name="Text 12"/>
          <p:cNvSpPr/>
          <p:nvPr/>
        </p:nvSpPr>
        <p:spPr>
          <a:xfrm>
            <a:off x="6720840" y="33924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5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383 万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720840" y="394106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增量贡献毛利 / 年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0" y="4562856"/>
            <a:ext cx="5285232" cy="1051560"/>
          </a:xfrm>
          <a:prstGeom prst="roundRect">
            <a:avLst>
              <a:gd name="adj" fmla="val 6087"/>
            </a:avLst>
          </a:prstGeom>
          <a:solidFill>
            <a:srgbClr val="EAF3EE"/>
          </a:solidFill>
          <a:ln/>
        </p:spPr>
      </p:sp>
      <p:sp>
        <p:nvSpPr>
          <p:cNvPr id="18" name="Text 15"/>
          <p:cNvSpPr/>
          <p:nvPr/>
        </p:nvSpPr>
        <p:spPr>
          <a:xfrm>
            <a:off x="6720840" y="469087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1,533 万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6720840" y="52395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用户净省 / 年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0" y="5943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口径：差一点订单 15% × 覆盖率 × 接受率 × 原本会放弃 20% × 单均贡献毛利 2.5 元；服务费 100 万元/年。所有参数待试点校准。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CE6E1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 · 产品 BP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13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商业模式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向平台收费，不向用户收费。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1183112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平台是买单方，用户是使用者；先试点，再 SaaS，最后按效果分成。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566160" cy="2377440"/>
          </a:xfrm>
          <a:prstGeom prst="roundRect">
            <a:avLst>
              <a:gd name="adj" fmla="val 2692"/>
            </a:avLst>
          </a:prstGeom>
          <a:solidFill>
            <a:srgbClr val="EAF3E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2140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试点项目费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77240" y="287121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周联合试点，按成本或固定费用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602736"/>
            <a:ext cx="3017520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77240" y="37124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验证价值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87368" y="2834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25112" y="1920240"/>
            <a:ext cx="3566160" cy="2377440"/>
          </a:xfrm>
          <a:prstGeom prst="roundRect">
            <a:avLst>
              <a:gd name="adj" fmla="val 2692"/>
            </a:avLst>
          </a:prstGeom>
          <a:solidFill>
            <a:srgbClr val="EAF3EE"/>
          </a:solidFill>
          <a:ln/>
        </p:spPr>
      </p:sp>
      <p:sp>
        <p:nvSpPr>
          <p:cNvPr id="14" name="Text 12"/>
          <p:cNvSpPr/>
          <p:nvPr/>
        </p:nvSpPr>
        <p:spPr>
          <a:xfrm>
            <a:off x="4599432" y="212140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99432" y="24688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SaaS / API 年费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599432" y="287121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按平台、城市、调用量收费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99432" y="3602736"/>
            <a:ext cx="3017520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599432" y="37124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909560" y="2834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147304" y="1920240"/>
            <a:ext cx="3566160" cy="2377440"/>
          </a:xfrm>
          <a:prstGeom prst="roundRect">
            <a:avLst>
              <a:gd name="adj" fmla="val 2692"/>
            </a:avLst>
          </a:prstGeom>
          <a:solidFill>
            <a:srgbClr val="EAF3EE"/>
          </a:solidFill>
          <a:ln/>
        </p:spPr>
      </p:sp>
      <p:sp>
        <p:nvSpPr>
          <p:cNvPr id="21" name="Text 19"/>
          <p:cNvSpPr/>
          <p:nvPr/>
        </p:nvSpPr>
        <p:spPr>
          <a:xfrm>
            <a:off x="8421624" y="212140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21624" y="24688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效果分成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421624" y="287121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仅对「本来会放弃的订单」的增量毛利分成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21624" y="3602736"/>
            <a:ext cx="3017520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8421624" y="37124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与平台共赢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461772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单次调用成本 &lt; ¥0.01 · 毛利率目标 70%+（试点后校准）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5120640"/>
            <a:ext cx="11183112" cy="685800"/>
          </a:xfrm>
          <a:prstGeom prst="roundRect">
            <a:avLst>
              <a:gd name="adj" fmla="val 9333"/>
            </a:avLst>
          </a:prstGeom>
          <a:solidFill>
            <a:srgbClr val="EAF3EE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12064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扩展路径：</a:t>
            </a:r>
            <a:pPr indent="0" marL="0">
              <a:buNone/>
            </a:pPr>
            <a:r>
              <a:rPr lang="en-US" sz="135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外卖 → 商超 / 买药 / 到店 → 银行权益平台 → 商家 SaaS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CE6E1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 · 产品 BP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团队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三类人，缺一不可。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1183112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不是堆履历，是证明这三件事有人能搞定。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566160" cy="3246120"/>
          </a:xfrm>
          <a:prstGeom prst="roundRect">
            <a:avLst>
              <a:gd name="adj" fmla="val 1972"/>
            </a:avLst>
          </a:prstGeom>
          <a:solidFill>
            <a:srgbClr val="EAF3E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FE2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27980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 / 运筹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1455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把凑单算准、算快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529584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背包 / 整数规划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券组合优化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排序与评估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离线模拟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5112" y="1920240"/>
            <a:ext cx="3566160" cy="3246120"/>
          </a:xfrm>
          <a:prstGeom prst="roundRect">
            <a:avLst>
              <a:gd name="adj" fmla="val 1972"/>
            </a:avLst>
          </a:prstGeom>
          <a:solidFill>
            <a:srgbClr val="EAF3EE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10312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FE2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99432" y="27980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 / 平台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99432" y="31455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接进结算，扛住峰值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99432" y="3529584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计价同源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p99 &lt; 100ms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灰度 / 回滚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峰值稳定性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47304" y="1920240"/>
            <a:ext cx="3566160" cy="3246120"/>
          </a:xfrm>
          <a:prstGeom prst="roundRect">
            <a:avLst>
              <a:gd name="adj" fmla="val 1972"/>
            </a:avLst>
          </a:prstGeom>
          <a:solidFill>
            <a:srgbClr val="EAF3EE"/>
          </a:solidFill>
          <a:ln/>
        </p:spPr>
      </p:sp>
      <p:sp>
        <p:nvSpPr>
          <p:cNvPr id="17" name="Text 15"/>
          <p:cNvSpPr/>
          <p:nvPr/>
        </p:nvSpPr>
        <p:spPr>
          <a:xfrm>
            <a:off x="8421624" y="210312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FE2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421624" y="27980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/ 本地生活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21624" y="31455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把试点跑起来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21624" y="3529584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用户洞察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商家运营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实验设计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试点落地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5440680"/>
            <a:ext cx="11183112" cy="548640"/>
          </a:xfrm>
          <a:prstGeom prst="roundRect">
            <a:avLst>
              <a:gd name="adj" fmla="val 11667"/>
            </a:avLst>
          </a:prstGeom>
          <a:solidFill>
            <a:srgbClr val="EAF3EE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44068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外部支持：</a:t>
            </a:r>
            <a:pPr indent="0" marL="0">
              <a:buNone/>
            </a:pPr>
            <a:r>
              <a:rPr lang="en-US" sz="130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平台优惠规则专家 + 法务 / 合规顾问　·　团队可以小，但这三件事必须有人负责。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CE6E1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 · 产品 BP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原型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不是计划书，是能跑的系统。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1183112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v1.4 已交付：算法、推荐、实时计算，全部可现场演示。</a:t>
            </a:r>
            <a:endParaRPr lang="en-US" sz="1300" dirty="0"/>
          </a:p>
        </p:txBody>
      </p:sp>
      <p:pic>
        <p:nvPicPr>
          <p:cNvPr id="6" name="Image 0" descr=".build-docx/bp-shots/shot-a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74520"/>
            <a:ext cx="5394960" cy="3374136"/>
          </a:xfrm>
          <a:prstGeom prst="rect">
            <a:avLst/>
          </a:prstGeom>
          <a:effectLst>
            <a:outerShdw sx="100000" sy="100000" kx="0" ky="0" algn="bl" rotWithShape="0" blurRad="88900" dist="25400" dir="5400000">
              <a:srgbClr val="1A2E27">
                <a:alpha val="14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502920" y="1874520"/>
            <a:ext cx="5394960" cy="3374136"/>
          </a:xfrm>
          <a:prstGeom prst="rect">
            <a:avLst/>
          </a:prstGeom>
          <a:ln w="12700">
            <a:solidFill>
              <a:srgbClr val="DCE6E1"/>
            </a:solidFill>
            <a:prstDash val="solid"/>
          </a:ln>
        </p:spPr>
      </p:sp>
      <p:pic>
        <p:nvPicPr>
          <p:cNvPr id="8" name="Image 1" descr=".build-docx/bp-shots/shot-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874520"/>
            <a:ext cx="5394960" cy="3374136"/>
          </a:xfrm>
          <a:prstGeom prst="rect">
            <a:avLst/>
          </a:prstGeom>
          <a:effectLst>
            <a:outerShdw sx="100000" sy="100000" kx="0" ky="0" algn="bl" rotWithShape="0" blurRad="88900" dist="25400" dir="5400000">
              <a:srgbClr val="1A2E27">
                <a:alpha val="14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6291072" y="1874520"/>
            <a:ext cx="5394960" cy="3374136"/>
          </a:xfrm>
          <a:prstGeom prst="rect">
            <a:avLst/>
          </a:prstGeom>
          <a:ln w="12700">
            <a:solidFill>
              <a:srgbClr val="DCE6E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534009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联动体验 · </a:t>
            </a:r>
            <a:pPr indent="0" marL="0"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满减/起送补单双分支，偏好策略可现场切换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291072" y="534009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实时看板 · </a:t>
            </a:r>
            <a:pPr indent="0" marL="0"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起送转化口径与进程级 P99 耗时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2920" y="5687568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12211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" y="5687568"/>
            <a:ext cx="10634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交付验证　</a:t>
            </a:r>
            <a:pPr indent="0" marL="0">
              <a:buNone/>
            </a:pPr>
            <a:r>
              <a:rPr lang="en-US" sz="1250" b="1" dirty="0">
                <a:solidFill>
                  <a:srgbClr val="F2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 项测试</a:t>
            </a:r>
            <a:pPr indent="0" marL="0">
              <a:buNone/>
            </a:pPr>
            <a:r>
              <a:rPr lang="en-US" sz="1250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全过 · </a:t>
            </a:r>
            <a:pPr indent="0" marL="0">
              <a:buNone/>
            </a:pPr>
            <a:r>
              <a:rPr lang="en-US" sz="1250" b="1" dirty="0">
                <a:solidFill>
                  <a:srgbClr val="F2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组接口集成</a:t>
            </a:r>
            <a:pPr indent="0" marL="0">
              <a:buNone/>
            </a:pPr>
            <a:r>
              <a:rPr lang="en-US" sz="1250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PASS · </a:t>
            </a:r>
            <a:pPr indent="0" marL="0">
              <a:buNone/>
            </a:pPr>
            <a:r>
              <a:rPr lang="en-US" sz="1250" b="1" dirty="0">
                <a:solidFill>
                  <a:srgbClr val="F2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262 合成场景</a:t>
            </a:r>
            <a:pPr indent="0" marL="0">
              <a:buNone/>
            </a:pPr>
            <a:r>
              <a:rPr lang="en-US" sz="1250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零违规 · </a:t>
            </a:r>
            <a:pPr indent="0" marL="0">
              <a:buNone/>
            </a:pPr>
            <a:r>
              <a:rPr lang="en-US" sz="1250" b="1" dirty="0">
                <a:solidFill>
                  <a:srgbClr val="F2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3000 服务</a:t>
            </a:r>
            <a:pPr indent="0" marL="0">
              <a:buNone/>
            </a:pPr>
            <a:r>
              <a:rPr lang="en-US" sz="1250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一页演示六个视图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CE6E1"/>
            </a:solidFill>
            <a:prstDash val="dash"/>
          </a:ln>
        </p:spPr>
      </p:sp>
      <p:sp>
        <p:nvSpPr>
          <p:cNvPr id="15" name="Text 11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 · 产品 BP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下一步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6766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给一个入口，12 周还你三个答案。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不劝你多买，只帮你少花。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880360"/>
            <a:ext cx="6217920" cy="0"/>
          </a:xfrm>
          <a:prstGeom prst="line">
            <a:avLst/>
          </a:prstGeom>
          <a:noFill/>
          <a:ln w="12700">
            <a:solidFill>
              <a:srgbClr val="3A524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02920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334670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天准备  →  W1 启动  →  W8 A/B  →  W12 复盘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37673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只需要一个购物车入口、一个城市、一个愿意一起跑 12 周的平台伙伴。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先影子，再灰度，再 A/B。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5989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 · 2026.10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26680" y="914400"/>
            <a:ext cx="3959352" cy="5074920"/>
          </a:xfrm>
          <a:prstGeom prst="roundRect">
            <a:avLst>
              <a:gd name="adj" fmla="val 2079"/>
            </a:avLst>
          </a:prstGeom>
          <a:solidFill>
            <a:srgbClr val="1C332A"/>
          </a:solidFill>
          <a:ln/>
        </p:spPr>
      </p:sp>
      <p:sp>
        <p:nvSpPr>
          <p:cNvPr id="12" name="Text 10"/>
          <p:cNvSpPr/>
          <p:nvPr/>
        </p:nvSpPr>
        <p:spPr>
          <a:xfrm>
            <a:off x="8092440" y="118872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2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2000" b="1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个答案</a:t>
            </a:r>
            <a:endParaRPr lang="en-US" sz="7800" dirty="0"/>
          </a:p>
        </p:txBody>
      </p:sp>
      <p:sp>
        <p:nvSpPr>
          <p:cNvPr id="13" name="Text 11"/>
          <p:cNvSpPr/>
          <p:nvPr/>
        </p:nvSpPr>
        <p:spPr>
          <a:xfrm>
            <a:off x="8092440" y="2606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0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用户真的净省？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0" y="29169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净省 = 增量优惠 − 加购价 − 附加费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2440" y="3392424"/>
            <a:ext cx="3246120" cy="0"/>
          </a:xfrm>
          <a:prstGeom prst="line">
            <a:avLst/>
          </a:prstGeom>
          <a:noFill/>
          <a:ln w="12700">
            <a:solidFill>
              <a:srgbClr val="3A524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8092440" y="3657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95360" y="3657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订单真的增量？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95360" y="3968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目标人群转化 +1–2 个百分点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92440" y="4443984"/>
            <a:ext cx="3246120" cy="0"/>
          </a:xfrm>
          <a:prstGeom prst="line">
            <a:avLst/>
          </a:prstGeom>
          <a:noFill/>
          <a:ln w="12700">
            <a:solidFill>
              <a:srgbClr val="3A5248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809244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95360" y="4709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体验真的不伤？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95360" y="50200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 / 差评不升，p99 &lt; 100ms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刚好·净省凑单 产品BP v1.4</dc:title>
  <dc:subject>PptxGenJS Presentation</dc:subject>
  <dc:creator>刚好 · 净省凑单</dc:creator>
  <cp:lastModifiedBy>刚好 · 净省凑单</cp:lastModifiedBy>
  <cp:revision>1</cp:revision>
  <dcterms:created xsi:type="dcterms:W3CDTF">2026-10-26T03:32:49Z</dcterms:created>
  <dcterms:modified xsi:type="dcterms:W3CDTF">2026-10-26T03:32:49Z</dcterms:modified>
</cp:coreProperties>
</file>