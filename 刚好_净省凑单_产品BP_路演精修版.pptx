
<file path=[Content_Types].xml><?xml version="1.0" encoding="utf-8"?>
<Types xmlns="http://schemas.openxmlformats.org/package/2006/content-types"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15"/>
    <p:sldId id="271" r:id="rId17"/>
    <p:sldId id="272" r:id="rId18"/>
    <p:sldId id="274" r:id="rId20"/>
    <p:sldId id="278" r:id="rId24"/>
    <p:sldId id="279" r:id="rId25"/>
    <p:sldId id="280" r:id="rId26"/>
    <p:sldId id="284" r:id="rId30"/>
    <p:sldId id="286" r:id="rId32"/>
    <p:sldId id="287" r:id="rId33"/>
    <p:sldId id="288" r:id="rId34"/>
    <p:sldId id="289" r:id="rId3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5D00C37-E4A5-42D0-9A05-0EEBC5846970}"/>
              </a:ext>
            </a:extLst>
          </p:cNvPr>
          <p:cNvSpPr/>
          <p:nvPr/>
        </p:nvSpPr>
        <p:spPr>
          <a:xfrm>
            <a:off x="7239000" y="0"/>
            <a:ext cx="4953000" cy="6858000"/>
          </a:xfrm>
          <a:prstGeom prst="round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EEDF2EF-CA96-4253-BF7B-25BC7EFB1E2C}"/>
              </a:ext>
            </a:extLst>
          </p:cNvPr>
          <p:cNvSpPr/>
          <p:nvPr/>
        </p:nvSpPr>
        <p:spPr>
          <a:xfrm>
            <a:off x="8077200" y="1428750"/>
            <a:ext cx="3048000" cy="3048000"/>
          </a:xfrm>
          <a:prstGeom prst="ellipse">
            <a:avLst/>
          </a:prstGeom>
          <a:solidFill>
            <a:srgbClr val="202723"/>
          </a:solidFill>
          <a:ln w="12700">
            <a:solidFill>
              <a:srgbClr val="F2EE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9C38EF3-316D-4EE3-898A-253BF815CBAC}"/>
              </a:ext>
            </a:extLst>
          </p:cNvPr>
          <p:cNvSpPr/>
          <p:nvPr/>
        </p:nvSpPr>
        <p:spPr>
          <a:xfrm>
            <a:off x="8496300" y="4905375"/>
            <a:ext cx="2171700" cy="438150"/>
          </a:xfrm>
          <a:prstGeom prst="roundRect">
            <a:avLst/>
          </a:prstGeom>
          <a:solidFill>
            <a:srgbClr val="F2EEE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02CA292-8C3F-4912-8DA0-A37FDAF1F186}"/>
              </a:ext>
            </a:extLst>
          </p:cNvPr>
          <p:cNvSpPr txBox="1"/>
          <p:nvPr/>
        </p:nvSpPr>
        <p:spPr>
          <a:xfrm>
            <a:off x="762000" y="590550"/>
            <a:ext cx="5905500" cy="2286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B9C8BF"/>
                </a:solidFill>
                <a:latin typeface="Microsoft YaHei"/>
                <a:ea typeface="Microsoft YaHei"/>
              </a:rPr>
              <a:t>普陀创新挑战赛  ·  赛道 2 / 产品 BP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E73530-1E8F-44E4-A831-C3F06549114B}"/>
              </a:ext>
            </a:extLst>
          </p:cNvPr>
          <p:cNvSpPr txBox="1"/>
          <p:nvPr/>
        </p:nvSpPr>
        <p:spPr>
          <a:xfrm>
            <a:off x="762000" y="1238250"/>
            <a:ext cx="5905500" cy="1249680"/>
          </a:xfrm>
        </p:spPr>
        <p:txBody>
          <a:bodyPr wrap="square" rtlCol="0" lIns="0" tIns="0" rIns="0" bIns="0" anchor="t"/>
          <a:lstStyle/>
          <a:p>
            <a:r>
              <a:rPr sz="8200" b="1">
                <a:solidFill>
                  <a:srgbClr val="F2EEE7"/>
                </a:solidFill>
                <a:latin typeface="Microsoft YaHei"/>
                <a:ea typeface="Microsoft YaHei"/>
              </a:rPr>
              <a:t>刚好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A85C4B-3FAA-414D-80D1-4D49F9D8C31D}"/>
              </a:ext>
            </a:extLst>
          </p:cNvPr>
          <p:cNvSpPr txBox="1"/>
          <p:nvPr/>
        </p:nvSpPr>
        <p:spPr>
          <a:xfrm>
            <a:off x="762000" y="2714625"/>
            <a:ext cx="6191250" cy="853440"/>
          </a:xfrm>
        </p:spPr>
        <p:txBody>
          <a:bodyPr wrap="square" rtlCol="0" lIns="0" tIns="0" rIns="0" bIns="0" anchor="t"/>
          <a:lstStyle/>
          <a:p>
            <a:r>
              <a:rPr sz="5600" b="1">
                <a:solidFill>
                  <a:srgbClr val="E65B3B"/>
                </a:solidFill>
                <a:latin typeface="Microsoft YaHei"/>
                <a:ea typeface="Microsoft YaHei"/>
              </a:rPr>
              <a:t>净省凑单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BE1817-AFFC-4F49-B84A-049F15AD96B6}"/>
              </a:ext>
            </a:extLst>
          </p:cNvPr>
          <p:cNvSpPr txBox="1"/>
          <p:nvPr/>
        </p:nvSpPr>
        <p:spPr>
          <a:xfrm>
            <a:off x="762000" y="3790950"/>
            <a:ext cx="5715000" cy="36195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2EEE7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8E5757-7BEA-4F8B-AC3B-1C247398F1B9}"/>
              </a:ext>
            </a:extLst>
          </p:cNvPr>
          <p:cNvSpPr txBox="1"/>
          <p:nvPr/>
        </p:nvSpPr>
        <p:spPr>
          <a:xfrm>
            <a:off x="762000" y="1781175"/>
            <a:ext cx="571500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一个购物车入口，把“凑不凑”变成可解释的选择。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72344C-228D-4C7B-9902-0BCB4F14B297}"/>
              </a:ext>
            </a:extLst>
          </p:cNvPr>
          <p:cNvSpPr txBox="1"/>
          <p:nvPr/>
        </p:nvSpPr>
        <p:spPr>
          <a:xfrm>
            <a:off x="762000" y="5048250"/>
            <a:ext cx="4953000" cy="3619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E65B3B"/>
                </a:solidFill>
                <a:latin typeface="Microsoft YaHei"/>
                <a:ea typeface="Microsoft YaHei"/>
              </a:rPr>
              <a:t>结算前 </a:t>
            </a:r>
            <a:r>
              <a:rPr sz="2200" b="1">
                <a:solidFill>
                  <a:srgbClr val="F2EEE7"/>
                </a:solidFill>
                <a:latin typeface="Georgia"/>
                <a:ea typeface="Georgia"/>
              </a:rPr>
              <a:t>3 秒</a:t>
            </a:r>
            <a:r>
              <a:rPr sz="1400" b="1">
                <a:solidFill>
                  <a:srgbClr val="F2EEE7"/>
                </a:solidFill>
                <a:latin typeface="Microsoft YaHei"/>
                <a:ea typeface="Microsoft YaHei"/>
              </a:rPr>
              <a:t> 给出答案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0C04C8D-2CEC-47F2-ABFE-16D805EE3566}"/>
              </a:ext>
            </a:extLst>
          </p:cNvPr>
          <p:cNvSpPr txBox="1"/>
          <p:nvPr/>
        </p:nvSpPr>
        <p:spPr>
          <a:xfrm>
            <a:off x="8382000" y="2047875"/>
            <a:ext cx="2476500" cy="1188720"/>
          </a:xfrm>
        </p:spPr>
        <p:txBody>
          <a:bodyPr wrap="square" rtlCol="0" lIns="0" tIns="0" rIns="0" bIns="0" anchor="t"/>
          <a:lstStyle/>
          <a:p>
            <a:r>
              <a:rPr sz="7800" b="1">
                <a:solidFill>
                  <a:srgbClr val="E65B3B"/>
                </a:solidFill>
                <a:latin typeface="Georgia"/>
                <a:ea typeface="Georgia"/>
              </a:rPr>
              <a:t>¥2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C47410F-4A37-47E3-B84D-F7447AFB400E}"/>
              </a:ext>
            </a:extLst>
          </p:cNvPr>
          <p:cNvSpPr txBox="1"/>
          <p:nvPr/>
        </p:nvSpPr>
        <p:spPr>
          <a:xfrm>
            <a:off x="8524875" y="3333750"/>
            <a:ext cx="2190750" cy="2667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2EEE7"/>
                </a:solidFill>
                <a:latin typeface="Microsoft YaHei"/>
                <a:ea typeface="Microsoft YaHei"/>
              </a:rPr>
              <a:t>每单净省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2D2B623-966F-4663-BAB7-88648035AB73}"/>
              </a:ext>
            </a:extLst>
          </p:cNvPr>
          <p:cNvSpPr txBox="1"/>
          <p:nvPr/>
        </p:nvSpPr>
        <p:spPr>
          <a:xfrm>
            <a:off x="7953375" y="876300"/>
            <a:ext cx="3429000" cy="2667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02723"/>
                </a:solidFill>
                <a:latin typeface="Microsoft YaHei"/>
                <a:ea typeface="Microsoft YaHei"/>
              </a:rPr>
              <a:t>把优惠算清楚，再决定要不要加购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F42D900-9BED-4358-B383-4A4910CA8509}"/>
              </a:ext>
            </a:extLst>
          </p:cNvPr>
          <p:cNvSpPr txBox="1"/>
          <p:nvPr/>
        </p:nvSpPr>
        <p:spPr>
          <a:xfrm>
            <a:off x="8858250" y="5048250"/>
            <a:ext cx="1428750" cy="27432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202723"/>
                </a:solidFill>
                <a:latin typeface="Microsoft YaHei"/>
                <a:ea typeface="Microsoft YaHei"/>
              </a:rPr>
              <a:t>净省 ＝ 增量优惠 − 加购价格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4EA2AFD-18A2-442C-9926-97E3E9A2956C}"/>
              </a:ext>
            </a:extLst>
          </p:cNvPr>
          <p:cNvSpPr txBox="1"/>
          <p:nvPr/>
        </p:nvSpPr>
        <p:spPr>
          <a:xfrm>
            <a:off x="762000" y="6419850"/>
            <a:ext cx="3429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产品商业计划书  /  2026.10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8DB0A16-03D0-412D-AA9C-C17276D4E272}"/>
              </a:ext>
            </a:extLst>
          </p:cNvPr>
          <p:cNvSpPr txBox="1"/>
          <p:nvPr/>
        </p:nvSpPr>
        <p:spPr>
          <a:xfrm>
            <a:off x="11049000" y="64198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202723"/>
                </a:solidFill>
                <a:latin typeface="Microsoft YaHei"/>
                <a:ea typeface="Microsoft YaHei"/>
              </a:rPr>
              <a:t>01 /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903B733-CC71-45D0-914C-C3203855C1A7}"/>
              </a:ext>
            </a:extLst>
          </p:cNvPr>
          <p:cNvSpPr/>
          <p:nvPr/>
        </p:nvSpPr>
        <p:spPr>
          <a:xfrm>
            <a:off x="685800" y="2238375"/>
            <a:ext cx="3333750" cy="2905125"/>
          </a:xfrm>
          <a:prstGeom prst="round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9E775867-1DB3-4523-8DC9-44EE6EC0492D}"/>
              </a:ext>
            </a:extLst>
          </p:cNvPr>
          <p:cNvCxnSpPr/>
          <p:nvPr/>
        </p:nvCxnSpPr>
        <p:spPr>
          <a:xfrm>
            <a:off x="4762500" y="3219450"/>
            <a:ext cx="6477000" cy="9525"/>
          </a:xfrm>
          <a:prstGeom prst="line">
            <a:avLst/>
          </a:prstGeom>
          <a:ln w="12700" cap="flat">
            <a:solidFill>
              <a:srgbClr val="D2C8BB"/>
            </a:solidFill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019850F0-E5FD-4048-895A-80CAC51009A3}"/>
              </a:ext>
            </a:extLst>
          </p:cNvPr>
          <p:cNvCxnSpPr/>
          <p:nvPr/>
        </p:nvCxnSpPr>
        <p:spPr>
          <a:xfrm>
            <a:off x="4762500" y="4324350"/>
            <a:ext cx="6477000" cy="9525"/>
          </a:xfrm>
          <a:prstGeom prst="line">
            <a:avLst/>
          </a:prstGeom>
          <a:ln w="12700" cap="flat">
            <a:solidFill>
              <a:srgbClr val="D2C8BB"/>
            </a:solidFill>
          </a:ln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69BD09C5-66F0-4443-A305-5EDE369367D0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01 / 痛点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4BCDA62-7C83-49EB-B9E9-130ECD5371C7}"/>
              </a:ext>
            </a:extLst>
          </p:cNvPr>
          <p:cNvSpPr txBox="1"/>
          <p:nvPr/>
        </p:nvSpPr>
        <p:spPr>
          <a:xfrm>
            <a:off x="685800" y="838200"/>
            <a:ext cx="1000125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202723"/>
                </a:solidFill>
                <a:latin typeface="Microsoft YaHei"/>
                <a:ea typeface="Microsoft YaHei"/>
              </a:rPr>
              <a:t>凑单不是省钱，是三输。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2BE6EE2-4058-4940-9575-DC43073C8512}"/>
              </a:ext>
            </a:extLst>
          </p:cNvPr>
          <p:cNvSpPr txBox="1"/>
          <p:nvPr/>
        </p:nvSpPr>
        <p:spPr>
          <a:xfrm>
            <a:off x="685800" y="1571625"/>
            <a:ext cx="1000125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6D7A72"/>
                </a:solidFill>
                <a:latin typeface="Microsoft YaHei"/>
                <a:ea typeface="Microsoft YaHei"/>
              </a:rPr>
              <a:t>用户以为在省钱，平台以为在促活，商家却在承担无效加购。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67FEBFD-E2E8-4BC7-858D-653BADF5B242}"/>
              </a:ext>
            </a:extLst>
          </p:cNvPr>
          <p:cNvSpPr txBox="1"/>
          <p:nvPr/>
        </p:nvSpPr>
        <p:spPr>
          <a:xfrm>
            <a:off x="1047750" y="2590800"/>
            <a:ext cx="2571750" cy="1158240"/>
          </a:xfrm>
        </p:spPr>
        <p:txBody>
          <a:bodyPr wrap="square" rtlCol="0" lIns="0" tIns="0" rIns="0" bIns="0" anchor="t"/>
          <a:lstStyle/>
          <a:p>
            <a:r>
              <a:rPr sz="7600" b="1">
                <a:solidFill>
                  <a:srgbClr val="E65B3B"/>
                </a:solidFill>
                <a:latin typeface="Georgia"/>
                <a:ea typeface="Georgia"/>
              </a:rPr>
              <a:t>−10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9C166E3-A7C8-46BF-9693-6940576117EF}"/>
              </a:ext>
            </a:extLst>
          </p:cNvPr>
          <p:cNvSpPr txBox="1"/>
          <p:nvPr/>
        </p:nvSpPr>
        <p:spPr>
          <a:xfrm>
            <a:off x="1047750" y="3886200"/>
            <a:ext cx="25717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元 / 一次典型凑单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1FB0ABB-68B1-47E4-A793-70AFE4501E0A}"/>
              </a:ext>
            </a:extLst>
          </p:cNvPr>
          <p:cNvSpPr txBox="1"/>
          <p:nvPr/>
        </p:nvSpPr>
        <p:spPr>
          <a:xfrm>
            <a:off x="952500" y="4267200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2EEE7"/>
                </a:solidFill>
                <a:latin typeface="Microsoft YaHei"/>
                <a:ea typeface="Microsoft YaHei"/>
              </a:rPr>
              <a:t>为省 5 元，多花 15 元。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C0A6DC6-FA75-4E5F-BF1F-01EFC43390DE}"/>
              </a:ext>
            </a:extLst>
          </p:cNvPr>
          <p:cNvSpPr txBox="1"/>
          <p:nvPr/>
        </p:nvSpPr>
        <p:spPr>
          <a:xfrm>
            <a:off x="952500" y="468630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还买回一份不需要的小菜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D74CFC-2843-4528-90FF-735CB12C2D93}"/>
              </a:ext>
            </a:extLst>
          </p:cNvPr>
          <p:cNvSpPr txBox="1"/>
          <p:nvPr/>
        </p:nvSpPr>
        <p:spPr>
          <a:xfrm>
            <a:off x="4762500" y="2238375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3EFF39-1FF0-444A-A228-4954DF3AB3EA}"/>
              </a:ext>
            </a:extLst>
          </p:cNvPr>
          <p:cNvSpPr txBox="1"/>
          <p:nvPr/>
        </p:nvSpPr>
        <p:spPr>
          <a:xfrm>
            <a:off x="5905500" y="2238375"/>
            <a:ext cx="5334000" cy="51435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202723"/>
                </a:solidFill>
                <a:latin typeface="Microsoft YaHei"/>
                <a:ea typeface="Microsoft YaHei"/>
              </a:rPr>
              <a:t>为省 5 元多花 15 元；买回不需要的东西；比价 5 分钟，最后后悔。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7246D49-64A7-4FB0-9612-E17DA4F16327}"/>
              </a:ext>
            </a:extLst>
          </p:cNvPr>
          <p:cNvSpPr txBox="1"/>
          <p:nvPr/>
        </p:nvSpPr>
        <p:spPr>
          <a:xfrm>
            <a:off x="4762500" y="3381375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170DF24-AC14-493C-B41D-5E546699FC40}"/>
              </a:ext>
            </a:extLst>
          </p:cNvPr>
          <p:cNvSpPr txBox="1"/>
          <p:nvPr/>
        </p:nvSpPr>
        <p:spPr>
          <a:xfrm>
            <a:off x="5905500" y="3381375"/>
            <a:ext cx="5334000" cy="51435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202723"/>
                </a:solidFill>
                <a:latin typeface="Microsoft YaHei"/>
                <a:ea typeface="Microsoft YaHei"/>
              </a:rPr>
              <a:t>差 2 元放弃的订单永久流失；补贴花了没成交；用户觉得被套路。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1BFA936-DA51-4DA4-BB1F-54FFB15C7611}"/>
              </a:ext>
            </a:extLst>
          </p:cNvPr>
          <p:cNvSpPr txBox="1"/>
          <p:nvPr/>
        </p:nvSpPr>
        <p:spPr>
          <a:xfrm>
            <a:off x="4762500" y="4486275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商家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095064B-26FE-4937-BABE-04306D8595BF}"/>
              </a:ext>
            </a:extLst>
          </p:cNvPr>
          <p:cNvSpPr txBox="1"/>
          <p:nvPr/>
        </p:nvSpPr>
        <p:spPr>
          <a:xfrm>
            <a:off x="5905500" y="4486275"/>
            <a:ext cx="5334000" cy="51435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202723"/>
                </a:solidFill>
                <a:latin typeface="Microsoft YaHei"/>
                <a:ea typeface="Microsoft YaHei"/>
              </a:rPr>
              <a:t>无效加购带来退款和差评；备货与出餐节奏被打乱。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C6BA04D-8735-42D6-881D-6742FBC911A5}"/>
              </a:ext>
            </a:extLst>
          </p:cNvPr>
          <p:cNvSpPr txBox="1"/>
          <p:nvPr/>
        </p:nvSpPr>
        <p:spPr>
          <a:xfrm>
            <a:off x="685800" y="5810250"/>
            <a:ext cx="10477500" cy="3238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E65B3B"/>
                </a:solidFill>
                <a:latin typeface="Microsoft YaHei"/>
                <a:ea typeface="Microsoft YaHei"/>
              </a:rPr>
              <a:t>根因：现有凑单工具是商品推荐，不是决策服务。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99BBEAC-B697-473B-A624-D681FCCDB231}"/>
              </a:ext>
            </a:extLst>
          </p:cNvPr>
          <p:cNvSpPr txBox="1"/>
          <p:nvPr/>
        </p:nvSpPr>
        <p:spPr>
          <a:xfrm>
            <a:off x="11049000" y="64198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89978E"/>
                </a:solidFill>
                <a:latin typeface="Microsoft YaHei"/>
                <a:ea typeface="Microsoft YaHei"/>
              </a:rPr>
              <a:t>02 /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3">
            <a:extLst>
              <a:ext uri="{FF2B5EF4-FFF2-40B4-BE49-F238E27FC236}">
                <a16:creationId xmlns:a16="http://schemas.microsoft.com/office/drawing/2014/main" id="{A97CCFFA-4902-4DF8-9981-08551BD6A3CE}"/>
              </a:ext>
            </a:extLst>
          </p:cNvPr>
          <p:cNvCxnSpPr/>
          <p:nvPr/>
        </p:nvCxnSpPr>
        <p:spPr>
          <a:xfrm>
            <a:off x="3048000" y="2266950"/>
            <a:ext cx="9525" cy="28575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B19B7EAC-45AB-41FF-B988-76BBB2789824}"/>
              </a:ext>
            </a:extLst>
          </p:cNvPr>
          <p:cNvCxnSpPr/>
          <p:nvPr/>
        </p:nvCxnSpPr>
        <p:spPr>
          <a:xfrm>
            <a:off x="5791200" y="2266950"/>
            <a:ext cx="9525" cy="28575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5" name="Shape 5">
            <a:extLst>
              <a:ext uri="{FF2B5EF4-FFF2-40B4-BE49-F238E27FC236}">
                <a16:creationId xmlns:a16="http://schemas.microsoft.com/office/drawing/2014/main" id="{E824D7A5-473B-4198-A1BD-73A79F1DA92B}"/>
              </a:ext>
            </a:extLst>
          </p:cNvPr>
          <p:cNvSpPr/>
          <p:nvPr/>
        </p:nvSpPr>
        <p:spPr>
          <a:xfrm>
            <a:off x="8858250" y="1952625"/>
            <a:ext cx="2381250" cy="2952750"/>
          </a:xfrm>
          <a:prstGeom prst="round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766839-EF31-4E5D-8FC9-9F95B8F36141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02 / 机会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DCFCA8-0ED2-47A5-A5B5-D05677F44AEF}"/>
              </a:ext>
            </a:extLst>
          </p:cNvPr>
          <p:cNvSpPr txBox="1"/>
          <p:nvPr/>
        </p:nvSpPr>
        <p:spPr>
          <a:xfrm>
            <a:off x="685800" y="838200"/>
            <a:ext cx="781050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F2EEE7"/>
                </a:solidFill>
                <a:latin typeface="Microsoft YaHei"/>
                <a:ea typeface="Microsoft YaHei"/>
              </a:rPr>
              <a:t>优惠越复杂，决策越值钱。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522F7E8-8750-4AFC-85C2-1DA233A013E8}"/>
              </a:ext>
            </a:extLst>
          </p:cNvPr>
          <p:cNvSpPr txBox="1"/>
          <p:nvPr/>
        </p:nvSpPr>
        <p:spPr>
          <a:xfrm>
            <a:off x="685800" y="1571625"/>
            <a:ext cx="781050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平台不再只拼补贴，用户也不想再多点几家。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228B33-B3EC-41EA-BD0A-89CBF0005E73}"/>
              </a:ext>
            </a:extLst>
          </p:cNvPr>
          <p:cNvSpPr txBox="1"/>
          <p:nvPr/>
        </p:nvSpPr>
        <p:spPr>
          <a:xfrm>
            <a:off x="685800" y="2266950"/>
            <a:ext cx="104775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E65B3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2F8692-FC10-4AB6-AE7F-51F82B8A57D0}"/>
              </a:ext>
            </a:extLst>
          </p:cNvPr>
          <p:cNvSpPr txBox="1"/>
          <p:nvPr/>
        </p:nvSpPr>
        <p:spPr>
          <a:xfrm>
            <a:off x="685800" y="3048000"/>
            <a:ext cx="2190750" cy="28956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2EEE7"/>
                </a:solidFill>
                <a:latin typeface="Microsoft YaHei"/>
                <a:ea typeface="Microsoft YaHei"/>
              </a:rPr>
              <a:t>优惠叠加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820B5E-FFDE-4E9F-9F2A-17CA351B5CD3}"/>
              </a:ext>
            </a:extLst>
          </p:cNvPr>
          <p:cNvSpPr txBox="1"/>
          <p:nvPr/>
        </p:nvSpPr>
        <p:spPr>
          <a:xfrm>
            <a:off x="685800" y="3476625"/>
            <a:ext cx="2095500" cy="8763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满减、券、配送费、会员权益同时出现，用户算不清，干脆放弃。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8047747-2DF5-45DB-B6C4-590771906A65}"/>
              </a:ext>
            </a:extLst>
          </p:cNvPr>
          <p:cNvSpPr txBox="1"/>
          <p:nvPr/>
        </p:nvSpPr>
        <p:spPr>
          <a:xfrm>
            <a:off x="3429000" y="2266950"/>
            <a:ext cx="104775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E65B3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461AC0-0060-4288-8212-FFFFD4543D28}"/>
              </a:ext>
            </a:extLst>
          </p:cNvPr>
          <p:cNvSpPr txBox="1"/>
          <p:nvPr/>
        </p:nvSpPr>
        <p:spPr>
          <a:xfrm>
            <a:off x="3429000" y="3048000"/>
            <a:ext cx="2190750" cy="28956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2EEE7"/>
                </a:solidFill>
                <a:latin typeface="Microsoft YaHei"/>
                <a:ea typeface="Microsoft YaHei"/>
              </a:rPr>
              <a:t>效率竞争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CCDAF2C-2CFF-4C8F-A8CC-DC1B2E6F732E}"/>
              </a:ext>
            </a:extLst>
          </p:cNvPr>
          <p:cNvSpPr txBox="1"/>
          <p:nvPr/>
        </p:nvSpPr>
        <p:spPr>
          <a:xfrm>
            <a:off x="3429000" y="3476625"/>
            <a:ext cx="2095500" cy="8763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平台开始拼转化率、客单价和补贴效率，而不是无限加券。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95B9502-8CEE-48A3-A600-A7BDB68BC454}"/>
              </a:ext>
            </a:extLst>
          </p:cNvPr>
          <p:cNvSpPr txBox="1"/>
          <p:nvPr/>
        </p:nvSpPr>
        <p:spPr>
          <a:xfrm>
            <a:off x="6172200" y="2266950"/>
            <a:ext cx="104775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E65B3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7F1445-F8F0-4BB3-B349-2EE6E4239C62}"/>
              </a:ext>
            </a:extLst>
          </p:cNvPr>
          <p:cNvSpPr txBox="1"/>
          <p:nvPr/>
        </p:nvSpPr>
        <p:spPr>
          <a:xfrm>
            <a:off x="6172200" y="3048000"/>
            <a:ext cx="2190750" cy="289560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F2EEE7"/>
                </a:solidFill>
                <a:latin typeface="Microsoft YaHei"/>
                <a:ea typeface="Microsoft YaHei"/>
              </a:rPr>
              <a:t>信任稀缺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20F38AC-D2AF-4801-8A25-906C76DDDE9D}"/>
              </a:ext>
            </a:extLst>
          </p:cNvPr>
          <p:cNvSpPr txBox="1"/>
          <p:nvPr/>
        </p:nvSpPr>
        <p:spPr>
          <a:xfrm>
            <a:off x="6172200" y="3476625"/>
            <a:ext cx="2095500" cy="8763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用户对“诱导凑单”越来越敏感，透明、理性成为差异化。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C3AB6B-02FF-4507-A652-40B3844C8B2E}"/>
              </a:ext>
            </a:extLst>
          </p:cNvPr>
          <p:cNvSpPr txBox="1"/>
          <p:nvPr/>
        </p:nvSpPr>
        <p:spPr>
          <a:xfrm>
            <a:off x="9334500" y="2476500"/>
            <a:ext cx="1428750" cy="883920"/>
          </a:xfrm>
        </p:spPr>
        <p:txBody>
          <a:bodyPr wrap="square" rtlCol="0" lIns="0" tIns="0" rIns="0" bIns="0" anchor="t"/>
          <a:lstStyle/>
          <a:p>
            <a:r>
              <a:rPr sz="5800" b="1">
                <a:solidFill>
                  <a:srgbClr val="202723"/>
                </a:solidFill>
                <a:latin typeface="Georgia"/>
                <a:ea typeface="Georgia"/>
              </a:rPr>
              <a:t>3秒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402C1BF-E823-427A-8FD8-35DAD2B78849}"/>
              </a:ext>
            </a:extLst>
          </p:cNvPr>
          <p:cNvSpPr txBox="1"/>
          <p:nvPr/>
        </p:nvSpPr>
        <p:spPr>
          <a:xfrm>
            <a:off x="9239250" y="3429000"/>
            <a:ext cx="1619250" cy="2667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购物车结算前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073753A-2D97-4B8E-86D8-43D5473E9136}"/>
              </a:ext>
            </a:extLst>
          </p:cNvPr>
          <p:cNvSpPr txBox="1"/>
          <p:nvPr/>
        </p:nvSpPr>
        <p:spPr>
          <a:xfrm>
            <a:off x="9239250" y="3857625"/>
            <a:ext cx="1619250" cy="4381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202723"/>
                </a:solidFill>
                <a:latin typeface="Microsoft YaHei"/>
                <a:ea typeface="Microsoft YaHei"/>
              </a:rPr>
              <a:t>从“多点几家”</a:t>
            </a:r>
            <a:br/>
            <a:r>
              <a:rPr sz="1300">
                <a:solidFill>
                  <a:srgbClr val="202723"/>
                </a:solidFill>
                <a:latin typeface="Microsoft YaHei"/>
                <a:ea typeface="Microsoft YaHei"/>
              </a:rPr>
              <a:t>变成“帮我决定”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08BA94-3049-4D17-8FAA-025C6E1F9E72}"/>
              </a:ext>
            </a:extLst>
          </p:cNvPr>
          <p:cNvSpPr txBox="1"/>
          <p:nvPr/>
        </p:nvSpPr>
        <p:spPr>
          <a:xfrm>
            <a:off x="685800" y="5810250"/>
            <a:ext cx="8572500" cy="30480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2EEE7"/>
                </a:solidFill>
                <a:latin typeface="Microsoft YaHei"/>
                <a:ea typeface="Microsoft YaHei"/>
              </a:rPr>
              <a:t>切入点：不改定价，只在结算前把“凑不凑”算清楚。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539BD70-2318-4B74-A2D2-8C4A62AC35A2}"/>
              </a:ext>
            </a:extLst>
          </p:cNvPr>
          <p:cNvSpPr txBox="1"/>
          <p:nvPr/>
        </p:nvSpPr>
        <p:spPr>
          <a:xfrm>
            <a:off x="11049000" y="64198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03 / 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F181726-84D2-49DF-8984-29C77217C841}"/>
              </a:ext>
            </a:extLst>
          </p:cNvPr>
          <p:cNvSpPr/>
          <p:nvPr/>
        </p:nvSpPr>
        <p:spPr>
          <a:xfrm>
            <a:off x="7620000" y="1066800"/>
            <a:ext cx="3619500" cy="5029200"/>
          </a:xfrm>
          <a:prstGeom prst="round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5ABC37-BA39-430F-8CDC-4627E62D0B32}"/>
              </a:ext>
            </a:extLst>
          </p:cNvPr>
          <p:cNvSpPr/>
          <p:nvPr/>
        </p:nvSpPr>
        <p:spPr>
          <a:xfrm>
            <a:off x="7886700" y="1333500"/>
            <a:ext cx="3086100" cy="4495800"/>
          </a:xfrm>
          <a:prstGeom prst="roundRect">
            <a:avLst/>
          </a:prstGeom>
          <a:solidFill>
            <a:srgbClr val="FBF8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9A694F6-DAB0-4F7A-8DE7-30922CAD15A0}"/>
              </a:ext>
            </a:extLst>
          </p:cNvPr>
          <p:cNvSpPr/>
          <p:nvPr/>
        </p:nvSpPr>
        <p:spPr>
          <a:xfrm>
            <a:off x="8096250" y="3181350"/>
            <a:ext cx="2667000" cy="2266950"/>
          </a:xfrm>
          <a:prstGeom prst="roundRect">
            <a:avLst/>
          </a:prstGeom>
          <a:solidFill>
            <a:srgbClr val="E9D7CA"/>
          </a:solidFill>
          <a:ln w="12700">
            <a:solidFill>
              <a:srgbClr val="C7A99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511D8AA-3E02-4C42-B8A1-D3780A3D64AF}"/>
              </a:ext>
            </a:extLst>
          </p:cNvPr>
          <p:cNvSpPr/>
          <p:nvPr/>
        </p:nvSpPr>
        <p:spPr>
          <a:xfrm>
            <a:off x="9696450" y="1657350"/>
            <a:ext cx="914400" cy="247650"/>
          </a:xfrm>
          <a:prstGeom prst="round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D11F416C-81B1-4E26-96E3-AC4F6D9AFAE6}"/>
              </a:ext>
            </a:extLst>
          </p:cNvPr>
          <p:cNvCxnSpPr/>
          <p:nvPr/>
        </p:nvCxnSpPr>
        <p:spPr>
          <a:xfrm>
            <a:off x="8115300" y="2857500"/>
            <a:ext cx="2438400" cy="9525"/>
          </a:xfrm>
          <a:prstGeom prst="line">
            <a:avLst/>
          </a:prstGeom>
          <a:ln w="12700" cap="flat">
            <a:solidFill>
              <a:srgbClr val="D2C8BB"/>
            </a:solidFill>
          </a:ln>
        </p:spPr>
      </p:cxn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ACEB3E9F-660B-4274-A79E-E173390BE71E}"/>
              </a:ext>
            </a:extLst>
          </p:cNvPr>
          <p:cNvCxnSpPr/>
          <p:nvPr/>
        </p:nvCxnSpPr>
        <p:spPr>
          <a:xfrm>
            <a:off x="685800" y="3352800"/>
            <a:ext cx="5810250" cy="9525"/>
          </a:xfrm>
          <a:prstGeom prst="line">
            <a:avLst/>
          </a:prstGeom>
          <a:ln w="12700" cap="flat">
            <a:solidFill>
              <a:srgbClr val="D2C8BB"/>
            </a:solidFill>
          </a:ln>
        </p:spPr>
      </p:cxn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74660A4D-E1A6-4774-A1A0-5B71DDDC20AE}"/>
              </a:ext>
            </a:extLst>
          </p:cNvPr>
          <p:cNvCxnSpPr/>
          <p:nvPr/>
        </p:nvCxnSpPr>
        <p:spPr>
          <a:xfrm>
            <a:off x="685800" y="4305300"/>
            <a:ext cx="5810250" cy="9525"/>
          </a:xfrm>
          <a:prstGeom prst="line">
            <a:avLst/>
          </a:prstGeom>
          <a:ln w="12700" cap="flat">
            <a:solidFill>
              <a:srgbClr val="D2C8BB"/>
            </a:solidFill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EC61AB33-82B5-4AB1-89F0-4AF3C849CC12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03 / 产品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B18B451-0203-4342-B044-7C06AF74120C}"/>
              </a:ext>
            </a:extLst>
          </p:cNvPr>
          <p:cNvSpPr txBox="1"/>
          <p:nvPr/>
        </p:nvSpPr>
        <p:spPr>
          <a:xfrm>
            <a:off x="685800" y="838200"/>
            <a:ext cx="666750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202723"/>
                </a:solidFill>
                <a:latin typeface="Microsoft YaHei"/>
                <a:ea typeface="Microsoft YaHei"/>
              </a:rPr>
              <a:t>三个方案，一句净省。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94A3D23-B09D-44E6-8564-D164D9989881}"/>
              </a:ext>
            </a:extLst>
          </p:cNvPr>
          <p:cNvSpPr txBox="1"/>
          <p:nvPr/>
        </p:nvSpPr>
        <p:spPr>
          <a:xfrm>
            <a:off x="685800" y="1571625"/>
            <a:ext cx="657225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6D7A72"/>
                </a:solidFill>
                <a:latin typeface="Microsoft YaHei"/>
                <a:ea typeface="Microsoft YaHei"/>
              </a:rPr>
              <a:t>不改变商家定价，只帮用户算清楚：加什么、省多少、值不值。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1583060-7782-45FB-A9A7-A1795C2BA3C4}"/>
              </a:ext>
            </a:extLst>
          </p:cNvPr>
          <p:cNvSpPr txBox="1"/>
          <p:nvPr/>
        </p:nvSpPr>
        <p:spPr>
          <a:xfrm>
            <a:off x="685800" y="2095500"/>
            <a:ext cx="28575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E65B3B"/>
                </a:solidFill>
                <a:latin typeface="Microsoft YaHei"/>
                <a:ea typeface="Microsoft YaHei"/>
              </a:rPr>
              <a:t>用户最多看到 3 个答案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5F8786-9603-4BFC-8F41-E5F8B760D80B}"/>
              </a:ext>
            </a:extLst>
          </p:cNvPr>
          <p:cNvSpPr txBox="1"/>
          <p:nvPr/>
        </p:nvSpPr>
        <p:spPr>
          <a:xfrm>
            <a:off x="685800" y="2571750"/>
            <a:ext cx="85725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E65B3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7228727-DAC2-40D2-B5D5-2BE21B292A1A}"/>
              </a:ext>
            </a:extLst>
          </p:cNvPr>
          <p:cNvSpPr txBox="1"/>
          <p:nvPr/>
        </p:nvSpPr>
        <p:spPr>
          <a:xfrm>
            <a:off x="1809750" y="2571750"/>
            <a:ext cx="2476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最省钱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EEA32EC-5745-44D5-8C28-19DAD06695C1}"/>
              </a:ext>
            </a:extLst>
          </p:cNvPr>
          <p:cNvSpPr txBox="1"/>
          <p:nvPr/>
        </p:nvSpPr>
        <p:spPr>
          <a:xfrm>
            <a:off x="1809750" y="2895600"/>
            <a:ext cx="4572000" cy="2667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D7A72"/>
                </a:solidFill>
                <a:latin typeface="Microsoft YaHei"/>
                <a:ea typeface="Microsoft YaHei"/>
              </a:rPr>
              <a:t>刚好过门槛，实付最低。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995B2EB-B028-477B-88C6-8E80205C0769}"/>
              </a:ext>
            </a:extLst>
          </p:cNvPr>
          <p:cNvSpPr txBox="1"/>
          <p:nvPr/>
        </p:nvSpPr>
        <p:spPr>
          <a:xfrm>
            <a:off x="685800" y="3571875"/>
            <a:ext cx="85725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E65B3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FA23BF4-83AD-4D63-AD92-A7BD2FE24BD9}"/>
              </a:ext>
            </a:extLst>
          </p:cNvPr>
          <p:cNvSpPr txBox="1"/>
          <p:nvPr/>
        </p:nvSpPr>
        <p:spPr>
          <a:xfrm>
            <a:off x="1809750" y="3571875"/>
            <a:ext cx="2476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最想要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B0D18E7-849D-4633-942F-9631623B1EDE}"/>
              </a:ext>
            </a:extLst>
          </p:cNvPr>
          <p:cNvSpPr txBox="1"/>
          <p:nvPr/>
        </p:nvSpPr>
        <p:spPr>
          <a:xfrm>
            <a:off x="1809750" y="3895725"/>
            <a:ext cx="4572000" cy="2667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D7A72"/>
                </a:solidFill>
                <a:latin typeface="Microsoft YaHei"/>
                <a:ea typeface="Microsoft YaHei"/>
              </a:rPr>
              <a:t>优先常点 / 偏好品类，不硬塞。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05D2910-B443-4109-80FD-BA9C4DFA9EFB}"/>
              </a:ext>
            </a:extLst>
          </p:cNvPr>
          <p:cNvSpPr txBox="1"/>
          <p:nvPr/>
        </p:nvSpPr>
        <p:spPr>
          <a:xfrm>
            <a:off x="685800" y="4524375"/>
            <a:ext cx="85725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E65B3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80FFF3B-2761-4709-8DF0-33D77F99EEB2}"/>
              </a:ext>
            </a:extLst>
          </p:cNvPr>
          <p:cNvSpPr txBox="1"/>
          <p:nvPr/>
        </p:nvSpPr>
        <p:spPr>
          <a:xfrm>
            <a:off x="1809750" y="4524375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A5EF783-12CC-4850-B354-D05C33430290}"/>
              </a:ext>
            </a:extLst>
          </p:cNvPr>
          <p:cNvSpPr txBox="1"/>
          <p:nvPr/>
        </p:nvSpPr>
        <p:spPr>
          <a:xfrm>
            <a:off x="1809750" y="4848225"/>
            <a:ext cx="4572000" cy="2667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D7A72"/>
                </a:solidFill>
                <a:latin typeface="Microsoft YaHei"/>
                <a:ea typeface="Microsoft YaHei"/>
              </a:rPr>
              <a:t>多花的钱大于优惠，直接劝退。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4040DBD-8A99-4D17-89D0-9373681B3F7F}"/>
              </a:ext>
            </a:extLst>
          </p:cNvPr>
          <p:cNvSpPr txBox="1"/>
          <p:nvPr/>
        </p:nvSpPr>
        <p:spPr>
          <a:xfrm>
            <a:off x="685800" y="5762625"/>
            <a:ext cx="6191250" cy="36195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E65B3B"/>
                </a:solidFill>
                <a:latin typeface="Microsoft YaHei"/>
                <a:ea typeface="Microsoft YaHei"/>
              </a:rPr>
              <a:t>净省</a:t>
            </a:r>
            <a:r>
              <a:rPr sz="1400" b="1">
                <a:solidFill>
                  <a:srgbClr val="202723"/>
                </a:solidFill>
                <a:latin typeface="Microsoft YaHei"/>
                <a:ea typeface="Microsoft YaHei"/>
              </a:rPr>
              <a:t> ＝ 增量优惠 − 加购商品价格（含包装费）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FCC4C6D-FBB9-4BD9-8F18-7B61D296B520}"/>
              </a:ext>
            </a:extLst>
          </p:cNvPr>
          <p:cNvSpPr txBox="1"/>
          <p:nvPr/>
        </p:nvSpPr>
        <p:spPr>
          <a:xfrm>
            <a:off x="8096250" y="1600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6D7A72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8FB36AE-06C0-492D-93CA-62BA6AD6101D}"/>
              </a:ext>
            </a:extLst>
          </p:cNvPr>
          <p:cNvSpPr txBox="1"/>
          <p:nvPr/>
        </p:nvSpPr>
        <p:spPr>
          <a:xfrm>
            <a:off x="9810750" y="1714500"/>
            <a:ext cx="666750" cy="171450"/>
          </a:xfrm>
        </p:spPr>
        <p:txBody>
          <a:bodyPr wrap="square" rtlCol="0" lIns="0" tIns="0" rIns="0" bIns="0" anchor="t"/>
          <a:lstStyle/>
          <a:p>
            <a:r>
              <a:rPr sz="1000" b="1">
                <a:solidFill>
                  <a:srgbClr val="F2EEE7"/>
                </a:solidFill>
                <a:latin typeface="Microsoft YaHei"/>
                <a:ea typeface="Microsoft YaHei"/>
              </a:rPr>
              <a:t>差 6 元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0276CE8-CE4B-4875-A66A-BB828DC8AD0D}"/>
              </a:ext>
            </a:extLst>
          </p:cNvPr>
          <p:cNvSpPr txBox="1"/>
          <p:nvPr/>
        </p:nvSpPr>
        <p:spPr>
          <a:xfrm>
            <a:off x="8096250" y="209550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202723"/>
                </a:solidFill>
                <a:latin typeface="Microsoft YaHei"/>
                <a:ea typeface="Microsoft YaHei"/>
              </a:rPr>
              <a:t>招牌牛肉饭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4FE0C97-0DA4-4481-AA91-BBF24ADE83E8}"/>
              </a:ext>
            </a:extLst>
          </p:cNvPr>
          <p:cNvSpPr txBox="1"/>
          <p:nvPr/>
        </p:nvSpPr>
        <p:spPr>
          <a:xfrm>
            <a:off x="10096500" y="2095500"/>
            <a:ext cx="4762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65B3B"/>
                </a:solidFill>
                <a:latin typeface="Georgia"/>
                <a:ea typeface="Georgia"/>
              </a:rPr>
              <a:t>¥24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7868772-2CA2-4180-92F2-DAFE1C960E88}"/>
              </a:ext>
            </a:extLst>
          </p:cNvPr>
          <p:cNvSpPr txBox="1"/>
          <p:nvPr/>
        </p:nvSpPr>
        <p:spPr>
          <a:xfrm>
            <a:off x="8096250" y="247650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202723"/>
                </a:solidFill>
                <a:latin typeface="Microsoft YaHei"/>
                <a:ea typeface="Microsoft YaHei"/>
              </a:rPr>
              <a:t>冰美式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CEEF08B-77DE-4F0B-BD7E-B80597C7512C}"/>
              </a:ext>
            </a:extLst>
          </p:cNvPr>
          <p:cNvSpPr txBox="1"/>
          <p:nvPr/>
        </p:nvSpPr>
        <p:spPr>
          <a:xfrm>
            <a:off x="10096500" y="2476500"/>
            <a:ext cx="4762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65B3B"/>
                </a:solidFill>
                <a:latin typeface="Georgia"/>
                <a:ea typeface="Georgia"/>
              </a:rPr>
              <a:t>¥8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DBD2C19-7963-48B6-AB0C-9C102276736C}"/>
              </a:ext>
            </a:extLst>
          </p:cNvPr>
          <p:cNvSpPr txBox="1"/>
          <p:nvPr/>
        </p:nvSpPr>
        <p:spPr>
          <a:xfrm>
            <a:off x="9429750" y="2952750"/>
            <a:ext cx="1143000" cy="1905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02723"/>
                </a:solidFill>
                <a:latin typeface="Microsoft YaHei"/>
                <a:ea typeface="Microsoft YaHei"/>
              </a:rPr>
              <a:t>合计 ¥32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A6F268A-F1FB-4620-A140-2561F792B638}"/>
              </a:ext>
            </a:extLst>
          </p:cNvPr>
          <p:cNvSpPr txBox="1"/>
          <p:nvPr/>
        </p:nvSpPr>
        <p:spPr>
          <a:xfrm>
            <a:off x="8286750" y="3429000"/>
            <a:ext cx="2286000" cy="2667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再差 6 元，可减 8 元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696B869-0BDB-476F-BE68-FD5A942E4DFD}"/>
              </a:ext>
            </a:extLst>
          </p:cNvPr>
          <p:cNvSpPr txBox="1"/>
          <p:nvPr/>
        </p:nvSpPr>
        <p:spPr>
          <a:xfrm>
            <a:off x="8286750" y="3752850"/>
            <a:ext cx="2286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已找到 3 种凑法，净省 2 元起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EED37AA-F3AA-4762-8AE9-EB21D65DFE6E}"/>
              </a:ext>
            </a:extLst>
          </p:cNvPr>
          <p:cNvSpPr txBox="1"/>
          <p:nvPr/>
        </p:nvSpPr>
        <p:spPr>
          <a:xfrm>
            <a:off x="8286750" y="4210050"/>
            <a:ext cx="2286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02723"/>
                </a:solidFill>
                <a:latin typeface="Microsoft YaHei"/>
                <a:ea typeface="Microsoft YaHei"/>
              </a:rPr>
              <a:t>最省钱  +6 元小菜 · 净省 2 元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B1A27A3-5D29-4A08-97A7-BA057D37698B}"/>
              </a:ext>
            </a:extLst>
          </p:cNvPr>
          <p:cNvSpPr txBox="1"/>
          <p:nvPr/>
        </p:nvSpPr>
        <p:spPr>
          <a:xfrm>
            <a:off x="8286750" y="4591050"/>
            <a:ext cx="2286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202723"/>
                </a:solidFill>
                <a:latin typeface="Microsoft YaHei"/>
                <a:ea typeface="Microsoft YaHei"/>
              </a:rPr>
              <a:t>最想要  +7 元凉菜 · 净省 1 元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3E13B04-DC35-4C02-A6E0-D17411964438}"/>
              </a:ext>
            </a:extLst>
          </p:cNvPr>
          <p:cNvSpPr txBox="1"/>
          <p:nvPr/>
        </p:nvSpPr>
        <p:spPr>
          <a:xfrm>
            <a:off x="8286750" y="5048250"/>
            <a:ext cx="2286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6E8B79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1D9AB1-138B-4B3B-AB5E-62C4AAC6B7CC}"/>
              </a:ext>
            </a:extLst>
          </p:cNvPr>
          <p:cNvSpPr txBox="1"/>
          <p:nvPr/>
        </p:nvSpPr>
        <p:spPr>
          <a:xfrm>
            <a:off x="11049000" y="64198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89978E"/>
                </a:solidFill>
                <a:latin typeface="Microsoft YaHei"/>
                <a:ea typeface="Microsoft YaHei"/>
              </a:rPr>
              <a:t>04 / 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54559CD-6B08-4256-B9BD-521C3FDB97DE}"/>
              </a:ext>
            </a:extLst>
          </p:cNvPr>
          <p:cNvSpPr/>
          <p:nvPr/>
        </p:nvSpPr>
        <p:spPr>
          <a:xfrm>
            <a:off x="8667750" y="1428750"/>
            <a:ext cx="2571750" cy="2476500"/>
          </a:xfrm>
          <a:prstGeom prst="round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8808DAC6-212E-46E5-8814-E8C736503576}"/>
              </a:ext>
            </a:extLst>
          </p:cNvPr>
          <p:cNvCxnSpPr/>
          <p:nvPr/>
        </p:nvCxnSpPr>
        <p:spPr>
          <a:xfrm>
            <a:off x="1047750" y="4476750"/>
            <a:ext cx="9810750" cy="9525"/>
          </a:xfrm>
          <a:prstGeom prst="line">
            <a:avLst/>
          </a:prstGeom>
          <a:ln w="12700" cap="flat">
            <a:solidFill>
              <a:srgbClr val="65756A"/>
            </a:solidFill>
          </a:ln>
        </p:spPr>
      </p:cxnSp>
      <p:sp>
        <p:nvSpPr>
          <p:cNvPr id="5" name="Shape 5">
            <a:extLst>
              <a:ext uri="{FF2B5EF4-FFF2-40B4-BE49-F238E27FC236}">
                <a16:creationId xmlns:a16="http://schemas.microsoft.com/office/drawing/2014/main" id="{F8C784C4-95F8-4968-B6F5-2A66E6237C52}"/>
              </a:ext>
            </a:extLst>
          </p:cNvPr>
          <p:cNvSpPr/>
          <p:nvPr/>
        </p:nvSpPr>
        <p:spPr>
          <a:xfrm>
            <a:off x="1428750" y="4324350"/>
            <a:ext cx="323850" cy="32385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4BB5315-F399-4844-98A1-68A67CA8B257}"/>
              </a:ext>
            </a:extLst>
          </p:cNvPr>
          <p:cNvSpPr/>
          <p:nvPr/>
        </p:nvSpPr>
        <p:spPr>
          <a:xfrm>
            <a:off x="3905250" y="4324350"/>
            <a:ext cx="323850" cy="32385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3BF766B-A3E5-4055-A789-B424B3476B21}"/>
              </a:ext>
            </a:extLst>
          </p:cNvPr>
          <p:cNvSpPr/>
          <p:nvPr/>
        </p:nvSpPr>
        <p:spPr>
          <a:xfrm>
            <a:off x="6381750" y="4324350"/>
            <a:ext cx="323850" cy="32385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34565B6-1E3C-4479-A854-AA95615FDEA5}"/>
              </a:ext>
            </a:extLst>
          </p:cNvPr>
          <p:cNvSpPr/>
          <p:nvPr/>
        </p:nvSpPr>
        <p:spPr>
          <a:xfrm>
            <a:off x="8858250" y="4324350"/>
            <a:ext cx="323850" cy="32385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5851C0C8-FF9A-4287-8AE2-F56296D4717B}"/>
              </a:ext>
            </a:extLst>
          </p:cNvPr>
          <p:cNvCxnSpPr/>
          <p:nvPr/>
        </p:nvCxnSpPr>
        <p:spPr>
          <a:xfrm>
            <a:off x="5715000" y="2209800"/>
            <a:ext cx="9525" cy="9525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68D11FBD-4273-4ED5-A1FC-BDDA1DE7FD00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04 / 技术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546B924-CC0C-4ED8-8E3E-490F1894EAE4}"/>
              </a:ext>
            </a:extLst>
          </p:cNvPr>
          <p:cNvSpPr txBox="1"/>
          <p:nvPr/>
        </p:nvSpPr>
        <p:spPr>
          <a:xfrm>
            <a:off x="685800" y="838200"/>
            <a:ext cx="790575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F2EEE7"/>
                </a:solidFill>
                <a:latin typeface="Microsoft YaHei"/>
                <a:ea typeface="Microsoft YaHei"/>
              </a:rPr>
              <a:t>不是推荐列表，是实时优化器。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1A349B-02A9-4CBE-8FE6-BDEBB1580D9C}"/>
              </a:ext>
            </a:extLst>
          </p:cNvPr>
          <p:cNvSpPr txBox="1"/>
          <p:nvPr/>
        </p:nvSpPr>
        <p:spPr>
          <a:xfrm>
            <a:off x="685800" y="1571625"/>
            <a:ext cx="790575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把“差多少钱、加什么、减多少”当成一个带约束的选品题。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729C66F-009E-4074-A966-6F15C00E4F29}"/>
              </a:ext>
            </a:extLst>
          </p:cNvPr>
          <p:cNvSpPr txBox="1"/>
          <p:nvPr/>
        </p:nvSpPr>
        <p:spPr>
          <a:xfrm>
            <a:off x="685800" y="2190750"/>
            <a:ext cx="2095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8EA096"/>
                </a:solidFill>
                <a:latin typeface="Microsoft YaHei"/>
                <a:ea typeface="Microsoft YaHei"/>
              </a:rPr>
              <a:t>传统推荐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3A491C9-EF16-44B1-9545-DA674543408E}"/>
              </a:ext>
            </a:extLst>
          </p:cNvPr>
          <p:cNvSpPr txBox="1"/>
          <p:nvPr/>
        </p:nvSpPr>
        <p:spPr>
          <a:xfrm>
            <a:off x="685800" y="2514600"/>
            <a:ext cx="4476750" cy="609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给你更多选择：猜你喜欢、热销、相似商品；不保证净省，列表越长越难选。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69D1A7-09D3-4ADD-BFDA-54570A961FE0}"/>
              </a:ext>
            </a:extLst>
          </p:cNvPr>
          <p:cNvSpPr txBox="1"/>
          <p:nvPr/>
        </p:nvSpPr>
        <p:spPr>
          <a:xfrm>
            <a:off x="6096000" y="2190750"/>
            <a:ext cx="21907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E65B3B"/>
                </a:solidFill>
                <a:latin typeface="Microsoft YaHei"/>
                <a:ea typeface="Microsoft YaHei"/>
              </a:rPr>
              <a:t>净省优化器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44EF13E-FAC4-4E21-9F26-E88D5DD3B425}"/>
              </a:ext>
            </a:extLst>
          </p:cNvPr>
          <p:cNvSpPr txBox="1"/>
          <p:nvPr/>
        </p:nvSpPr>
        <p:spPr>
          <a:xfrm>
            <a:off x="6096000" y="2514600"/>
            <a:ext cx="2286000" cy="609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规则约束 + 净省最大；三个方案，一句解释；不划算就劝退。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3FE40F7-CBE0-41EB-9F31-970B7F32CDB6}"/>
              </a:ext>
            </a:extLst>
          </p:cNvPr>
          <p:cNvSpPr txBox="1"/>
          <p:nvPr/>
        </p:nvSpPr>
        <p:spPr>
          <a:xfrm>
            <a:off x="8991600" y="1762125"/>
            <a:ext cx="1905000" cy="1645920"/>
          </a:xfrm>
        </p:spPr>
        <p:txBody>
          <a:bodyPr wrap="square" rtlCol="0" lIns="0" tIns="0" rIns="0" bIns="0" anchor="t"/>
          <a:lstStyle/>
          <a:p>
            <a:r>
              <a:rPr sz="5400" b="1">
                <a:solidFill>
                  <a:srgbClr val="202723"/>
                </a:solidFill>
                <a:latin typeface="Georgia"/>
                <a:ea typeface="Georgia"/>
              </a:rPr>
              <a:t>100ms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FBA6AE-864F-49C2-B7DD-FE009A2BE429}"/>
              </a:ext>
            </a:extLst>
          </p:cNvPr>
          <p:cNvSpPr txBox="1"/>
          <p:nvPr/>
        </p:nvSpPr>
        <p:spPr>
          <a:xfrm>
            <a:off x="8953500" y="3571875"/>
            <a:ext cx="2000250" cy="2667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02723"/>
                </a:solidFill>
                <a:latin typeface="Microsoft YaHei"/>
                <a:ea typeface="Microsoft YaHei"/>
              </a:rPr>
              <a:t>内算完，不阻塞下单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D9E6303-47AC-441E-BA3B-E758F11A5A4A}"/>
              </a:ext>
            </a:extLst>
          </p:cNvPr>
          <p:cNvSpPr txBox="1"/>
          <p:nvPr/>
        </p:nvSpPr>
        <p:spPr>
          <a:xfrm>
            <a:off x="1390650" y="4762500"/>
            <a:ext cx="1524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2EEE7"/>
                </a:solidFill>
                <a:latin typeface="Microsoft YaHei"/>
                <a:ea typeface="Microsoft YaHei"/>
              </a:rPr>
              <a:t>规则引擎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433590C-3315-4004-9C0C-01D47316745E}"/>
              </a:ext>
            </a:extLst>
          </p:cNvPr>
          <p:cNvSpPr txBox="1"/>
          <p:nvPr/>
        </p:nvSpPr>
        <p:spPr>
          <a:xfrm>
            <a:off x="1143000" y="5105400"/>
            <a:ext cx="2095500" cy="3619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满减 · 券 · 库存 · 配送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3669996-0BAC-43A0-A858-015568874E2F}"/>
              </a:ext>
            </a:extLst>
          </p:cNvPr>
          <p:cNvSpPr txBox="1"/>
          <p:nvPr/>
        </p:nvSpPr>
        <p:spPr>
          <a:xfrm>
            <a:off x="3867150" y="4762500"/>
            <a:ext cx="1524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2EEE7"/>
                </a:solidFill>
                <a:latin typeface="Microsoft YaHei"/>
                <a:ea typeface="Microsoft YaHei"/>
              </a:rPr>
              <a:t>候选生成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C9307E0-79F1-4CFD-A798-D39BF3ABDBC4}"/>
              </a:ext>
            </a:extLst>
          </p:cNvPr>
          <p:cNvSpPr txBox="1"/>
          <p:nvPr/>
        </p:nvSpPr>
        <p:spPr>
          <a:xfrm>
            <a:off x="3619500" y="5105400"/>
            <a:ext cx="2095500" cy="3619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去重 · 忌口 · 价格带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CC7A49B-D4A9-4B64-B86B-58DB40E8719D}"/>
              </a:ext>
            </a:extLst>
          </p:cNvPr>
          <p:cNvSpPr txBox="1"/>
          <p:nvPr/>
        </p:nvSpPr>
        <p:spPr>
          <a:xfrm>
            <a:off x="6343650" y="4762500"/>
            <a:ext cx="1524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2EEE7"/>
                </a:solidFill>
                <a:latin typeface="Microsoft YaHei"/>
                <a:ea typeface="Microsoft YaHei"/>
              </a:rPr>
              <a:t>优化器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FF8AD5C-6385-4A90-931B-A275BA6CEAD4}"/>
              </a:ext>
            </a:extLst>
          </p:cNvPr>
          <p:cNvSpPr txBox="1"/>
          <p:nvPr/>
        </p:nvSpPr>
        <p:spPr>
          <a:xfrm>
            <a:off x="6096000" y="5105400"/>
            <a:ext cx="2095500" cy="3619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背包 / 整数规划 / 组合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D8317F-9EFF-4C44-895A-A754E7435458}"/>
              </a:ext>
            </a:extLst>
          </p:cNvPr>
          <p:cNvSpPr txBox="1"/>
          <p:nvPr/>
        </p:nvSpPr>
        <p:spPr>
          <a:xfrm>
            <a:off x="8820150" y="4762500"/>
            <a:ext cx="1524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2EEE7"/>
                </a:solidFill>
                <a:latin typeface="Microsoft YaHei"/>
                <a:ea typeface="Microsoft YaHei"/>
              </a:rPr>
              <a:t>排序与解释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0BF64D8-9BEC-4CAD-B9EE-BC343BF27D34}"/>
              </a:ext>
            </a:extLst>
          </p:cNvPr>
          <p:cNvSpPr txBox="1"/>
          <p:nvPr/>
        </p:nvSpPr>
        <p:spPr>
          <a:xfrm>
            <a:off x="8572500" y="5105400"/>
            <a:ext cx="2095500" cy="3619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偏好 · 净省 · 浪费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108AB44-09CB-4095-A06B-00C301A80BD6}"/>
              </a:ext>
            </a:extLst>
          </p:cNvPr>
          <p:cNvSpPr txBox="1"/>
          <p:nvPr/>
        </p:nvSpPr>
        <p:spPr>
          <a:xfrm>
            <a:off x="685800" y="6000750"/>
            <a:ext cx="8572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E65B3B"/>
                </a:solidFill>
                <a:latin typeface="Microsoft YaHei"/>
                <a:ea typeface="Microsoft YaHei"/>
              </a:rPr>
              <a:t>报价与结算同源 100%  ·  超时降级  ·  算不准就不展示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F7BC6FC-EDCD-4302-8D23-45DFB5EA4381}"/>
              </a:ext>
            </a:extLst>
          </p:cNvPr>
          <p:cNvSpPr txBox="1"/>
          <p:nvPr/>
        </p:nvSpPr>
        <p:spPr>
          <a:xfrm>
            <a:off x="11049000" y="64198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05 /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70F669A-207C-413B-8EC5-C5BCAE6BBAEC}"/>
              </a:ext>
            </a:extLst>
          </p:cNvPr>
          <p:cNvSpPr/>
          <p:nvPr/>
        </p:nvSpPr>
        <p:spPr>
          <a:xfrm>
            <a:off x="1619250" y="2571750"/>
            <a:ext cx="3238500" cy="3238500"/>
          </a:xfrm>
          <a:prstGeom prst="ellipse">
            <a:avLst/>
          </a:prstGeom>
          <a:solidFill>
            <a:srgbClr val="E8F0E9"/>
          </a:solidFill>
          <a:ln w="15240">
            <a:solidFill>
              <a:srgbClr val="6E8B7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82BDA24-5E69-4CA1-BDF9-850359E2CB5E}"/>
              </a:ext>
            </a:extLst>
          </p:cNvPr>
          <p:cNvSpPr/>
          <p:nvPr/>
        </p:nvSpPr>
        <p:spPr>
          <a:xfrm>
            <a:off x="2238375" y="3190875"/>
            <a:ext cx="2000250" cy="2000250"/>
          </a:xfrm>
          <a:prstGeom prst="ellipse">
            <a:avLst/>
          </a:prstGeom>
          <a:solidFill>
            <a:srgbClr val="F2EEE7"/>
          </a:solidFill>
          <a:ln w="12700">
            <a:solidFill>
              <a:srgbClr val="E65B3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5DC09A5-40FC-45C8-8B17-3292936A8F43}"/>
              </a:ext>
            </a:extLst>
          </p:cNvPr>
          <p:cNvSpPr/>
          <p:nvPr/>
        </p:nvSpPr>
        <p:spPr>
          <a:xfrm>
            <a:off x="6858000" y="2238375"/>
            <a:ext cx="4381500" cy="3429000"/>
          </a:xfrm>
          <a:prstGeom prst="round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DD83AD-80F0-494F-A817-E3FC567715B7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05 / 壁垒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A9E7551-773E-4DB9-939A-DE624132E74F}"/>
              </a:ext>
            </a:extLst>
          </p:cNvPr>
          <p:cNvSpPr txBox="1"/>
          <p:nvPr/>
        </p:nvSpPr>
        <p:spPr>
          <a:xfrm>
            <a:off x="685800" y="838200"/>
            <a:ext cx="857250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202723"/>
                </a:solidFill>
                <a:latin typeface="Microsoft YaHei"/>
                <a:ea typeface="Microsoft YaHei"/>
              </a:rPr>
              <a:t>算法不是壁垒，闭环才是。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5E3C8C-814B-406C-9DF4-FFAFFDFA3919}"/>
              </a:ext>
            </a:extLst>
          </p:cNvPr>
          <p:cNvSpPr txBox="1"/>
          <p:nvPr/>
        </p:nvSpPr>
        <p:spPr>
          <a:xfrm>
            <a:off x="685800" y="1571625"/>
            <a:ext cx="1000125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6D7A72"/>
                </a:solidFill>
                <a:latin typeface="Microsoft YaHei"/>
                <a:ea typeface="Microsoft YaHei"/>
              </a:rPr>
              <a:t>规则接得准、数据转得动、用户信得过，三件事缺一不可。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17C5DF-4179-4417-AB8B-8E2CCBEF87FD}"/>
              </a:ext>
            </a:extLst>
          </p:cNvPr>
          <p:cNvSpPr txBox="1"/>
          <p:nvPr/>
        </p:nvSpPr>
        <p:spPr>
          <a:xfrm>
            <a:off x="2428875" y="3905250"/>
            <a:ext cx="1619250" cy="32385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5884A1-D295-45E5-B496-60A8F126ACC4}"/>
              </a:ext>
            </a:extLst>
          </p:cNvPr>
          <p:cNvSpPr txBox="1"/>
          <p:nvPr/>
        </p:nvSpPr>
        <p:spPr>
          <a:xfrm>
            <a:off x="2571750" y="4286250"/>
            <a:ext cx="13335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E8B79"/>
                </a:solidFill>
                <a:latin typeface="Microsoft YaHei"/>
                <a:ea typeface="Microsoft YaHei"/>
              </a:rPr>
              <a:t>越用越准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8C4BD4-B675-438C-8D0F-4205FA46BC36}"/>
              </a:ext>
            </a:extLst>
          </p:cNvPr>
          <p:cNvSpPr txBox="1"/>
          <p:nvPr/>
        </p:nvSpPr>
        <p:spPr>
          <a:xfrm>
            <a:off x="2362200" y="2133600"/>
            <a:ext cx="1714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02723"/>
                </a:solidFill>
                <a:latin typeface="Microsoft YaHei"/>
                <a:ea typeface="Microsoft YaHei"/>
              </a:rPr>
              <a:t>规则接入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7900729-E592-491C-8CBD-40151653FA81}"/>
              </a:ext>
            </a:extLst>
          </p:cNvPr>
          <p:cNvSpPr txBox="1"/>
          <p:nvPr/>
        </p:nvSpPr>
        <p:spPr>
          <a:xfrm>
            <a:off x="4819650" y="3810000"/>
            <a:ext cx="1524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02723"/>
                </a:solidFill>
                <a:latin typeface="Microsoft YaHei"/>
                <a:ea typeface="Microsoft YaHei"/>
              </a:rPr>
              <a:t>方案输出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ACEB3ED-A545-4EE6-ACBB-ADA7E1A9943A}"/>
              </a:ext>
            </a:extLst>
          </p:cNvPr>
          <p:cNvSpPr txBox="1"/>
          <p:nvPr/>
        </p:nvSpPr>
        <p:spPr>
          <a:xfrm>
            <a:off x="2343150" y="5953125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02723"/>
                </a:solidFill>
                <a:latin typeface="Microsoft YaHei"/>
                <a:ea typeface="Microsoft YaHei"/>
              </a:rPr>
              <a:t>用户反馈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6D3BA74-E4A3-435C-8FD0-ED11AA49D4B7}"/>
              </a:ext>
            </a:extLst>
          </p:cNvPr>
          <p:cNvSpPr txBox="1"/>
          <p:nvPr/>
        </p:nvSpPr>
        <p:spPr>
          <a:xfrm>
            <a:off x="571500" y="3810000"/>
            <a:ext cx="14287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02723"/>
                </a:solidFill>
                <a:latin typeface="Microsoft YaHei"/>
                <a:ea typeface="Microsoft YaHei"/>
              </a:rPr>
              <a:t>更好排序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04593E1-E396-4501-B26E-DBBEDBCB02CA}"/>
              </a:ext>
            </a:extLst>
          </p:cNvPr>
          <p:cNvSpPr txBox="1"/>
          <p:nvPr/>
        </p:nvSpPr>
        <p:spPr>
          <a:xfrm>
            <a:off x="2095500" y="2400300"/>
            <a:ext cx="2286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D7A72"/>
                </a:solidFill>
                <a:latin typeface="Microsoft YaHei"/>
                <a:ea typeface="Microsoft YaHei"/>
              </a:rPr>
              <a:t>满减 / 券 / 库存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07A83D-0167-4B9E-975E-C4D68F20C7C4}"/>
              </a:ext>
            </a:extLst>
          </p:cNvPr>
          <p:cNvSpPr txBox="1"/>
          <p:nvPr/>
        </p:nvSpPr>
        <p:spPr>
          <a:xfrm>
            <a:off x="4762500" y="4095750"/>
            <a:ext cx="17145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D7A72"/>
                </a:solidFill>
                <a:latin typeface="Microsoft YaHei"/>
                <a:ea typeface="Microsoft YaHei"/>
              </a:rPr>
              <a:t>三方案 + 净省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CD5FE06-F08A-48ED-BC82-43603BBF3ACE}"/>
              </a:ext>
            </a:extLst>
          </p:cNvPr>
          <p:cNvSpPr txBox="1"/>
          <p:nvPr/>
        </p:nvSpPr>
        <p:spPr>
          <a:xfrm>
            <a:off x="2238375" y="6191250"/>
            <a:ext cx="200025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D7A72"/>
                </a:solidFill>
                <a:latin typeface="Microsoft YaHei"/>
                <a:ea typeface="Microsoft YaHei"/>
              </a:rPr>
              <a:t>接受 / 拒绝 / 退款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76950CB-8BE1-45A5-94E4-B563EBDE478F}"/>
              </a:ext>
            </a:extLst>
          </p:cNvPr>
          <p:cNvSpPr txBox="1"/>
          <p:nvPr/>
        </p:nvSpPr>
        <p:spPr>
          <a:xfrm>
            <a:off x="476250" y="4095750"/>
            <a:ext cx="161925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D7A72"/>
                </a:solidFill>
                <a:latin typeface="Microsoft YaHei"/>
                <a:ea typeface="Microsoft YaHei"/>
              </a:rPr>
              <a:t>偏好 / 浪费 / 转化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6D8E870-BF31-410F-BC1A-671D1F6B8149}"/>
              </a:ext>
            </a:extLst>
          </p:cNvPr>
          <p:cNvSpPr txBox="1"/>
          <p:nvPr/>
        </p:nvSpPr>
        <p:spPr>
          <a:xfrm>
            <a:off x="7239000" y="2571750"/>
            <a:ext cx="11430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01 / 规则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59602BC-B79B-473A-90DE-4FF103FD2040}"/>
              </a:ext>
            </a:extLst>
          </p:cNvPr>
          <p:cNvSpPr txBox="1"/>
          <p:nvPr/>
        </p:nvSpPr>
        <p:spPr>
          <a:xfrm>
            <a:off x="7239000" y="2895600"/>
            <a:ext cx="3429000" cy="4191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每个平台的满减、券、配送费都不同；接得准，才有真实净省。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CD755B5-D4DA-4B8C-BEB1-16F36FCB5DDF}"/>
              </a:ext>
            </a:extLst>
          </p:cNvPr>
          <p:cNvSpPr txBox="1"/>
          <p:nvPr/>
        </p:nvSpPr>
        <p:spPr>
          <a:xfrm>
            <a:off x="7239000" y="3524250"/>
            <a:ext cx="11430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02 / 数据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E274BE9-8F5A-4D80-8F6D-49F1DC128F3F}"/>
              </a:ext>
            </a:extLst>
          </p:cNvPr>
          <p:cNvSpPr txBox="1"/>
          <p:nvPr/>
        </p:nvSpPr>
        <p:spPr>
          <a:xfrm>
            <a:off x="7239000" y="3848100"/>
            <a:ext cx="3429000" cy="4191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曝光 → 接受 → 下单 → 退款 → 复购，越用越准，越不浪费。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495CFA7-5B20-4FE9-82CD-5401F73E202C}"/>
              </a:ext>
            </a:extLst>
          </p:cNvPr>
          <p:cNvSpPr txBox="1"/>
          <p:nvPr/>
        </p:nvSpPr>
        <p:spPr>
          <a:xfrm>
            <a:off x="7239000" y="4476750"/>
            <a:ext cx="13335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03 / 信任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6B1FB52-047E-4D5C-876C-82D93E5D5762}"/>
              </a:ext>
            </a:extLst>
          </p:cNvPr>
          <p:cNvSpPr txBox="1"/>
          <p:nvPr/>
        </p:nvSpPr>
        <p:spPr>
          <a:xfrm>
            <a:off x="7239000" y="4800600"/>
            <a:ext cx="3429000" cy="4191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不划算就劝退，用户愿意再用第二次，产品才有长期价值。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8BE3D65-239E-4477-AEF5-14E64BC92C61}"/>
              </a:ext>
            </a:extLst>
          </p:cNvPr>
          <p:cNvSpPr txBox="1"/>
          <p:nvPr/>
        </p:nvSpPr>
        <p:spPr>
          <a:xfrm>
            <a:off x="685800" y="6515100"/>
            <a:ext cx="952500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89978E"/>
                </a:solidFill>
                <a:latin typeface="Microsoft YaHei"/>
                <a:ea typeface="Microsoft YaHei"/>
              </a:rPr>
              <a:t>今天做外卖凑单，明天可复制到商超、买菜、到店。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2BF6336-2DF8-4808-AC63-DB010A761F4B}"/>
              </a:ext>
            </a:extLst>
          </p:cNvPr>
          <p:cNvSpPr txBox="1"/>
          <p:nvPr/>
        </p:nvSpPr>
        <p:spPr>
          <a:xfrm>
            <a:off x="11049000" y="651510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900">
                <a:solidFill>
                  <a:srgbClr val="89978E"/>
                </a:solidFill>
                <a:latin typeface="Microsoft YaHei"/>
                <a:ea typeface="Microsoft YaHei"/>
              </a:rPr>
              <a:t>06 / 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F02712E-1BD2-4A05-A332-B5A6FBDB5028}"/>
              </a:ext>
            </a:extLst>
          </p:cNvPr>
          <p:cNvSpPr/>
          <p:nvPr/>
        </p:nvSpPr>
        <p:spPr>
          <a:xfrm>
            <a:off x="685800" y="2305050"/>
            <a:ext cx="6000750" cy="3390900"/>
          </a:xfrm>
          <a:prstGeom prst="rect">
            <a:avLst/>
          </a:prstGeom>
          <a:solidFill>
            <a:srgbClr val="29352F"/>
          </a:solidFill>
          <a:ln w="12700">
            <a:solidFill>
              <a:srgbClr val="5364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7D59B40-34E7-4D1E-9386-B26F6E0388B8}"/>
              </a:ext>
            </a:extLst>
          </p:cNvPr>
          <p:cNvSpPr/>
          <p:nvPr/>
        </p:nvSpPr>
        <p:spPr>
          <a:xfrm>
            <a:off x="3686175" y="2305050"/>
            <a:ext cx="3000375" cy="1695450"/>
          </a:xfrm>
          <a:prstGeom prst="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A9E86DF8-2327-4458-9281-B3CDBDD04122}"/>
              </a:ext>
            </a:extLst>
          </p:cNvPr>
          <p:cNvCxnSpPr/>
          <p:nvPr/>
        </p:nvCxnSpPr>
        <p:spPr>
          <a:xfrm>
            <a:off x="3686175" y="2305050"/>
            <a:ext cx="9525" cy="33909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F8808760-F3A1-43F8-8972-ED00095F7A68}"/>
              </a:ext>
            </a:extLst>
          </p:cNvPr>
          <p:cNvCxnSpPr/>
          <p:nvPr/>
        </p:nvCxnSpPr>
        <p:spPr>
          <a:xfrm>
            <a:off x="685800" y="4000500"/>
            <a:ext cx="600075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16B4824F-1762-4EC9-A385-72B461394658}"/>
              </a:ext>
            </a:extLst>
          </p:cNvPr>
          <p:cNvCxnSpPr/>
          <p:nvPr/>
        </p:nvCxnSpPr>
        <p:spPr>
          <a:xfrm>
            <a:off x="7524750" y="4572000"/>
            <a:ext cx="400050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5D892AAE-4CD8-4DA4-85A2-485484999644}"/>
              </a:ext>
            </a:extLst>
          </p:cNvPr>
          <p:cNvCxnSpPr/>
          <p:nvPr/>
        </p:nvCxnSpPr>
        <p:spPr>
          <a:xfrm>
            <a:off x="7524750" y="5238750"/>
            <a:ext cx="400050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696CBE81-7588-4074-87D7-82D8C647C9A0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06 / 竞争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7AA25A-5588-48AE-8937-90AB1397EDF0}"/>
              </a:ext>
            </a:extLst>
          </p:cNvPr>
          <p:cNvSpPr txBox="1"/>
          <p:nvPr/>
        </p:nvSpPr>
        <p:spPr>
          <a:xfrm>
            <a:off x="685800" y="838200"/>
            <a:ext cx="9334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2EEE7"/>
                </a:solidFill>
                <a:latin typeface="Microsoft YaHei"/>
                <a:ea typeface="Microsoft YaHei"/>
              </a:rPr>
              <a:t>现有方案，都不解决「净省」。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2BC3EDE-EC41-48C1-915F-84172FA6AE90}"/>
              </a:ext>
            </a:extLst>
          </p:cNvPr>
          <p:cNvSpPr txBox="1"/>
          <p:nvPr/>
        </p:nvSpPr>
        <p:spPr>
          <a:xfrm>
            <a:off x="685800" y="156210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要么没嵌进结算，要么不保证净省；右上角是空位。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8E2241D-28C7-4B10-AE40-A5A16B0F65B6}"/>
              </a:ext>
            </a:extLst>
          </p:cNvPr>
          <p:cNvSpPr txBox="1"/>
          <p:nvPr/>
        </p:nvSpPr>
        <p:spPr>
          <a:xfrm>
            <a:off x="685800" y="2038350"/>
            <a:ext cx="1714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B9C8BF"/>
                </a:solidFill>
                <a:latin typeface="Microsoft YaHei"/>
                <a:ea typeface="Microsoft YaHei"/>
              </a:rPr>
              <a:t>保证净省 ↑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0E2A63F-63C0-46E6-88EE-714D5A080A23}"/>
              </a:ext>
            </a:extLst>
          </p:cNvPr>
          <p:cNvSpPr txBox="1"/>
          <p:nvPr/>
        </p:nvSpPr>
        <p:spPr>
          <a:xfrm>
            <a:off x="4724400" y="5829300"/>
            <a:ext cx="1809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B9C8BF"/>
                </a:solidFill>
                <a:latin typeface="Microsoft YaHei"/>
                <a:ea typeface="Microsoft YaHei"/>
              </a:rPr>
              <a:t>嵌入结算 →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9C7FB4C-7D25-455D-A408-7A93E834522F}"/>
              </a:ext>
            </a:extLst>
          </p:cNvPr>
          <p:cNvSpPr txBox="1"/>
          <p:nvPr/>
        </p:nvSpPr>
        <p:spPr>
          <a:xfrm>
            <a:off x="952500" y="2628900"/>
            <a:ext cx="23336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2EEE7"/>
                </a:solidFill>
                <a:latin typeface="Microsoft YaHei"/>
                <a:ea typeface="Microsoft YaHei"/>
              </a:rPr>
              <a:t>第三方返利 / 比价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83B60F-2B3E-40EF-969A-F8D494175A47}"/>
              </a:ext>
            </a:extLst>
          </p:cNvPr>
          <p:cNvSpPr txBox="1"/>
          <p:nvPr/>
        </p:nvSpPr>
        <p:spPr>
          <a:xfrm>
            <a:off x="952500" y="2952750"/>
            <a:ext cx="2333625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站外领券，链路长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1331636-C21A-4FBB-AC65-8139AE2ABCF8}"/>
              </a:ext>
            </a:extLst>
          </p:cNvPr>
          <p:cNvSpPr txBox="1"/>
          <p:nvPr/>
        </p:nvSpPr>
        <p:spPr>
          <a:xfrm>
            <a:off x="4000500" y="2628900"/>
            <a:ext cx="238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202723"/>
                </a:solidFill>
                <a:latin typeface="Microsoft YaHei"/>
                <a:ea typeface="Microsoft YaHei"/>
              </a:rPr>
              <a:t>刚好 · 净省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ADCEC1F-7514-4C53-B8B8-4BD8AFE6F67B}"/>
              </a:ext>
            </a:extLst>
          </p:cNvPr>
          <p:cNvSpPr txBox="1"/>
          <p:nvPr/>
        </p:nvSpPr>
        <p:spPr>
          <a:xfrm>
            <a:off x="4000500" y="2971800"/>
            <a:ext cx="238125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202723"/>
                </a:solidFill>
                <a:latin typeface="Microsoft YaHei"/>
                <a:ea typeface="Microsoft YaHei"/>
              </a:rPr>
              <a:t>嵌入 + 净省 + 可解释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FF1A4DF-32D3-49BE-A599-B89C7611F0C6}"/>
              </a:ext>
            </a:extLst>
          </p:cNvPr>
          <p:cNvSpPr txBox="1"/>
          <p:nvPr/>
        </p:nvSpPr>
        <p:spPr>
          <a:xfrm>
            <a:off x="952500" y="4343400"/>
            <a:ext cx="23336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2EEE7"/>
                </a:solidFill>
                <a:latin typeface="Microsoft YaHei"/>
                <a:ea typeface="Microsoft YaHei"/>
              </a:rPr>
              <a:t>AI 点餐助手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31585B4-D1E8-40AE-B4D0-CF51A770328F}"/>
              </a:ext>
            </a:extLst>
          </p:cNvPr>
          <p:cNvSpPr txBox="1"/>
          <p:nvPr/>
        </p:nvSpPr>
        <p:spPr>
          <a:xfrm>
            <a:off x="952500" y="4667250"/>
            <a:ext cx="2333625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对话强，交易内核弱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8FC75B1-BCC4-4876-AA1E-9DBDBD74964A}"/>
              </a:ext>
            </a:extLst>
          </p:cNvPr>
          <p:cNvSpPr txBox="1"/>
          <p:nvPr/>
        </p:nvSpPr>
        <p:spPr>
          <a:xfrm>
            <a:off x="4000500" y="4343400"/>
            <a:ext cx="2381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2EEE7"/>
                </a:solidFill>
                <a:latin typeface="Microsoft YaHei"/>
                <a:ea typeface="Microsoft YaHei"/>
              </a:rPr>
              <a:t>平台凑单 / 商家工具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1528CC6-E10C-4B1E-AA16-072577334741}"/>
              </a:ext>
            </a:extLst>
          </p:cNvPr>
          <p:cNvSpPr txBox="1"/>
          <p:nvPr/>
        </p:nvSpPr>
        <p:spPr>
          <a:xfrm>
            <a:off x="4000500" y="4667250"/>
            <a:ext cx="238125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有入口，不保证净省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14219BE-2DC8-4D4B-AFCD-5C5536D0F070}"/>
              </a:ext>
            </a:extLst>
          </p:cNvPr>
          <p:cNvSpPr txBox="1"/>
          <p:nvPr/>
        </p:nvSpPr>
        <p:spPr>
          <a:xfrm>
            <a:off x="7524750" y="226695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空位 =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2E0C1EF-38BF-4D2A-8DAD-C80B06331114}"/>
              </a:ext>
            </a:extLst>
          </p:cNvPr>
          <p:cNvSpPr txBox="1"/>
          <p:nvPr/>
        </p:nvSpPr>
        <p:spPr>
          <a:xfrm>
            <a:off x="7524750" y="2590800"/>
            <a:ext cx="4000500" cy="13441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2EEE7"/>
                </a:solidFill>
                <a:latin typeface="Microsoft YaHei"/>
                <a:ea typeface="Microsoft YaHei"/>
              </a:rPr>
              <a:t>嵌入结算 ×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E65B3B"/>
                </a:solidFill>
                <a:latin typeface="Microsoft YaHei"/>
                <a:ea typeface="Microsoft YaHei"/>
              </a:rPr>
              <a:t>保证净省 ×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F2EEE7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4A34FB4-1E3B-436E-98A4-21D38A2D5AA8}"/>
              </a:ext>
            </a:extLst>
          </p:cNvPr>
          <p:cNvSpPr txBox="1"/>
          <p:nvPr/>
        </p:nvSpPr>
        <p:spPr>
          <a:xfrm>
            <a:off x="7524750" y="409575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65B3B"/>
                </a:solidFill>
                <a:latin typeface="Microsoft YaHei"/>
                <a:ea typeface="Microsoft YaHei"/>
              </a:rPr>
              <a:t>嵌入结算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C0D8A17-CB8A-48A3-A8DA-62D5C1ED01CF}"/>
              </a:ext>
            </a:extLst>
          </p:cNvPr>
          <p:cNvSpPr txBox="1"/>
          <p:nvPr/>
        </p:nvSpPr>
        <p:spPr>
          <a:xfrm>
            <a:off x="7524750" y="432435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在购物车算，不是站外算。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ACFA9F9-3EDC-44B2-A4C2-8264BB32AE86}"/>
              </a:ext>
            </a:extLst>
          </p:cNvPr>
          <p:cNvSpPr txBox="1"/>
          <p:nvPr/>
        </p:nvSpPr>
        <p:spPr>
          <a:xfrm>
            <a:off x="7524750" y="476250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65B3B"/>
                </a:solidFill>
                <a:latin typeface="Microsoft YaHei"/>
                <a:ea typeface="Microsoft YaHei"/>
              </a:rPr>
              <a:t>保证净省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0F8618C-7BF5-4A3F-A1E0-FEC4AB224AA9}"/>
              </a:ext>
            </a:extLst>
          </p:cNvPr>
          <p:cNvSpPr txBox="1"/>
          <p:nvPr/>
        </p:nvSpPr>
        <p:spPr>
          <a:xfrm>
            <a:off x="7524750" y="499110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净省为负就不推荐。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53E6ED9-C0D5-442C-BCF0-980D6EFE49F0}"/>
              </a:ext>
            </a:extLst>
          </p:cNvPr>
          <p:cNvSpPr txBox="1"/>
          <p:nvPr/>
        </p:nvSpPr>
        <p:spPr>
          <a:xfrm>
            <a:off x="7524750" y="542925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65B3B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F643875-A06F-4CB1-AA4C-7049543FD8E6}"/>
              </a:ext>
            </a:extLst>
          </p:cNvPr>
          <p:cNvSpPr txBox="1"/>
          <p:nvPr/>
        </p:nvSpPr>
        <p:spPr>
          <a:xfrm>
            <a:off x="7524750" y="565785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每一分钱都说得清。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BEAF923-A4E8-4464-958F-78A1A92AF5C6}"/>
              </a:ext>
            </a:extLst>
          </p:cNvPr>
          <p:cNvSpPr txBox="1"/>
          <p:nvPr/>
        </p:nvSpPr>
        <p:spPr>
          <a:xfrm>
            <a:off x="7524750" y="6096000"/>
            <a:ext cx="4000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这不是又一个推荐列表，是交易决策。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0F197BE-3148-426C-96F9-27A5F8FDCFA1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07 / 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8877E8F-D310-48A2-B70E-DEBC60B968CA}"/>
              </a:ext>
            </a:extLst>
          </p:cNvPr>
          <p:cNvSpPr/>
          <p:nvPr/>
        </p:nvSpPr>
        <p:spPr>
          <a:xfrm>
            <a:off x="685800" y="2305050"/>
            <a:ext cx="2381250" cy="2571750"/>
          </a:xfrm>
          <a:prstGeom prst="round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380AAE81-67A5-4ACB-AFED-B0725FF6361B}"/>
              </a:ext>
            </a:extLst>
          </p:cNvPr>
          <p:cNvCxnSpPr/>
          <p:nvPr/>
        </p:nvCxnSpPr>
        <p:spPr>
          <a:xfrm>
            <a:off x="3905250" y="2857500"/>
            <a:ext cx="7334250" cy="9525"/>
          </a:xfrm>
          <a:prstGeom prst="line">
            <a:avLst/>
          </a:prstGeom>
          <a:ln w="12700" cap="flat">
            <a:solidFill>
              <a:srgbClr val="C9BEB0"/>
            </a:solidFill>
          </a:ln>
        </p:spPr>
      </p:cxnSp>
      <p:sp>
        <p:nvSpPr>
          <p:cNvPr id="5" name="Shape 5">
            <a:extLst>
              <a:ext uri="{FF2B5EF4-FFF2-40B4-BE49-F238E27FC236}">
                <a16:creationId xmlns:a16="http://schemas.microsoft.com/office/drawing/2014/main" id="{FF388A06-83F3-4983-B005-1A1B47CBCBC5}"/>
              </a:ext>
            </a:extLst>
          </p:cNvPr>
          <p:cNvSpPr/>
          <p:nvPr/>
        </p:nvSpPr>
        <p:spPr>
          <a:xfrm>
            <a:off x="3962400" y="2781300"/>
            <a:ext cx="152400" cy="15240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DBD831C-D4BE-4A3F-8C00-DB27CF6E615B}"/>
              </a:ext>
            </a:extLst>
          </p:cNvPr>
          <p:cNvSpPr/>
          <p:nvPr/>
        </p:nvSpPr>
        <p:spPr>
          <a:xfrm>
            <a:off x="5581650" y="2781300"/>
            <a:ext cx="152400" cy="15240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EBAC668-878F-4B94-800D-18B8BD36EFFC}"/>
              </a:ext>
            </a:extLst>
          </p:cNvPr>
          <p:cNvSpPr/>
          <p:nvPr/>
        </p:nvSpPr>
        <p:spPr>
          <a:xfrm>
            <a:off x="7200900" y="2781300"/>
            <a:ext cx="152400" cy="15240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156534B-87C5-49E9-AD0C-239A70A6BBFD}"/>
              </a:ext>
            </a:extLst>
          </p:cNvPr>
          <p:cNvSpPr/>
          <p:nvPr/>
        </p:nvSpPr>
        <p:spPr>
          <a:xfrm>
            <a:off x="8820150" y="2781300"/>
            <a:ext cx="152400" cy="152400"/>
          </a:xfrm>
          <a:prstGeom prst="ellipse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0BDCD07-9759-40B4-AEA4-D86E9281A530}"/>
              </a:ext>
            </a:extLst>
          </p:cNvPr>
          <p:cNvSpPr/>
          <p:nvPr/>
        </p:nvSpPr>
        <p:spPr>
          <a:xfrm>
            <a:off x="10439400" y="2781300"/>
            <a:ext cx="152400" cy="152400"/>
          </a:xfrm>
          <a:prstGeom prst="ellipse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CC4536C-99BC-43CC-8FBB-143445FED17D}"/>
              </a:ext>
            </a:extLst>
          </p:cNvPr>
          <p:cNvSpPr/>
          <p:nvPr/>
        </p:nvSpPr>
        <p:spPr>
          <a:xfrm>
            <a:off x="685800" y="5391150"/>
            <a:ext cx="10820400" cy="666750"/>
          </a:xfrm>
          <a:prstGeom prst="roundRect">
            <a:avLst/>
          </a:prstGeom>
          <a:solidFill>
            <a:srgbClr val="E8E1D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34F671-3182-4638-924A-0F4831EB9DD6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07 / 落地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9890BE8-A6B2-4AEA-91C7-6519A34DE3A0}"/>
              </a:ext>
            </a:extLst>
          </p:cNvPr>
          <p:cNvSpPr txBox="1"/>
          <p:nvPr/>
        </p:nvSpPr>
        <p:spPr>
          <a:xfrm>
            <a:off x="685800" y="838200"/>
            <a:ext cx="9144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202723"/>
                </a:solidFill>
                <a:latin typeface="Microsoft YaHei"/>
                <a:ea typeface="Microsoft YaHei"/>
              </a:rPr>
              <a:t>12 周，跑通一个城市。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D70C8D3-B1BE-414A-AED1-27EDF6F42066}"/>
              </a:ext>
            </a:extLst>
          </p:cNvPr>
          <p:cNvSpPr txBox="1"/>
          <p:nvPr/>
        </p:nvSpPr>
        <p:spPr>
          <a:xfrm>
            <a:off x="685800" y="1562100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D7A72"/>
                </a:solidFill>
                <a:latin typeface="Microsoft YaHei"/>
                <a:ea typeface="Microsoft YaHei"/>
              </a:rPr>
              <a:t>一个城市、一个品类、一个购物车入口；先证明净省、增量和体验。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9B883AF-0773-4DD4-8FB2-132841774FC0}"/>
              </a:ext>
            </a:extLst>
          </p:cNvPr>
          <p:cNvSpPr txBox="1"/>
          <p:nvPr/>
        </p:nvSpPr>
        <p:spPr>
          <a:xfrm>
            <a:off x="971550" y="2571750"/>
            <a:ext cx="2000250" cy="1249680"/>
          </a:xfrm>
        </p:spPr>
        <p:txBody>
          <a:bodyPr wrap="square" rtlCol="0" lIns="0" tIns="0" rIns="0" bIns="0" anchor="t"/>
          <a:lstStyle/>
          <a:p>
            <a:pPr algn="l"/>
            <a:r>
              <a:rPr sz="8200" b="1">
                <a:solidFill>
                  <a:srgbClr val="E65B3B"/>
                </a:solidFill>
                <a:latin typeface="Microsoft YaHei"/>
                <a:ea typeface="Microsoft YaHei"/>
              </a:rPr>
              <a:t>12</a:t>
            </a:r>
            <a:r>
              <a:rPr sz="2600" b="1">
                <a:solidFill>
                  <a:srgbClr val="F2EEE7"/>
                </a:solidFill>
                <a:latin typeface="Microsoft YaHei"/>
                <a:ea typeface="Microsoft YaHei"/>
              </a:rPr>
              <a:t> 周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2FC6C73-2001-4634-9FED-F97A45AB77D4}"/>
              </a:ext>
            </a:extLst>
          </p:cNvPr>
          <p:cNvSpPr txBox="1"/>
          <p:nvPr/>
        </p:nvSpPr>
        <p:spPr>
          <a:xfrm>
            <a:off x="990600" y="3905250"/>
            <a:ext cx="1809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跑通一个城市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43816AB-3B14-47ED-87BE-4A53DFB678DB}"/>
              </a:ext>
            </a:extLst>
          </p:cNvPr>
          <p:cNvSpPr txBox="1"/>
          <p:nvPr/>
        </p:nvSpPr>
        <p:spPr>
          <a:xfrm>
            <a:off x="990600" y="4267200"/>
            <a:ext cx="1809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B9C8BF"/>
                </a:solidFill>
                <a:latin typeface="Microsoft YaHei"/>
                <a:ea typeface="Microsoft YaHei"/>
              </a:rPr>
              <a:t>1 城市 · 1 品类 · 1 入口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578C33D-3406-4769-BC6B-254078D7D4E3}"/>
              </a:ext>
            </a:extLst>
          </p:cNvPr>
          <p:cNvSpPr txBox="1"/>
          <p:nvPr/>
        </p:nvSpPr>
        <p:spPr>
          <a:xfrm>
            <a:off x="3333750" y="24384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W1-3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8E4011A-8316-4D97-AC9E-184FC01CF26C}"/>
              </a:ext>
            </a:extLst>
          </p:cNvPr>
          <p:cNvSpPr txBox="1"/>
          <p:nvPr/>
        </p:nvSpPr>
        <p:spPr>
          <a:xfrm>
            <a:off x="3333750" y="3086100"/>
            <a:ext cx="1428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数据 / 规则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C57EAD9-B394-4D86-BF3C-18B3B19E89AA}"/>
              </a:ext>
            </a:extLst>
          </p:cNvPr>
          <p:cNvSpPr txBox="1"/>
          <p:nvPr/>
        </p:nvSpPr>
        <p:spPr>
          <a:xfrm>
            <a:off x="3333750" y="3381375"/>
            <a:ext cx="14287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接菜单、优惠、库存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计价 + 建模拟器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5FC6347-8CCE-4118-8F2F-46D5B3A7E8C2}"/>
              </a:ext>
            </a:extLst>
          </p:cNvPr>
          <p:cNvSpPr txBox="1"/>
          <p:nvPr/>
        </p:nvSpPr>
        <p:spPr>
          <a:xfrm>
            <a:off x="3333750" y="40005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E8B79"/>
                </a:solidFill>
                <a:latin typeface="Microsoft YaHei"/>
                <a:ea typeface="Microsoft YaHei"/>
              </a:rPr>
              <a:t>报价一致率 100%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469CEED-2B40-4AB7-A9A9-E75466074804}"/>
              </a:ext>
            </a:extLst>
          </p:cNvPr>
          <p:cNvSpPr txBox="1"/>
          <p:nvPr/>
        </p:nvSpPr>
        <p:spPr>
          <a:xfrm>
            <a:off x="4953000" y="24384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W4-6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176B70C-AAC1-4453-BEB7-3EB931D6F258}"/>
              </a:ext>
            </a:extLst>
          </p:cNvPr>
          <p:cNvSpPr txBox="1"/>
          <p:nvPr/>
        </p:nvSpPr>
        <p:spPr>
          <a:xfrm>
            <a:off x="4953000" y="3086100"/>
            <a:ext cx="1428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算法 MVP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9A1BF5E-ACD4-4C95-82A3-2591E1296774}"/>
              </a:ext>
            </a:extLst>
          </p:cNvPr>
          <p:cNvSpPr txBox="1"/>
          <p:nvPr/>
        </p:nvSpPr>
        <p:spPr>
          <a:xfrm>
            <a:off x="4953000" y="3381375"/>
            <a:ext cx="14287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候选 + 优化器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+ 排序 + 兜底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05AA160-9572-4AF7-866D-65858C6D69AE}"/>
              </a:ext>
            </a:extLst>
          </p:cNvPr>
          <p:cNvSpPr txBox="1"/>
          <p:nvPr/>
        </p:nvSpPr>
        <p:spPr>
          <a:xfrm>
            <a:off x="4953000" y="40005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E8B79"/>
                </a:solidFill>
                <a:latin typeface="Microsoft YaHei"/>
                <a:ea typeface="Microsoft YaHei"/>
              </a:rPr>
              <a:t>覆盖 70% / 100ms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59C0B2B-DA64-4F6C-B15D-3ED7643AC9DA}"/>
              </a:ext>
            </a:extLst>
          </p:cNvPr>
          <p:cNvSpPr txBox="1"/>
          <p:nvPr/>
        </p:nvSpPr>
        <p:spPr>
          <a:xfrm>
            <a:off x="6572250" y="24384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W7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97EEAB3-0095-496C-B7A7-48B4836CFA58}"/>
              </a:ext>
            </a:extLst>
          </p:cNvPr>
          <p:cNvSpPr txBox="1"/>
          <p:nvPr/>
        </p:nvSpPr>
        <p:spPr>
          <a:xfrm>
            <a:off x="6572250" y="3086100"/>
            <a:ext cx="1428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影子模式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9D5D75D-D7EA-4BB9-BC78-C6D35246CC95}"/>
              </a:ext>
            </a:extLst>
          </p:cNvPr>
          <p:cNvSpPr txBox="1"/>
          <p:nvPr/>
        </p:nvSpPr>
        <p:spPr>
          <a:xfrm>
            <a:off x="6572250" y="3381375"/>
            <a:ext cx="14287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只记录不展示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对比结算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605AB38-5F91-4525-BDEE-9076C9E88B83}"/>
              </a:ext>
            </a:extLst>
          </p:cNvPr>
          <p:cNvSpPr txBox="1"/>
          <p:nvPr/>
        </p:nvSpPr>
        <p:spPr>
          <a:xfrm>
            <a:off x="6572250" y="40005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E8B79"/>
                </a:solidFill>
                <a:latin typeface="Microsoft YaHei"/>
                <a:ea typeface="Microsoft YaHei"/>
              </a:rPr>
              <a:t>无资损 · 无阻塞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42CB958-BD88-4EC5-A0E9-6535B83C4D15}"/>
              </a:ext>
            </a:extLst>
          </p:cNvPr>
          <p:cNvSpPr txBox="1"/>
          <p:nvPr/>
        </p:nvSpPr>
        <p:spPr>
          <a:xfrm>
            <a:off x="8191500" y="24384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W8-11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4C6B22D-4F2C-49BA-9831-4C44D54E3610}"/>
              </a:ext>
            </a:extLst>
          </p:cNvPr>
          <p:cNvSpPr txBox="1"/>
          <p:nvPr/>
        </p:nvSpPr>
        <p:spPr>
          <a:xfrm>
            <a:off x="8191500" y="3086100"/>
            <a:ext cx="1428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A/B 试点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365A2F7-F598-40BC-9A4B-534ED7742817}"/>
              </a:ext>
            </a:extLst>
          </p:cNvPr>
          <p:cNvSpPr txBox="1"/>
          <p:nvPr/>
        </p:nvSpPr>
        <p:spPr>
          <a:xfrm>
            <a:off x="8191500" y="3381375"/>
            <a:ext cx="14287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单城市 + 快餐/奶茶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+ 午高峰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6439BE4-E087-47DC-B265-3342B7899F1A}"/>
              </a:ext>
            </a:extLst>
          </p:cNvPr>
          <p:cNvSpPr txBox="1"/>
          <p:nvPr/>
        </p:nvSpPr>
        <p:spPr>
          <a:xfrm>
            <a:off x="8191500" y="40005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E8B79"/>
                </a:solidFill>
                <a:latin typeface="Microsoft YaHei"/>
                <a:ea typeface="Microsoft YaHei"/>
              </a:rPr>
              <a:t>转化 +1-2 个百分点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246968A-6CFB-4C9E-BDE1-05B72F9901F9}"/>
              </a:ext>
            </a:extLst>
          </p:cNvPr>
          <p:cNvSpPr txBox="1"/>
          <p:nvPr/>
        </p:nvSpPr>
        <p:spPr>
          <a:xfrm>
            <a:off x="9810750" y="24384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W12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64157B5-78E7-41B1-A5DB-2051A97F9AE1}"/>
              </a:ext>
            </a:extLst>
          </p:cNvPr>
          <p:cNvSpPr txBox="1"/>
          <p:nvPr/>
        </p:nvSpPr>
        <p:spPr>
          <a:xfrm>
            <a:off x="9810750" y="3086100"/>
            <a:ext cx="1428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9EE2E6B-9800-4752-B7A7-79B9B9F9F19E}"/>
              </a:ext>
            </a:extLst>
          </p:cNvPr>
          <p:cNvSpPr txBox="1"/>
          <p:nvPr/>
        </p:nvSpPr>
        <p:spPr>
          <a:xfrm>
            <a:off x="9810750" y="3381375"/>
            <a:ext cx="14287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实验报告、商业测算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推广方案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5997F13-7CDA-4578-B08F-BCF10A61DFC1}"/>
              </a:ext>
            </a:extLst>
          </p:cNvPr>
          <p:cNvSpPr txBox="1"/>
          <p:nvPr/>
        </p:nvSpPr>
        <p:spPr>
          <a:xfrm>
            <a:off x="9810750" y="4000500"/>
            <a:ext cx="142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E8B79"/>
                </a:solidFill>
                <a:latin typeface="Microsoft YaHei"/>
                <a:ea typeface="Microsoft YaHei"/>
              </a:rPr>
              <a:t>决定是否规模化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CB9A262-C907-46B1-975A-B169CB147001}"/>
              </a:ext>
            </a:extLst>
          </p:cNvPr>
          <p:cNvSpPr txBox="1"/>
          <p:nvPr/>
        </p:nvSpPr>
        <p:spPr>
          <a:xfrm>
            <a:off x="952500" y="5543550"/>
            <a:ext cx="1428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E65B3B"/>
                </a:solidFill>
                <a:latin typeface="Microsoft YaHei"/>
                <a:ea typeface="Microsoft YaHei"/>
              </a:rPr>
              <a:t>灰度节奏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E5E65D4A-CD6C-4566-BB42-9BBEB0B86A4C}"/>
              </a:ext>
            </a:extLst>
          </p:cNvPr>
          <p:cNvSpPr txBox="1"/>
          <p:nvPr/>
        </p:nvSpPr>
        <p:spPr>
          <a:xfrm>
            <a:off x="952500" y="5762625"/>
            <a:ext cx="4191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202723"/>
                </a:solidFill>
                <a:latin typeface="Microsoft YaHei"/>
                <a:ea typeface="Microsoft YaHei"/>
              </a:rPr>
              <a:t>5%  →  20%  →  50%  →  全量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9522BB51-0328-4574-9FB2-1DCAF6DB7B86}"/>
              </a:ext>
            </a:extLst>
          </p:cNvPr>
          <p:cNvSpPr txBox="1"/>
          <p:nvPr/>
        </p:nvSpPr>
        <p:spPr>
          <a:xfrm>
            <a:off x="6477000" y="5543550"/>
            <a:ext cx="44767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关键依赖：数据权限 + 计价接口</a:t>
            </a:r>
            <a:br/>
            <a:r>
              <a:rPr sz="1100">
                <a:solidFill>
                  <a:srgbClr val="6D7A72"/>
                </a:solidFill>
                <a:latin typeface="Microsoft YaHei"/>
                <a:ea typeface="Microsoft YaHei"/>
              </a:rPr>
              <a:t>必须在 W1-W2 到位。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D482FE5-2AB6-493B-9706-AD8A403BAEDE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9A8F80"/>
                </a:solidFill>
                <a:latin typeface="Microsoft YaHei"/>
                <a:ea typeface="Microsoft YaHei"/>
              </a:rPr>
              <a:t>08 / 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D9DED89-C358-470C-8098-0CAC03B06432}"/>
              </a:ext>
            </a:extLst>
          </p:cNvPr>
          <p:cNvSpPr/>
          <p:nvPr/>
        </p:nvSpPr>
        <p:spPr>
          <a:xfrm>
            <a:off x="685800" y="2266950"/>
            <a:ext cx="3429000" cy="2095500"/>
          </a:xfrm>
          <a:prstGeom prst="roundRect">
            <a:avLst/>
          </a:prstGeom>
          <a:solidFill>
            <a:srgbClr val="E65B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BD70A5F9-A7F4-44FF-8E02-3FF382134655}"/>
              </a:ext>
            </a:extLst>
          </p:cNvPr>
          <p:cNvCxnSpPr/>
          <p:nvPr/>
        </p:nvCxnSpPr>
        <p:spPr>
          <a:xfrm>
            <a:off x="3905250" y="4552950"/>
            <a:ext cx="9525" cy="12192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72D3F5CA-84E7-49E2-9B3C-C419111FD677}"/>
              </a:ext>
            </a:extLst>
          </p:cNvPr>
          <p:cNvCxnSpPr/>
          <p:nvPr/>
        </p:nvCxnSpPr>
        <p:spPr>
          <a:xfrm>
            <a:off x="7572375" y="4552950"/>
            <a:ext cx="9525" cy="12192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7197F28E-2254-4E6C-9D74-EC1FA0E2D890}"/>
              </a:ext>
            </a:extLst>
          </p:cNvPr>
          <p:cNvSpPr/>
          <p:nvPr/>
        </p:nvSpPr>
        <p:spPr>
          <a:xfrm>
            <a:off x="685800" y="6019800"/>
            <a:ext cx="10820400" cy="323850"/>
          </a:xfrm>
          <a:prstGeom prst="roundRect">
            <a:avLst/>
          </a:prstGeom>
          <a:solidFill>
            <a:srgbClr val="2935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B83A7C-4413-4498-B89F-C7858618D4B1}"/>
              </a:ext>
            </a:extLst>
          </p:cNvPr>
          <p:cNvSpPr txBox="1"/>
          <p:nvPr/>
        </p:nvSpPr>
        <p:spPr>
          <a:xfrm>
            <a:off x="685800" y="4953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08 / 价值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0B86A1-153D-434E-A9D5-09F5DBD25B58}"/>
              </a:ext>
            </a:extLst>
          </p:cNvPr>
          <p:cNvSpPr txBox="1"/>
          <p:nvPr/>
        </p:nvSpPr>
        <p:spPr>
          <a:xfrm>
            <a:off x="685800" y="838200"/>
            <a:ext cx="9525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2EEE7"/>
                </a:solidFill>
                <a:latin typeface="Microsoft YaHei"/>
                <a:ea typeface="Microsoft YaHei"/>
              </a:rPr>
              <a:t>平台投入 1 元，拿回 3.8 元。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8FEFC82-F738-4731-93E2-88DEEE1B80D5}"/>
              </a:ext>
            </a:extLst>
          </p:cNvPr>
          <p:cNvSpPr txBox="1"/>
          <p:nvPr/>
        </p:nvSpPr>
        <p:spPr>
          <a:xfrm>
            <a:off x="685800" y="156210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示例测算：日均 100 万单的平台，只算增量贡献毛利，不算留存和品牌。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6889776-7E52-450B-A992-C02819D0218C}"/>
              </a:ext>
            </a:extLst>
          </p:cNvPr>
          <p:cNvSpPr txBox="1"/>
          <p:nvPr/>
        </p:nvSpPr>
        <p:spPr>
          <a:xfrm>
            <a:off x="952500" y="2457450"/>
            <a:ext cx="2571750" cy="1188720"/>
          </a:xfrm>
        </p:spPr>
        <p:txBody>
          <a:bodyPr wrap="square" rtlCol="0" lIns="0" tIns="0" rIns="0" bIns="0" anchor="t"/>
          <a:lstStyle/>
          <a:p>
            <a:pPr algn="l"/>
            <a:r>
              <a:rPr sz="7800" b="1">
                <a:solidFill>
                  <a:srgbClr val="202723"/>
                </a:solidFill>
                <a:latin typeface="Microsoft YaHei"/>
                <a:ea typeface="Microsoft YaHei"/>
              </a:rPr>
              <a:t>3.8×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E236F14-702C-4141-B26A-4E0A791456F5}"/>
              </a:ext>
            </a:extLst>
          </p:cNvPr>
          <p:cNvSpPr txBox="1"/>
          <p:nvPr/>
        </p:nvSpPr>
        <p:spPr>
          <a:xfrm>
            <a:off x="952500" y="3857625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202723"/>
                </a:solidFill>
                <a:latin typeface="Microsoft YaHei"/>
                <a:ea typeface="Microsoft YaHei"/>
              </a:rPr>
              <a:t>平台 ROI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E361404-7015-4990-921E-BF8F5F42C1C3}"/>
              </a:ext>
            </a:extLst>
          </p:cNvPr>
          <p:cNvSpPr txBox="1"/>
          <p:nvPr/>
        </p:nvSpPr>
        <p:spPr>
          <a:xfrm>
            <a:off x="952500" y="4143375"/>
            <a:ext cx="2476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202723"/>
                </a:solidFill>
                <a:latin typeface="Microsoft YaHei"/>
                <a:ea typeface="Microsoft YaHei"/>
              </a:rPr>
              <a:t>增量毛利 / 服务费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1978AC4-3ED8-4CA2-AC82-6880B3D1AD81}"/>
              </a:ext>
            </a:extLst>
          </p:cNvPr>
          <p:cNvSpPr txBox="1"/>
          <p:nvPr/>
        </p:nvSpPr>
        <p:spPr>
          <a:xfrm>
            <a:off x="4762500" y="2324100"/>
            <a:ext cx="61912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EEE7"/>
                </a:solidFill>
                <a:latin typeface="Microsoft YaHei"/>
                <a:ea typeface="Microsoft YaHei"/>
              </a:rPr>
              <a:t>价值不是“多卖一点”，而是把本来会放弃的订单救回来。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34E5BD-D73A-4644-8901-26390076F2B8}"/>
              </a:ext>
            </a:extLst>
          </p:cNvPr>
          <p:cNvSpPr txBox="1"/>
          <p:nvPr/>
        </p:nvSpPr>
        <p:spPr>
          <a:xfrm>
            <a:off x="4762500" y="2743200"/>
            <a:ext cx="619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用真实计价口径测算，先把可验证的增量算出来。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9DFD30F-7C05-45D2-BF35-BAC16319E295}"/>
              </a:ext>
            </a:extLst>
          </p:cNvPr>
          <p:cNvSpPr txBox="1"/>
          <p:nvPr/>
        </p:nvSpPr>
        <p:spPr>
          <a:xfrm>
            <a:off x="4762500" y="3200400"/>
            <a:ext cx="619125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日均订单 100 万单；差一点订单 15%；覆盖率 70%；接受率 20%；</a:t>
            </a:r>
            <a:br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接受方案中原本会放弃 20%；单均贡献毛利 2.5 元；服务费 100 万元/年。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6892DF1-38A3-435C-A967-2FF41C7C112D}"/>
              </a:ext>
            </a:extLst>
          </p:cNvPr>
          <p:cNvSpPr txBox="1"/>
          <p:nvPr/>
        </p:nvSpPr>
        <p:spPr>
          <a:xfrm>
            <a:off x="685800" y="4591050"/>
            <a:ext cx="26670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2EEE7"/>
                </a:solidFill>
                <a:latin typeface="Microsoft YaHei"/>
                <a:ea typeface="Microsoft YaHei"/>
              </a:rPr>
              <a:t>4,200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D1CEBAE-CC1E-4051-94E0-F7A6D4F499BD}"/>
              </a:ext>
            </a:extLst>
          </p:cNvPr>
          <p:cNvSpPr txBox="1"/>
          <p:nvPr/>
        </p:nvSpPr>
        <p:spPr>
          <a:xfrm>
            <a:off x="685800" y="5295900"/>
            <a:ext cx="2667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2EEE7"/>
                </a:solidFill>
                <a:latin typeface="Microsoft YaHei"/>
                <a:ea typeface="Microsoft YaHei"/>
              </a:rPr>
              <a:t>增量订单 / 日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901026-B61A-4DA5-A46C-0469B3AAB2C3}"/>
              </a:ext>
            </a:extLst>
          </p:cNvPr>
          <p:cNvSpPr txBox="1"/>
          <p:nvPr/>
        </p:nvSpPr>
        <p:spPr>
          <a:xfrm>
            <a:off x="685800" y="5562600"/>
            <a:ext cx="2667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F9489"/>
                </a:solidFill>
                <a:latin typeface="Microsoft YaHei"/>
                <a:ea typeface="Microsoft YaHei"/>
              </a:rPr>
              <a:t>示例：日均 100 万单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A048E7A-F0C7-492A-A3D2-DD4513D49103}"/>
              </a:ext>
            </a:extLst>
          </p:cNvPr>
          <p:cNvSpPr txBox="1"/>
          <p:nvPr/>
        </p:nvSpPr>
        <p:spPr>
          <a:xfrm>
            <a:off x="4333875" y="4591050"/>
            <a:ext cx="28575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2EEE7"/>
                </a:solidFill>
                <a:latin typeface="Microsoft YaHei"/>
                <a:ea typeface="Microsoft YaHei"/>
              </a:rPr>
              <a:t>383 万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307C910-F17E-4280-8FE3-671E709585E4}"/>
              </a:ext>
            </a:extLst>
          </p:cNvPr>
          <p:cNvSpPr txBox="1"/>
          <p:nvPr/>
        </p:nvSpPr>
        <p:spPr>
          <a:xfrm>
            <a:off x="4333875" y="529590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2EEE7"/>
                </a:solidFill>
                <a:latin typeface="Microsoft YaHei"/>
                <a:ea typeface="Microsoft YaHei"/>
              </a:rPr>
              <a:t>增量贡献毛利 / 年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F2599DE-4418-4192-A281-BE52458F13A6}"/>
              </a:ext>
            </a:extLst>
          </p:cNvPr>
          <p:cNvSpPr txBox="1"/>
          <p:nvPr/>
        </p:nvSpPr>
        <p:spPr>
          <a:xfrm>
            <a:off x="4333875" y="556260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F9489"/>
                </a:solidFill>
                <a:latin typeface="Microsoft YaHei"/>
                <a:ea typeface="Microsoft YaHei"/>
              </a:rPr>
              <a:t>未计留存 / 品牌增益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2D0FB33-0109-45FB-A545-152C0E900D2F}"/>
              </a:ext>
            </a:extLst>
          </p:cNvPr>
          <p:cNvSpPr txBox="1"/>
          <p:nvPr/>
        </p:nvSpPr>
        <p:spPr>
          <a:xfrm>
            <a:off x="8001000" y="4591050"/>
            <a:ext cx="2857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65B3B"/>
                </a:solidFill>
                <a:latin typeface="Microsoft YaHei"/>
                <a:ea typeface="Microsoft YaHei"/>
              </a:rPr>
              <a:t>1,533 万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0802B04-142C-46AC-A263-1F06DFBA50D4}"/>
              </a:ext>
            </a:extLst>
          </p:cNvPr>
          <p:cNvSpPr txBox="1"/>
          <p:nvPr/>
        </p:nvSpPr>
        <p:spPr>
          <a:xfrm>
            <a:off x="8001000" y="529590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2EEE7"/>
                </a:solidFill>
                <a:latin typeface="Microsoft YaHei"/>
                <a:ea typeface="Microsoft YaHei"/>
              </a:rPr>
              <a:t>用户净省 / 年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0CD2459-884C-4ED3-A1E3-7E90236F61FB}"/>
              </a:ext>
            </a:extLst>
          </p:cNvPr>
          <p:cNvSpPr txBox="1"/>
          <p:nvPr/>
        </p:nvSpPr>
        <p:spPr>
          <a:xfrm>
            <a:off x="8001000" y="556260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F9489"/>
                </a:solidFill>
                <a:latin typeface="Microsoft YaHei"/>
                <a:ea typeface="Microsoft YaHei"/>
              </a:rPr>
              <a:t>2 元/单 × 2.1 万单/日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D71F8AC-1348-4A40-B808-359094A80240}"/>
              </a:ext>
            </a:extLst>
          </p:cNvPr>
          <p:cNvSpPr txBox="1"/>
          <p:nvPr/>
        </p:nvSpPr>
        <p:spPr>
          <a:xfrm>
            <a:off x="876300" y="6096000"/>
            <a:ext cx="10001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B9C8BF"/>
                </a:solidFill>
                <a:latin typeface="Microsoft YaHei"/>
                <a:ea typeface="Microsoft YaHei"/>
              </a:rPr>
              <a:t>年化价值 = 目标订单 × 覆盖率 × 接受率 × 增量转化率 × 单均毛利 × 365 + 留存 − 服务成本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63ACB3E-C29F-45EB-A8D7-F0778F3B437D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09 / 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FAEF3AE-90E8-48DC-AE72-0ADED5508D0A}"/>
              </a:ext>
            </a:extLst>
          </p:cNvPr>
          <p:cNvSpPr/>
          <p:nvPr/>
        </p:nvSpPr>
        <p:spPr>
          <a:xfrm>
            <a:off x="685800" y="3905250"/>
            <a:ext cx="2857500" cy="1714500"/>
          </a:xfrm>
          <a:prstGeom prst="rect">
            <a:avLst/>
          </a:prstGeom>
          <a:solidFill>
            <a:srgbClr val="E9D7C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06108D3-3B93-4771-8A59-74A5AD3AD156}"/>
              </a:ext>
            </a:extLst>
          </p:cNvPr>
          <p:cNvSpPr/>
          <p:nvPr/>
        </p:nvSpPr>
        <p:spPr>
          <a:xfrm>
            <a:off x="3905250" y="3238500"/>
            <a:ext cx="2857500" cy="2381250"/>
          </a:xfrm>
          <a:prstGeom prst="rect">
            <a:avLst/>
          </a:prstGeom>
          <a:solidFill>
            <a:srgbClr val="DDE7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8DA1791-2A0B-4369-A0B7-9B2D4F90C9E7}"/>
              </a:ext>
            </a:extLst>
          </p:cNvPr>
          <p:cNvSpPr/>
          <p:nvPr/>
        </p:nvSpPr>
        <p:spPr>
          <a:xfrm>
            <a:off x="7124700" y="2571750"/>
            <a:ext cx="3810000" cy="3048000"/>
          </a:xfrm>
          <a:prstGeom prst="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46F68978-CE41-460E-80F4-2EA0B5F6D517}"/>
              </a:ext>
            </a:extLst>
          </p:cNvPr>
          <p:cNvCxnSpPr/>
          <p:nvPr/>
        </p:nvCxnSpPr>
        <p:spPr>
          <a:xfrm>
            <a:off x="685800" y="5810250"/>
            <a:ext cx="10248900" cy="9525"/>
          </a:xfrm>
          <a:prstGeom prst="line">
            <a:avLst/>
          </a:prstGeom>
          <a:ln w="12700" cap="flat">
            <a:solidFill>
              <a:srgbClr val="C9BEB0"/>
            </a:solidFill>
          </a:ln>
        </p:spPr>
      </p:cxnSp>
      <p:sp>
        <p:nvSpPr>
          <p:cNvPr id="7" name="TextBox 7">
            <a:extLst>
              <a:ext uri="{FF2B5EF4-FFF2-40B4-BE49-F238E27FC236}">
                <a16:creationId xmlns:a16="http://schemas.microsoft.com/office/drawing/2014/main" id="{08C65E82-6893-45A0-9D93-BB0098F68487}"/>
              </a:ext>
            </a:extLst>
          </p:cNvPr>
          <p:cNvSpPr txBox="1"/>
          <p:nvPr/>
        </p:nvSpPr>
        <p:spPr>
          <a:xfrm>
            <a:off x="685800" y="49530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09 / 商业模式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46E404-45CB-4F33-9AF5-D0CBEC13A8EC}"/>
              </a:ext>
            </a:extLst>
          </p:cNvPr>
          <p:cNvSpPr txBox="1"/>
          <p:nvPr/>
        </p:nvSpPr>
        <p:spPr>
          <a:xfrm>
            <a:off x="685800" y="838200"/>
            <a:ext cx="9525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202723"/>
                </a:solidFill>
                <a:latin typeface="Microsoft YaHei"/>
                <a:ea typeface="Microsoft YaHei"/>
              </a:rPr>
              <a:t>向平台收费，不向用户收费。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E845E76-788D-4746-AA01-60930EA7C5A9}"/>
              </a:ext>
            </a:extLst>
          </p:cNvPr>
          <p:cNvSpPr txBox="1"/>
          <p:nvPr/>
        </p:nvSpPr>
        <p:spPr>
          <a:xfrm>
            <a:off x="685800" y="1562100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D7A72"/>
                </a:solidFill>
                <a:latin typeface="Microsoft YaHei"/>
                <a:ea typeface="Microsoft YaHei"/>
              </a:rPr>
              <a:t>平台是买单方，用户是使用者；先试点，再 SaaS，最后按效果分成。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19BBC9-CBB2-4F4C-A667-FEEB0CA86A29}"/>
              </a:ext>
            </a:extLst>
          </p:cNvPr>
          <p:cNvSpPr txBox="1"/>
          <p:nvPr/>
        </p:nvSpPr>
        <p:spPr>
          <a:xfrm>
            <a:off x="685800" y="200025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E8B79"/>
                </a:solidFill>
                <a:latin typeface="Microsoft YaHei"/>
                <a:ea typeface="Microsoft YaHei"/>
              </a:rPr>
              <a:t>B2B2C  ·  平台买单  ·  用户免费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C892B5F-1BD2-457D-941F-5713E346B1AA}"/>
              </a:ext>
            </a:extLst>
          </p:cNvPr>
          <p:cNvSpPr txBox="1"/>
          <p:nvPr/>
        </p:nvSpPr>
        <p:spPr>
          <a:xfrm>
            <a:off x="952500" y="4114800"/>
            <a:ext cx="95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9542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9F68961-3CF2-49BD-A2D0-B50512FF1D14}"/>
              </a:ext>
            </a:extLst>
          </p:cNvPr>
          <p:cNvSpPr txBox="1"/>
          <p:nvPr/>
        </p:nvSpPr>
        <p:spPr>
          <a:xfrm>
            <a:off x="952500" y="4495800"/>
            <a:ext cx="2286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试点项目费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8FED4DC-D4FB-4684-9404-FF739DD947E4}"/>
              </a:ext>
            </a:extLst>
          </p:cNvPr>
          <p:cNvSpPr txBox="1"/>
          <p:nvPr/>
        </p:nvSpPr>
        <p:spPr>
          <a:xfrm>
            <a:off x="952500" y="4876800"/>
            <a:ext cx="2286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6D665C"/>
                </a:solidFill>
                <a:latin typeface="Microsoft YaHei"/>
                <a:ea typeface="Microsoft YaHei"/>
              </a:rPr>
              <a:t>12 周联合试点，按成本</a:t>
            </a:r>
            <a:br/>
            <a:r>
              <a:rPr sz="1300">
                <a:solidFill>
                  <a:srgbClr val="6D665C"/>
                </a:solidFill>
                <a:latin typeface="Microsoft YaHei"/>
                <a:ea typeface="Microsoft YaHei"/>
              </a:rPr>
              <a:t>或固定费用。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F82519C-8595-4BFF-9718-1464F1E1B50F}"/>
              </a:ext>
            </a:extLst>
          </p:cNvPr>
          <p:cNvSpPr txBox="1"/>
          <p:nvPr/>
        </p:nvSpPr>
        <p:spPr>
          <a:xfrm>
            <a:off x="952500" y="5391150"/>
            <a:ext cx="228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542F"/>
                </a:solidFill>
                <a:latin typeface="Microsoft YaHei"/>
                <a:ea typeface="Microsoft YaHei"/>
              </a:rPr>
              <a:t>验证价值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4EE078A-EFCA-4739-AC34-8711080E4D68}"/>
              </a:ext>
            </a:extLst>
          </p:cNvPr>
          <p:cNvSpPr txBox="1"/>
          <p:nvPr/>
        </p:nvSpPr>
        <p:spPr>
          <a:xfrm>
            <a:off x="4171950" y="3448050"/>
            <a:ext cx="95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E8B7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9BF3BBF-9904-4022-A1CB-7CB5FE149D17}"/>
              </a:ext>
            </a:extLst>
          </p:cNvPr>
          <p:cNvSpPr txBox="1"/>
          <p:nvPr/>
        </p:nvSpPr>
        <p:spPr>
          <a:xfrm>
            <a:off x="4171950" y="3829050"/>
            <a:ext cx="23812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202723"/>
                </a:solidFill>
                <a:latin typeface="Microsoft YaHei"/>
                <a:ea typeface="Microsoft YaHei"/>
              </a:rPr>
              <a:t>SaaS / API 年费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F0D4152-15E8-4662-9C56-379674E78AF5}"/>
              </a:ext>
            </a:extLst>
          </p:cNvPr>
          <p:cNvSpPr txBox="1"/>
          <p:nvPr/>
        </p:nvSpPr>
        <p:spPr>
          <a:xfrm>
            <a:off x="4171950" y="4210050"/>
            <a:ext cx="238125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6D665C"/>
                </a:solidFill>
                <a:latin typeface="Microsoft YaHei"/>
                <a:ea typeface="Microsoft YaHei"/>
              </a:rPr>
              <a:t>按平台、城市、调用量</a:t>
            </a:r>
            <a:br/>
            <a:r>
              <a:rPr sz="1300">
                <a:solidFill>
                  <a:srgbClr val="6D665C"/>
                </a:solidFill>
                <a:latin typeface="Microsoft YaHei"/>
                <a:ea typeface="Microsoft YaHei"/>
              </a:rPr>
              <a:t>收费。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65B428A-03BD-40CC-AE7E-F1A2712598E0}"/>
              </a:ext>
            </a:extLst>
          </p:cNvPr>
          <p:cNvSpPr txBox="1"/>
          <p:nvPr/>
        </p:nvSpPr>
        <p:spPr>
          <a:xfrm>
            <a:off x="4171950" y="4781550"/>
            <a:ext cx="2381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8B79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38A37AE-8312-44D5-80A1-E03D6603E0C9}"/>
              </a:ext>
            </a:extLst>
          </p:cNvPr>
          <p:cNvSpPr txBox="1"/>
          <p:nvPr/>
        </p:nvSpPr>
        <p:spPr>
          <a:xfrm>
            <a:off x="7429500" y="2781300"/>
            <a:ext cx="114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65B3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0BB988-D0BD-4EBD-A2F5-D43ACE8EAE8D}"/>
              </a:ext>
            </a:extLst>
          </p:cNvPr>
          <p:cNvSpPr txBox="1"/>
          <p:nvPr/>
        </p:nvSpPr>
        <p:spPr>
          <a:xfrm>
            <a:off x="7429500" y="3162300"/>
            <a:ext cx="30480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2EEE7"/>
                </a:solidFill>
                <a:latin typeface="Microsoft YaHei"/>
                <a:ea typeface="Microsoft YaHei"/>
              </a:rPr>
              <a:t>效果分成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5277CFA-4E36-4EAD-95E7-FAD860A9B892}"/>
              </a:ext>
            </a:extLst>
          </p:cNvPr>
          <p:cNvSpPr txBox="1"/>
          <p:nvPr/>
        </p:nvSpPr>
        <p:spPr>
          <a:xfrm>
            <a:off x="7429500" y="3600450"/>
            <a:ext cx="30480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按增量完成订单或补贴效率</a:t>
            </a:r>
            <a:br/>
            <a:r>
              <a:rPr sz="1300">
                <a:solidFill>
                  <a:srgbClr val="B9C8BF"/>
                </a:solidFill>
                <a:latin typeface="Microsoft YaHei"/>
                <a:ea typeface="Microsoft YaHei"/>
              </a:rPr>
              <a:t>分成；和平台利益绑定。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3A960AB-DE2A-47E4-9233-38A651B3A28A}"/>
              </a:ext>
            </a:extLst>
          </p:cNvPr>
          <p:cNvSpPr txBox="1"/>
          <p:nvPr/>
        </p:nvSpPr>
        <p:spPr>
          <a:xfrm>
            <a:off x="7429500" y="4400550"/>
            <a:ext cx="304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65B3B"/>
                </a:solidFill>
                <a:latin typeface="Microsoft YaHei"/>
                <a:ea typeface="Microsoft YaHei"/>
              </a:rPr>
              <a:t>长期收入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2787B07-CFCF-4B14-9541-EA6B36D09BB9}"/>
              </a:ext>
            </a:extLst>
          </p:cNvPr>
          <p:cNvSpPr txBox="1"/>
          <p:nvPr/>
        </p:nvSpPr>
        <p:spPr>
          <a:xfrm>
            <a:off x="7429500" y="4819650"/>
            <a:ext cx="30480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平台得到增量，我们</a:t>
            </a:r>
            <a:br/>
            <a:r>
              <a:rPr sz="1300">
                <a:solidFill>
                  <a:srgbClr val="F2EEE7"/>
                </a:solidFill>
                <a:latin typeface="Microsoft YaHei"/>
                <a:ea typeface="Microsoft YaHei"/>
              </a:rPr>
              <a:t>与结果一起增长。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53B7C76-E610-48D3-80FD-00BAA949ED46}"/>
              </a:ext>
            </a:extLst>
          </p:cNvPr>
          <p:cNvSpPr txBox="1"/>
          <p:nvPr/>
        </p:nvSpPr>
        <p:spPr>
          <a:xfrm>
            <a:off x="685800" y="6000750"/>
            <a:ext cx="10287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D7A72"/>
                </a:solidFill>
                <a:latin typeface="Microsoft YaHei"/>
                <a:ea typeface="Microsoft YaHei"/>
              </a:rPr>
              <a:t>扩展路径：外卖  →  商超 / 买药 / 到店  →  银行权益平台  →  商家 SaaS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9C698FA-9D74-42A2-8597-33C417E1227C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9A8F80"/>
                </a:solidFill>
                <a:latin typeface="Microsoft YaHei"/>
                <a:ea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3">
            <a:extLst>
              <a:ext uri="{FF2B5EF4-FFF2-40B4-BE49-F238E27FC236}">
                <a16:creationId xmlns:a16="http://schemas.microsoft.com/office/drawing/2014/main" id="{8ED99597-6012-41B2-AC1F-07DE6C00833E}"/>
              </a:ext>
            </a:extLst>
          </p:cNvPr>
          <p:cNvCxnSpPr/>
          <p:nvPr/>
        </p:nvCxnSpPr>
        <p:spPr>
          <a:xfrm>
            <a:off x="4000500" y="2362200"/>
            <a:ext cx="9525" cy="30480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41AF4BDA-4AEC-4703-AD25-757F8533D420}"/>
              </a:ext>
            </a:extLst>
          </p:cNvPr>
          <p:cNvCxnSpPr/>
          <p:nvPr/>
        </p:nvCxnSpPr>
        <p:spPr>
          <a:xfrm>
            <a:off x="7810500" y="2362200"/>
            <a:ext cx="9525" cy="3048000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1F168C5E-D9D2-412B-893C-49C6296F68B5}"/>
              </a:ext>
            </a:extLst>
          </p:cNvPr>
          <p:cNvCxnSpPr/>
          <p:nvPr/>
        </p:nvCxnSpPr>
        <p:spPr>
          <a:xfrm>
            <a:off x="685800" y="5753100"/>
            <a:ext cx="1082040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45774441-6B97-42FB-AD55-4D9BAD7F23B2}"/>
              </a:ext>
            </a:extLst>
          </p:cNvPr>
          <p:cNvSpPr txBox="1"/>
          <p:nvPr/>
        </p:nvSpPr>
        <p:spPr>
          <a:xfrm>
            <a:off x="685800" y="49530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E65B3B"/>
                </a:solidFill>
                <a:latin typeface="Microsoft YaHei"/>
                <a:ea typeface="Microsoft YaHei"/>
              </a:rPr>
              <a:t>10 / 团队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28DCEC5-AB20-4A6A-A887-FB8B23E5FA24}"/>
              </a:ext>
            </a:extLst>
          </p:cNvPr>
          <p:cNvSpPr txBox="1"/>
          <p:nvPr/>
        </p:nvSpPr>
        <p:spPr>
          <a:xfrm>
            <a:off x="685800" y="838200"/>
            <a:ext cx="8572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2EEE7"/>
                </a:solidFill>
                <a:latin typeface="Microsoft YaHei"/>
                <a:ea typeface="Microsoft YaHei"/>
              </a:rPr>
              <a:t>三类人，缺一不可。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C37204-2DF3-42DD-B19C-D547CEC43BB6}"/>
              </a:ext>
            </a:extLst>
          </p:cNvPr>
          <p:cNvSpPr txBox="1"/>
          <p:nvPr/>
        </p:nvSpPr>
        <p:spPr>
          <a:xfrm>
            <a:off x="685800" y="1562100"/>
            <a:ext cx="9334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B9C8BF"/>
                </a:solidFill>
                <a:latin typeface="Microsoft YaHei"/>
                <a:ea typeface="Microsoft YaHei"/>
              </a:rPr>
              <a:t>不是堆履历，是证明这三件事有人能搞定。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C8CB05E-469C-409E-944D-54CBDEDE554C}"/>
              </a:ext>
            </a:extLst>
          </p:cNvPr>
          <p:cNvSpPr txBox="1"/>
          <p:nvPr/>
        </p:nvSpPr>
        <p:spPr>
          <a:xfrm>
            <a:off x="685800" y="2419350"/>
            <a:ext cx="1905000" cy="975360"/>
          </a:xfrm>
        </p:spPr>
        <p:txBody>
          <a:bodyPr wrap="square" rtlCol="0" lIns="0" tIns="0" rIns="0" bIns="0" anchor="t"/>
          <a:lstStyle/>
          <a:p>
            <a:pPr algn="l"/>
            <a:r>
              <a:rPr sz="6400" b="1">
                <a:solidFill>
                  <a:srgbClr val="E65B3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7F68046-96E3-4041-A19B-EAEA563CD755}"/>
              </a:ext>
            </a:extLst>
          </p:cNvPr>
          <p:cNvSpPr txBox="1"/>
          <p:nvPr/>
        </p:nvSpPr>
        <p:spPr>
          <a:xfrm>
            <a:off x="685800" y="3448050"/>
            <a:ext cx="285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2EEE7"/>
                </a:solidFill>
                <a:latin typeface="Microsoft YaHei"/>
                <a:ea typeface="Microsoft YaHei"/>
              </a:rPr>
              <a:t>算法 / 运筹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816D875-937F-4D38-AEFC-D47C99E6C73B}"/>
              </a:ext>
            </a:extLst>
          </p:cNvPr>
          <p:cNvSpPr txBox="1"/>
          <p:nvPr/>
        </p:nvSpPr>
        <p:spPr>
          <a:xfrm>
            <a:off x="685800" y="38481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E8B79"/>
                </a:solidFill>
                <a:latin typeface="Microsoft YaHei"/>
                <a:ea typeface="Microsoft YaHei"/>
              </a:rPr>
              <a:t>把凑单算准、算快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0B40F06-D87D-4661-82F0-48186CF74CD8}"/>
              </a:ext>
            </a:extLst>
          </p:cNvPr>
          <p:cNvSpPr txBox="1"/>
          <p:nvPr/>
        </p:nvSpPr>
        <p:spPr>
          <a:xfrm>
            <a:off x="685800" y="4267200"/>
            <a:ext cx="2857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背包 / 整数规划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券组合优化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排序与评估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离线模拟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1A2912-202D-4213-95CB-BDBCE70D1889}"/>
              </a:ext>
            </a:extLst>
          </p:cNvPr>
          <p:cNvSpPr txBox="1"/>
          <p:nvPr/>
        </p:nvSpPr>
        <p:spPr>
          <a:xfrm>
            <a:off x="4476750" y="2419350"/>
            <a:ext cx="1905000" cy="975360"/>
          </a:xfrm>
        </p:spPr>
        <p:txBody>
          <a:bodyPr wrap="square" rtlCol="0" lIns="0" tIns="0" rIns="0" bIns="0" anchor="t"/>
          <a:lstStyle/>
          <a:p>
            <a:pPr algn="l"/>
            <a:r>
              <a:rPr sz="6400" b="1">
                <a:solidFill>
                  <a:srgbClr val="E65B3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EB96078-1D3A-467B-ACE4-994A6523D496}"/>
              </a:ext>
            </a:extLst>
          </p:cNvPr>
          <p:cNvSpPr txBox="1"/>
          <p:nvPr/>
        </p:nvSpPr>
        <p:spPr>
          <a:xfrm>
            <a:off x="4476750" y="3448050"/>
            <a:ext cx="285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2EEE7"/>
                </a:solidFill>
                <a:latin typeface="Microsoft YaHei"/>
                <a:ea typeface="Microsoft YaHei"/>
              </a:rPr>
              <a:t>工程 / 平台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1D85C8E-5262-4726-A761-F7B12C15D80E}"/>
              </a:ext>
            </a:extLst>
          </p:cNvPr>
          <p:cNvSpPr txBox="1"/>
          <p:nvPr/>
        </p:nvSpPr>
        <p:spPr>
          <a:xfrm>
            <a:off x="4476750" y="38481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E8B79"/>
                </a:solidFill>
                <a:latin typeface="Microsoft YaHei"/>
                <a:ea typeface="Microsoft YaHei"/>
              </a:rPr>
              <a:t>接进结算，扛住峰值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1B4698F-7304-4C45-A530-3C6B38185B3F}"/>
              </a:ext>
            </a:extLst>
          </p:cNvPr>
          <p:cNvSpPr txBox="1"/>
          <p:nvPr/>
        </p:nvSpPr>
        <p:spPr>
          <a:xfrm>
            <a:off x="4476750" y="4267200"/>
            <a:ext cx="2857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计价同源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p99 &lt; 100ms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灰度 / 回滚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峰值稳定性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7C7EE06-7D81-41F1-AEF2-BAE7AF6D2A9B}"/>
              </a:ext>
            </a:extLst>
          </p:cNvPr>
          <p:cNvSpPr txBox="1"/>
          <p:nvPr/>
        </p:nvSpPr>
        <p:spPr>
          <a:xfrm>
            <a:off x="8286750" y="2419350"/>
            <a:ext cx="1905000" cy="975360"/>
          </a:xfrm>
        </p:spPr>
        <p:txBody>
          <a:bodyPr wrap="square" rtlCol="0" lIns="0" tIns="0" rIns="0" bIns="0" anchor="t"/>
          <a:lstStyle/>
          <a:p>
            <a:pPr algn="l"/>
            <a:r>
              <a:rPr sz="6400" b="1">
                <a:solidFill>
                  <a:srgbClr val="E65B3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0D5F8B0-D03C-48EA-B8D5-497DC2B6DA46}"/>
              </a:ext>
            </a:extLst>
          </p:cNvPr>
          <p:cNvSpPr txBox="1"/>
          <p:nvPr/>
        </p:nvSpPr>
        <p:spPr>
          <a:xfrm>
            <a:off x="8286750" y="3448050"/>
            <a:ext cx="285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2EEE7"/>
                </a:solidFill>
                <a:latin typeface="Microsoft YaHei"/>
                <a:ea typeface="Microsoft YaHei"/>
              </a:rPr>
              <a:t>产品 / 本地生活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4FD72DD-360A-41ED-A4C8-75E7FFAFAB74}"/>
              </a:ext>
            </a:extLst>
          </p:cNvPr>
          <p:cNvSpPr txBox="1"/>
          <p:nvPr/>
        </p:nvSpPr>
        <p:spPr>
          <a:xfrm>
            <a:off x="8286750" y="38481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E8B79"/>
                </a:solidFill>
                <a:latin typeface="Microsoft YaHei"/>
                <a:ea typeface="Microsoft YaHei"/>
              </a:rPr>
              <a:t>把试点跑起来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24C64A6-E344-44E9-8F6F-7712A85BCBB1}"/>
              </a:ext>
            </a:extLst>
          </p:cNvPr>
          <p:cNvSpPr txBox="1"/>
          <p:nvPr/>
        </p:nvSpPr>
        <p:spPr>
          <a:xfrm>
            <a:off x="8286750" y="4267200"/>
            <a:ext cx="2857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用户洞察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商家运营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实验设计</a:t>
            </a:r>
            <a:br/>
            <a:r>
              <a:rPr sz="1200">
                <a:solidFill>
                  <a:srgbClr val="B9C8BF"/>
                </a:solidFill>
                <a:latin typeface="Microsoft YaHei"/>
                <a:ea typeface="Microsoft YaHei"/>
              </a:rPr>
              <a:t>· 试点落地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4DC6513-170C-44B0-8654-32758B289F31}"/>
              </a:ext>
            </a:extLst>
          </p:cNvPr>
          <p:cNvSpPr txBox="1"/>
          <p:nvPr/>
        </p:nvSpPr>
        <p:spPr>
          <a:xfrm>
            <a:off x="685800" y="59245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7F9489"/>
                </a:solidFill>
                <a:latin typeface="Microsoft YaHei"/>
                <a:ea typeface="Microsoft YaHei"/>
              </a:rPr>
              <a:t>外部支持：平台优惠规则专家 + 法务 / 合规顾问。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FB2B325-9417-49E9-8427-63662B5F3769}"/>
              </a:ext>
            </a:extLst>
          </p:cNvPr>
          <p:cNvSpPr txBox="1"/>
          <p:nvPr/>
        </p:nvSpPr>
        <p:spPr>
          <a:xfrm>
            <a:off x="685800" y="6191250"/>
            <a:ext cx="857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65B3B"/>
                </a:solidFill>
                <a:latin typeface="Microsoft YaHei"/>
                <a:ea typeface="Microsoft YaHei"/>
              </a:rPr>
              <a:t>团队可以小，但这三件事必须有人负责。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FA0B9DA-1679-445D-BA4B-83C69FF16401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7F9489"/>
                </a:solidFill>
                <a:latin typeface="Microsoft YaHei"/>
                <a:ea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3B78441-EEBF-4D27-85BF-3D31B4D3576F}"/>
              </a:ext>
            </a:extLst>
          </p:cNvPr>
          <p:cNvSpPr/>
          <p:nvPr/>
        </p:nvSpPr>
        <p:spPr>
          <a:xfrm>
            <a:off x="7239000" y="685800"/>
            <a:ext cx="4191000" cy="4953000"/>
          </a:xfrm>
          <a:prstGeom prst="roundRect">
            <a:avLst/>
          </a:prstGeom>
          <a:solidFill>
            <a:srgbClr val="2027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65D4FE2D-CD1A-4DB8-AB78-C91815892B86}"/>
              </a:ext>
            </a:extLst>
          </p:cNvPr>
          <p:cNvCxnSpPr/>
          <p:nvPr/>
        </p:nvCxnSpPr>
        <p:spPr>
          <a:xfrm>
            <a:off x="7715250" y="3257550"/>
            <a:ext cx="323850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0D6995A8-CE21-4C73-AE98-F3E81AC1D80B}"/>
              </a:ext>
            </a:extLst>
          </p:cNvPr>
          <p:cNvCxnSpPr/>
          <p:nvPr/>
        </p:nvCxnSpPr>
        <p:spPr>
          <a:xfrm>
            <a:off x="7715250" y="4400550"/>
            <a:ext cx="3238500" cy="9525"/>
          </a:xfrm>
          <a:prstGeom prst="line">
            <a:avLst/>
          </a:prstGeom>
          <a:ln w="12700" cap="flat">
            <a:solidFill>
              <a:srgbClr val="53645A"/>
            </a:solidFill>
          </a:ln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765EEFE9-03C8-43D2-9F3F-68625F45E806}"/>
              </a:ext>
            </a:extLst>
          </p:cNvPr>
          <p:cNvSpPr txBox="1"/>
          <p:nvPr/>
        </p:nvSpPr>
        <p:spPr>
          <a:xfrm>
            <a:off x="762000" y="5715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202723"/>
                </a:solidFill>
                <a:latin typeface="Microsoft YaHei"/>
                <a:ea typeface="Microsoft YaHei"/>
              </a:rPr>
              <a:t>11 / 下一步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5F6620-2913-48DA-A7E8-006AD3AB87DE}"/>
              </a:ext>
            </a:extLst>
          </p:cNvPr>
          <p:cNvSpPr txBox="1"/>
          <p:nvPr/>
        </p:nvSpPr>
        <p:spPr>
          <a:xfrm>
            <a:off x="762000" y="1257300"/>
            <a:ext cx="59055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202723"/>
                </a:solidFill>
                <a:latin typeface="Microsoft YaHei"/>
                <a:ea typeface="Microsoft YaHei"/>
              </a:rPr>
              <a:t>给一个入口，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202723"/>
                </a:solidFill>
                <a:latin typeface="Microsoft YaHei"/>
                <a:ea typeface="Microsoft YaHei"/>
              </a:rPr>
              <a:t>12 周还你三个答案。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978DE15-0D57-4734-9F30-9623BB000D3E}"/>
              </a:ext>
            </a:extLst>
          </p:cNvPr>
          <p:cNvSpPr txBox="1"/>
          <p:nvPr/>
        </p:nvSpPr>
        <p:spPr>
          <a:xfrm>
            <a:off x="762000" y="3238500"/>
            <a:ext cx="5715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202723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E0B7E37-0E37-424A-8C3A-A4A2071B9D35}"/>
              </a:ext>
            </a:extLst>
          </p:cNvPr>
          <p:cNvSpPr txBox="1"/>
          <p:nvPr/>
        </p:nvSpPr>
        <p:spPr>
          <a:xfrm>
            <a:off x="762000" y="4000500"/>
            <a:ext cx="1524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202723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961894-4A37-4A6A-9A6F-F64D361F5817}"/>
              </a:ext>
            </a:extLst>
          </p:cNvPr>
          <p:cNvSpPr txBox="1"/>
          <p:nvPr/>
        </p:nvSpPr>
        <p:spPr>
          <a:xfrm>
            <a:off x="762000" y="4305300"/>
            <a:ext cx="5905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202723"/>
                </a:solidFill>
                <a:latin typeface="Microsoft YaHei"/>
                <a:ea typeface="Microsoft YaHei"/>
              </a:rPr>
              <a:t>30 天准备  →  W1 启动  →  W8 A/B  →  W12 复盘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D6C0FE-5831-4462-BD75-9CBAE3713CE7}"/>
              </a:ext>
            </a:extLst>
          </p:cNvPr>
          <p:cNvSpPr txBox="1"/>
          <p:nvPr/>
        </p:nvSpPr>
        <p:spPr>
          <a:xfrm>
            <a:off x="762000" y="5010150"/>
            <a:ext cx="5905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202723"/>
                </a:solidFill>
                <a:latin typeface="Microsoft YaHei"/>
                <a:ea typeface="Microsoft YaHei"/>
              </a:rPr>
              <a:t>只需要一个购物车入口、一个城市、</a:t>
            </a:r>
            <a:br/>
            <a:r>
              <a:rPr sz="1400">
                <a:solidFill>
                  <a:srgbClr val="202723"/>
                </a:solidFill>
                <a:latin typeface="Microsoft YaHei"/>
                <a:ea typeface="Microsoft YaHei"/>
              </a:rPr>
              <a:t>一个愿意一起跑 12 周的平台伙伴。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528117C-471B-424E-A475-78FB45FE5DC6}"/>
              </a:ext>
            </a:extLst>
          </p:cNvPr>
          <p:cNvSpPr txBox="1"/>
          <p:nvPr/>
        </p:nvSpPr>
        <p:spPr>
          <a:xfrm>
            <a:off x="7715250" y="990600"/>
            <a:ext cx="952500" cy="1280160"/>
          </a:xfrm>
        </p:spPr>
        <p:txBody>
          <a:bodyPr wrap="square" rtlCol="0" lIns="0" tIns="0" rIns="0" bIns="0" anchor="t"/>
          <a:lstStyle/>
          <a:p>
            <a:pPr algn="l"/>
            <a:r>
              <a:rPr sz="8400" b="1">
                <a:solidFill>
                  <a:srgbClr val="E65B3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A068B1-9ECD-4459-9709-56B66AEEE7C1}"/>
              </a:ext>
            </a:extLst>
          </p:cNvPr>
          <p:cNvSpPr txBox="1"/>
          <p:nvPr/>
        </p:nvSpPr>
        <p:spPr>
          <a:xfrm>
            <a:off x="8810625" y="1466850"/>
            <a:ext cx="1714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2EEE7"/>
                </a:solidFill>
                <a:latin typeface="Microsoft YaHei"/>
                <a:ea typeface="Microsoft YaHei"/>
              </a:rPr>
              <a:t>个答案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10BC4E5-54F7-4439-B2E6-C24C39072099}"/>
              </a:ext>
            </a:extLst>
          </p:cNvPr>
          <p:cNvSpPr txBox="1"/>
          <p:nvPr/>
        </p:nvSpPr>
        <p:spPr>
          <a:xfrm>
            <a:off x="7715250" y="222885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EEE7"/>
                </a:solidFill>
                <a:latin typeface="Microsoft YaHei"/>
                <a:ea typeface="Microsoft YaHei"/>
              </a:rPr>
              <a:t>01  用户真的净省？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49DF1BE-80CA-4632-ACFB-9DBB508F8D2C}"/>
              </a:ext>
            </a:extLst>
          </p:cNvPr>
          <p:cNvSpPr txBox="1"/>
          <p:nvPr/>
        </p:nvSpPr>
        <p:spPr>
          <a:xfrm>
            <a:off x="7715250" y="262890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净省 = 增量优惠 − 加购价格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6B3BE62-3DEA-482B-889D-52DDF9844DD6}"/>
              </a:ext>
            </a:extLst>
          </p:cNvPr>
          <p:cNvSpPr txBox="1"/>
          <p:nvPr/>
        </p:nvSpPr>
        <p:spPr>
          <a:xfrm>
            <a:off x="7715250" y="340995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EEE7"/>
                </a:solidFill>
                <a:latin typeface="Microsoft YaHei"/>
                <a:ea typeface="Microsoft YaHei"/>
              </a:rPr>
              <a:t>02  订单真的增量？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E1B0BF-B9A2-4C9B-9A06-376E0C2BC149}"/>
              </a:ext>
            </a:extLst>
          </p:cNvPr>
          <p:cNvSpPr txBox="1"/>
          <p:nvPr/>
        </p:nvSpPr>
        <p:spPr>
          <a:xfrm>
            <a:off x="7715250" y="381000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目标人群转化 +1-2 个百分点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B771042-A941-4D18-B865-EDA31199296F}"/>
              </a:ext>
            </a:extLst>
          </p:cNvPr>
          <p:cNvSpPr txBox="1"/>
          <p:nvPr/>
        </p:nvSpPr>
        <p:spPr>
          <a:xfrm>
            <a:off x="7715250" y="455295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EEE7"/>
                </a:solidFill>
                <a:latin typeface="Microsoft YaHei"/>
                <a:ea typeface="Microsoft YaHei"/>
              </a:rPr>
              <a:t>03  体验真的不伤？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20D9D56-A05F-4565-A50D-261E081BD073}"/>
              </a:ext>
            </a:extLst>
          </p:cNvPr>
          <p:cNvSpPr txBox="1"/>
          <p:nvPr/>
        </p:nvSpPr>
        <p:spPr>
          <a:xfrm>
            <a:off x="7715250" y="4953000"/>
            <a:ext cx="3143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9C8BF"/>
                </a:solidFill>
                <a:latin typeface="Microsoft YaHei"/>
                <a:ea typeface="Microsoft YaHei"/>
              </a:rPr>
              <a:t>退款 / 差评不升，p99 &lt; 100ms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00221A4-5137-43E6-849A-10F6CD137344}"/>
              </a:ext>
            </a:extLst>
          </p:cNvPr>
          <p:cNvSpPr txBox="1"/>
          <p:nvPr/>
        </p:nvSpPr>
        <p:spPr>
          <a:xfrm>
            <a:off x="762000" y="647700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202723"/>
                </a:solidFill>
                <a:latin typeface="Microsoft YaHei"/>
                <a:ea typeface="Microsoft YaHei"/>
              </a:rPr>
              <a:t>产品 BP · 2026.10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2FB3CD8-8C44-46A3-9C11-8AF7AEFEE375}"/>
              </a:ext>
            </a:extLst>
          </p:cNvPr>
          <p:cNvSpPr txBox="1"/>
          <p:nvPr/>
        </p:nvSpPr>
        <p:spPr>
          <a:xfrm>
            <a:off x="9334500" y="647700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202723"/>
                </a:solidFill>
                <a:latin typeface="Microsoft YaHei"/>
                <a:ea typeface="Microsoft YaHei"/>
              </a:rPr>
              <a:t>刚好 · 净省凑单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E541B65-F54D-400B-93F3-F42D37DC32E9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202723"/>
                </a:solidFill>
                <a:latin typeface="Microsoft YaHei"/>
                <a:ea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